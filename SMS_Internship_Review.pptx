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a71f91f-d400-7310-2827-e66170a6a5e5}">
          <p14:sldIdLst>
            <p14:sldId id="256"/>
            <p14:sldId id="257"/>
            <p14:sldId id="258"/>
          </p14:sldIdLst>
        </p14:section>
        <p14:section name="Training" id="{02752a56-dce8-308a-fb4c-db0b54beeb83}">
          <p14:sldIdLst>
            <p14:sldId id="259"/>
            <p14:sldId id="260"/>
          </p14:sldIdLst>
        </p14:section>
        <p14:section name="Project" id="{3bfd2c67-6385-10b6-d405-4495831bde25}">
          <p14:sldIdLst>
            <p14:sldId id="261"/>
            <p14:sldId id="262"/>
            <p14:sldId id="263"/>
            <p14:sldId id="264"/>
            <p14:sldId id="265"/>
          </p14:sldIdLst>
        </p14:section>
        <p14:section name="Implementation and testing" id="{3e26f97a-c590-fbde-8443-377318c67a4c}">
          <p14:sldIdLst>
            <p14:sldId id="266"/>
            <p14:sldId id="267"/>
            <p14:sldId id="268"/>
          </p14:sldIdLst>
        </p14:section>
        <p14:section name="Reflection" id="{9f8fdd66-2c0c-59d2-0f6f-ece8277fe7d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internship (Fantasy Solution, 01-30 June 2026) and the project: a Student Management System built with Python, Django and MySQL. Plan about 20-25 minutes including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facts from the official internship annexure. The project covers the full life cycle: analysis, design, implementation, testing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works across the full software life cycle. Internship environment was collaborative: approachable senior developers, open feedback and quick resolution of doubts.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days, organised into progressive phases: foundations first, then data and web technologies, then the project with Django, security, testing and deployment. Every concept was followed by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studied during training has a direct role in the project. This slide is the bridge between the learning stream and the project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institutions relying on registers and spreadsheets face slow search, duplicate or missing entries, inconsistent attendance and error-prone result computation. The proposed system replaces this with one integrated digital workflow. Feasibility: technical, economic, operational and schedule were all assessed as favourable (open-source stack, modest hardware, familiar interface, module-by-module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functional requirements (FR-01 to FR-10) grouped by who uses them. Academic rules are held as configuration values so the institution can change them without touching code: 75% minimum attendance, 40% pass mark, seven grade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Three-tier layered design: templates present data, views receive and validate requests, the service layer enforces business rules, the data access layer (Django ORM) talks to MySQL. Django's authentication and role checks sit beside the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diagram: administrator, faculty and student actors. ER diagram: users, student, department, faculty, course, enrollment, attendance and marks. Foreign keys ensure an enrolment can never refer to a missing student or course. In the application these tables are Django models created by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Marks are validated first, then total and grade are computed, and finally the result is decided by checking both attendance percentage and pass mark. Boundary errors in grade bands were a typical defect, which is why this logic is covered by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rules live in a service layer so they can be unit tested independently of the web layer. Enrolment runs inside one database transaction with a row lock on the course, so concurrent requests cannot oversell seats. The snippet is a simplified illustration of the approach. Deployment: Gunicorn behind Nginx, Git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main screens. Navigation shows only the options permitted for the logged-in role. Status badges use green, amber and red so attendance shortage and results are visible at a glance. Validation messages appear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designed from the functional requirements so every requirement has at least one scenario. Examples: valid and invalid login, duplicate registration number, duplicate enrolment, full course, invalid marks, grade computation (82/100 gives A+), and a student opening an admin URL being denied. Defects were recorded, fixed in the relevant layer and re-tested.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technology, regular discussions with the industry guide, code reviews and module-wise planning built communication, teamwork and time management. Challenges and the solutions adopted are taken directly from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key takeaway: the internship covered the journey from Python basics to a complete deployed web application, and built professional habits. Future scope: notifications, fees, timetable, parent portal, analytics, online assessments, multi-campus and a mobile app.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1783080"/>
            <a:ext cx="594360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Student Management System  |  Summer Internship Review</a:t>
            </a:r>
            <a:endParaRPr lang="en-US" sz="1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3.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783080"/>
            <a:ext cx="5943600" cy="1645920"/>
          </a:xfrm>
          <a:prstGeom prst="rect">
            <a:avLst/>
          </a:prstGeom>
          <a:noFill/>
          <a:ln/>
        </p:spPr>
        <p:txBody>
          <a:bodyPr wrap="square" lIns="0" tIns="0" rIns="0" bIns="0" rtlCol="0" anchor="t"/>
          <a:lstStyle/>
          <a:p>
            <a:pPr algn="l" indent="0" marL="0">
              <a:buNone/>
            </a:pPr>
            <a:r>
              <a:rPr lang="en-US" sz="4400" b="1" dirty="0">
                <a:solidFill>
                  <a:schemeClr val="bg1"/>
                </a:solidFill>
              </a:rPr>
              <a:t>Student Management System</a:t>
            </a:r>
            <a:endParaRPr lang="en-US" sz="4400" dirty="0"/>
          </a:p>
        </p:txBody>
      </p:sp>
      <p:sp>
        <p:nvSpPr>
          <p:cNvPr id="3" name="logo-bg"/>
          <p:cNvSpPr/>
          <p:nvPr/>
        </p:nvSpPr>
        <p:spPr>
          <a:xfrm>
            <a:off x="548640" y="457200"/>
            <a:ext cx="822960" cy="822960"/>
          </a:xfrm>
          <a:prstGeom prst="ellipse">
            <a:avLst/>
          </a:prstGeom>
          <a:solidFill>
            <a:schemeClr val="bg1"/>
          </a:solidFill>
          <a:ln/>
        </p:spPr>
      </p:sp>
      <p:pic>
        <p:nvPicPr>
          <p:cNvPr id="4" name="Image 0" descr="Anna University emblem">    </p:cNvPr>
          <p:cNvPicPr>
            <a:picLocks noChangeAspect="1"/>
          </p:cNvPicPr>
          <p:nvPr/>
        </p:nvPicPr>
        <p:blipFill>
          <a:blip r:embed="rId1"/>
          <a:stretch>
            <a:fillRect/>
          </a:stretch>
        </p:blipFill>
        <p:spPr>
          <a:xfrm>
            <a:off x="621792" y="530352"/>
            <a:ext cx="676656" cy="676656"/>
          </a:xfrm>
          <a:prstGeom prst="rect">
            <a:avLst/>
          </a:prstGeom>
        </p:spPr>
      </p:pic>
      <p:sp>
        <p:nvSpPr>
          <p:cNvPr id="5" name="Text 2"/>
          <p:cNvSpPr txBox="1"/>
          <p:nvPr/>
        </p:nvSpPr>
        <p:spPr>
          <a:xfrm>
            <a:off x="1554480" y="640080"/>
            <a:ext cx="7315200" cy="457200"/>
          </a:xfrm>
          <a:prstGeom prst="rect">
            <a:avLst/>
          </a:prstGeom>
          <a:noFill/>
          <a:ln/>
        </p:spPr>
        <p:txBody>
          <a:bodyPr wrap="square" lIns="0" tIns="0" rIns="0" bIns="0" rtlCol="0" anchor="ctr"/>
          <a:lstStyle/>
          <a:p>
            <a:pPr indent="0" marL="0">
              <a:buNone/>
            </a:pPr>
            <a:r>
              <a:rPr lang="en-US" sz="1200" b="1" dirty="0">
                <a:solidFill>
                  <a:schemeClr val="bg2"/>
                </a:solidFill>
              </a:rPr>
              <a:t>UNIVERSITY COLLEGE OF ENGINEERING, BIT CAMPUS  |  ANNA UNIVERSITY</a:t>
            </a:r>
            <a:endParaRPr lang="en-US" sz="1200" dirty="0"/>
          </a:p>
        </p:txBody>
      </p:sp>
      <p:sp>
        <p:nvSpPr>
          <p:cNvPr id="6" name="Text 3"/>
          <p:cNvSpPr txBox="1"/>
          <p:nvPr/>
        </p:nvSpPr>
        <p:spPr>
          <a:xfrm>
            <a:off x="548640" y="1417320"/>
            <a:ext cx="5943600" cy="320040"/>
          </a:xfrm>
          <a:prstGeom prst="rect">
            <a:avLst/>
          </a:prstGeom>
          <a:noFill/>
          <a:ln/>
        </p:spPr>
        <p:txBody>
          <a:bodyPr wrap="square" lIns="0" tIns="0" rIns="0" bIns="0" rtlCol="0" anchor="t"/>
          <a:lstStyle/>
          <a:p>
            <a:pPr indent="0" marL="0">
              <a:buNone/>
            </a:pPr>
            <a:r>
              <a:rPr lang="en-US" sz="1400" b="1" dirty="0">
                <a:solidFill>
                  <a:schemeClr val="accent2"/>
                </a:solidFill>
              </a:rPr>
              <a:t>SUMMER INTERNSHIP REVIEW  |  IT3711</a:t>
            </a:r>
            <a:endParaRPr lang="en-US" sz="1400" dirty="0"/>
          </a:p>
        </p:txBody>
      </p:sp>
      <p:sp>
        <p:nvSpPr>
          <p:cNvPr id="7" name="Text 4"/>
          <p:cNvSpPr txBox="1"/>
          <p:nvPr/>
        </p:nvSpPr>
        <p:spPr>
          <a:xfrm>
            <a:off x="548640" y="3520440"/>
            <a:ext cx="5760720" cy="914400"/>
          </a:xfrm>
          <a:prstGeom prst="rect">
            <a:avLst/>
          </a:prstGeom>
          <a:noFill/>
          <a:ln/>
        </p:spPr>
        <p:txBody>
          <a:bodyPr wrap="square" lIns="0" tIns="0" rIns="0" bIns="0" rtlCol="0" anchor="t"/>
          <a:lstStyle/>
          <a:p>
            <a:pPr indent="0" marL="0">
              <a:buNone/>
            </a:pPr>
            <a:r>
              <a:rPr lang="en-US" sz="1800" dirty="0">
                <a:solidFill>
                  <a:schemeClr val="bg2"/>
                </a:solidFill>
              </a:rPr>
              <a:t>A Python and Django web application built during a one-month internship at Fantasy Solution, Tiruchirappalli</a:t>
            </a:r>
            <a:endParaRPr lang="en-US" sz="1800" dirty="0"/>
          </a:p>
        </p:txBody>
      </p:sp>
      <p:sp>
        <p:nvSpPr>
          <p:cNvPr id="8" name="Text 5"/>
          <p:cNvSpPr txBox="1"/>
          <p:nvPr/>
        </p:nvSpPr>
        <p:spPr>
          <a:xfrm>
            <a:off x="548640" y="4892040"/>
            <a:ext cx="5943600" cy="365760"/>
          </a:xfrm>
          <a:prstGeom prst="rect">
            <a:avLst/>
          </a:prstGeom>
          <a:noFill/>
          <a:ln/>
        </p:spPr>
        <p:txBody>
          <a:bodyPr wrap="square" lIns="0" tIns="0" rIns="0" bIns="0" rtlCol="0" anchor="t"/>
          <a:lstStyle/>
          <a:p>
            <a:pPr indent="0" marL="0">
              <a:buNone/>
            </a:pPr>
            <a:r>
              <a:rPr lang="en-US" sz="1800" b="1" dirty="0">
                <a:solidFill>
                  <a:schemeClr val="bg1"/>
                </a:solidFill>
              </a:rPr>
              <a:t>Harihara Suthan M  |  810023205302</a:t>
            </a:r>
            <a:endParaRPr lang="en-US" sz="1800" dirty="0"/>
          </a:p>
        </p:txBody>
      </p:sp>
      <p:sp>
        <p:nvSpPr>
          <p:cNvPr id="9" name="Text 6"/>
          <p:cNvSpPr txBox="1"/>
          <p:nvPr/>
        </p:nvSpPr>
        <p:spPr>
          <a:xfrm>
            <a:off x="548640" y="5303520"/>
            <a:ext cx="5943600" cy="274320"/>
          </a:xfrm>
          <a:prstGeom prst="rect">
            <a:avLst/>
          </a:prstGeom>
          <a:noFill/>
          <a:ln/>
        </p:spPr>
        <p:txBody>
          <a:bodyPr wrap="square" lIns="0" tIns="0" rIns="0" bIns="0" rtlCol="0" anchor="t"/>
          <a:lstStyle/>
          <a:p>
            <a:pPr indent="0" marL="0">
              <a:buNone/>
            </a:pPr>
            <a:r>
              <a:rPr lang="en-US" sz="1400" dirty="0">
                <a:solidFill>
                  <a:schemeClr val="bg2"/>
                </a:solidFill>
              </a:rPr>
              <a:t>B.Tech Information Technology, Seventh Semester</a:t>
            </a:r>
            <a:endParaRPr lang="en-US" sz="1400" dirty="0"/>
          </a:p>
        </p:txBody>
      </p:sp>
      <p:sp>
        <p:nvSpPr>
          <p:cNvPr id="10" name="Text 7"/>
          <p:cNvSpPr txBox="1"/>
          <p:nvPr/>
        </p:nvSpPr>
        <p:spPr>
          <a:xfrm>
            <a:off x="548640" y="5623560"/>
            <a:ext cx="5943600" cy="274320"/>
          </a:xfrm>
          <a:prstGeom prst="rect">
            <a:avLst/>
          </a:prstGeom>
          <a:noFill/>
          <a:ln/>
        </p:spPr>
        <p:txBody>
          <a:bodyPr wrap="square" lIns="0" tIns="0" rIns="0" bIns="0" rtlCol="0" anchor="t"/>
          <a:lstStyle/>
          <a:p>
            <a:pPr indent="0" marL="0">
              <a:buNone/>
            </a:pPr>
            <a:r>
              <a:rPr lang="en-US" sz="1400" dirty="0">
                <a:solidFill>
                  <a:schemeClr val="bg2"/>
                </a:solidFill>
              </a:rPr>
              <a:t>Internship period: 01 June to 30 June 2026</a:t>
            </a:r>
            <a:endParaRPr lang="en-US" sz="1400" dirty="0"/>
          </a:p>
        </p:txBody>
      </p:sp>
      <p:pic>
        <p:nvPicPr>
          <p:cNvPr id="11" name="Image 1" descr="Student Management System administrator dashboard">    </p:cNvPr>
          <p:cNvPicPr>
            <a:picLocks noChangeAspect="1"/>
          </p:cNvPicPr>
          <p:nvPr/>
        </p:nvPicPr>
        <p:blipFill>
          <a:blip r:embed="rId2"/>
          <a:stretch>
            <a:fillRect/>
          </a:stretch>
        </p:blipFill>
        <p:spPr>
          <a:xfrm>
            <a:off x="6766560" y="2103120"/>
            <a:ext cx="4892040" cy="2674620"/>
          </a:xfrm>
          <a:prstGeom prst="rect">
            <a:avLst/>
          </a:prstGeom>
          <a:effectLst>
            <a:outerShdw sx="100000" sy="100000" kx="0" ky="0" algn="bl" rotWithShape="0" blurRad="101600" dist="25400" dir="5400000">
              <a:srgbClr val="000000">
                <a:alpha val="18000"/>
              </a:srgbClr>
            </a:outerShdw>
          </a:effectLst>
        </p:spPr>
      </p:pic>
      <p:sp>
        <p:nvSpPr>
          <p:cNvPr id="12" name="Text 8"/>
          <p:cNvSpPr txBox="1"/>
          <p:nvPr/>
        </p:nvSpPr>
        <p:spPr>
          <a:xfrm>
            <a:off x="6766560" y="4937760"/>
            <a:ext cx="4892040" cy="274320"/>
          </a:xfrm>
          <a:prstGeom prst="rect">
            <a:avLst/>
          </a:prstGeom>
          <a:noFill/>
          <a:ln/>
        </p:spPr>
        <p:txBody>
          <a:bodyPr wrap="square" lIns="0" tIns="0" rIns="0" bIns="0" rtlCol="0" anchor="t"/>
          <a:lstStyle/>
          <a:p>
            <a:pPr indent="0" marL="0">
              <a:buNone/>
            </a:pPr>
            <a:r>
              <a:rPr lang="en-US" sz="1200" dirty="0">
                <a:solidFill>
                  <a:schemeClr val="bg2"/>
                </a:solidFill>
              </a:rPr>
              <a:t>Administrator dashboard of the application built during the internship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Internship at a glance</a:t>
            </a:r>
            <a:endParaRPr lang="en-US" sz="3600" dirty="0"/>
          </a:p>
        </p:txBody>
      </p:sp>
      <p:sp>
        <p:nvSpPr>
          <p:cNvPr id="3" name="stat-card"/>
          <p:cNvSpPr/>
          <p:nvPr/>
        </p:nvSpPr>
        <p:spPr>
          <a:xfrm>
            <a:off x="548640" y="1371600"/>
            <a:ext cx="2560320" cy="1600200"/>
          </a:xfrm>
          <a:prstGeom prst="roundRect">
            <a:avLst>
              <a:gd name="adj" fmla="val 6857"/>
            </a:avLst>
          </a:prstGeom>
          <a:solidFill>
            <a:schemeClr val="bg2"/>
          </a:solidFill>
          <a:ln/>
        </p:spPr>
      </p:sp>
      <p:sp>
        <p:nvSpPr>
          <p:cNvPr id="4" name="Text 2"/>
          <p:cNvSpPr txBox="1"/>
          <p:nvPr/>
        </p:nvSpPr>
        <p:spPr>
          <a:xfrm>
            <a:off x="822960" y="1481328"/>
            <a:ext cx="2011680" cy="777240"/>
          </a:xfrm>
          <a:prstGeom prst="rect">
            <a:avLst/>
          </a:prstGeom>
          <a:noFill/>
          <a:ln/>
        </p:spPr>
        <p:txBody>
          <a:bodyPr wrap="square" lIns="0" tIns="0" rIns="0" bIns="0" rtlCol="0" anchor="ctr"/>
          <a:lstStyle/>
          <a:p>
            <a:pPr indent="0" marL="0">
              <a:buNone/>
            </a:pPr>
            <a:r>
              <a:rPr lang="en-US" sz="4800" b="1" dirty="0">
                <a:solidFill>
                  <a:schemeClr val="accent1"/>
                </a:solidFill>
              </a:rPr>
              <a:t>30</a:t>
            </a:r>
            <a:endParaRPr lang="en-US" sz="4800" dirty="0"/>
          </a:p>
        </p:txBody>
      </p:sp>
      <p:sp>
        <p:nvSpPr>
          <p:cNvPr id="5" name="Text 3"/>
          <p:cNvSpPr txBox="1"/>
          <p:nvPr/>
        </p:nvSpPr>
        <p:spPr>
          <a:xfrm>
            <a:off x="822960" y="2286000"/>
            <a:ext cx="2011680" cy="548640"/>
          </a:xfrm>
          <a:prstGeom prst="rect">
            <a:avLst/>
          </a:prstGeom>
          <a:noFill/>
          <a:ln/>
        </p:spPr>
        <p:txBody>
          <a:bodyPr wrap="square" lIns="0" tIns="0" rIns="0" bIns="0" rtlCol="0" anchor="t"/>
          <a:lstStyle/>
          <a:p>
            <a:pPr indent="0" marL="0">
              <a:buNone/>
            </a:pPr>
            <a:r>
              <a:rPr lang="en-US" sz="1400" dirty="0">
                <a:solidFill>
                  <a:schemeClr val="tx1"/>
                </a:solidFill>
              </a:rPr>
              <a:t>days of training and project work</a:t>
            </a:r>
            <a:endParaRPr lang="en-US" sz="1400" dirty="0"/>
          </a:p>
        </p:txBody>
      </p:sp>
      <p:sp>
        <p:nvSpPr>
          <p:cNvPr id="6" name="stat-card"/>
          <p:cNvSpPr/>
          <p:nvPr/>
        </p:nvSpPr>
        <p:spPr>
          <a:xfrm>
            <a:off x="3383280" y="1371600"/>
            <a:ext cx="2560320" cy="1600200"/>
          </a:xfrm>
          <a:prstGeom prst="roundRect">
            <a:avLst>
              <a:gd name="adj" fmla="val 6857"/>
            </a:avLst>
          </a:prstGeom>
          <a:solidFill>
            <a:schemeClr val="bg2"/>
          </a:solidFill>
          <a:ln/>
        </p:spPr>
      </p:sp>
      <p:sp>
        <p:nvSpPr>
          <p:cNvPr id="7" name="Text 5"/>
          <p:cNvSpPr txBox="1"/>
          <p:nvPr/>
        </p:nvSpPr>
        <p:spPr>
          <a:xfrm>
            <a:off x="3657600" y="1481328"/>
            <a:ext cx="2011680" cy="777240"/>
          </a:xfrm>
          <a:prstGeom prst="rect">
            <a:avLst/>
          </a:prstGeom>
          <a:noFill/>
          <a:ln/>
        </p:spPr>
        <p:txBody>
          <a:bodyPr wrap="square" lIns="0" tIns="0" rIns="0" bIns="0" rtlCol="0" anchor="ctr"/>
          <a:lstStyle/>
          <a:p>
            <a:pPr indent="0" marL="0">
              <a:buNone/>
            </a:pPr>
            <a:r>
              <a:rPr lang="en-US" sz="4800" b="1" dirty="0">
                <a:solidFill>
                  <a:schemeClr val="accent1"/>
                </a:solidFill>
              </a:rPr>
              <a:t>10</a:t>
            </a:r>
            <a:endParaRPr lang="en-US" sz="4800" dirty="0"/>
          </a:p>
        </p:txBody>
      </p:sp>
      <p:sp>
        <p:nvSpPr>
          <p:cNvPr id="8" name="Text 6"/>
          <p:cNvSpPr txBox="1"/>
          <p:nvPr/>
        </p:nvSpPr>
        <p:spPr>
          <a:xfrm>
            <a:off x="3657600" y="2286000"/>
            <a:ext cx="2011680" cy="548640"/>
          </a:xfrm>
          <a:prstGeom prst="rect">
            <a:avLst/>
          </a:prstGeom>
          <a:noFill/>
          <a:ln/>
        </p:spPr>
        <p:txBody>
          <a:bodyPr wrap="square" lIns="0" tIns="0" rIns="0" bIns="0" rtlCol="0" anchor="t"/>
          <a:lstStyle/>
          <a:p>
            <a:pPr indent="0" marL="0">
              <a:buNone/>
            </a:pPr>
            <a:r>
              <a:rPr lang="en-US" sz="1400" dirty="0">
                <a:solidFill>
                  <a:schemeClr val="tx1"/>
                </a:solidFill>
              </a:rPr>
              <a:t>functional requirements delivered</a:t>
            </a:r>
            <a:endParaRPr lang="en-US" sz="1400" dirty="0"/>
          </a:p>
        </p:txBody>
      </p:sp>
      <p:sp>
        <p:nvSpPr>
          <p:cNvPr id="9" name="stat-card"/>
          <p:cNvSpPr/>
          <p:nvPr/>
        </p:nvSpPr>
        <p:spPr>
          <a:xfrm>
            <a:off x="6217920" y="1371600"/>
            <a:ext cx="2560320" cy="1600200"/>
          </a:xfrm>
          <a:prstGeom prst="roundRect">
            <a:avLst>
              <a:gd name="adj" fmla="val 6857"/>
            </a:avLst>
          </a:prstGeom>
          <a:solidFill>
            <a:schemeClr val="bg2"/>
          </a:solidFill>
          <a:ln/>
        </p:spPr>
      </p:sp>
      <p:sp>
        <p:nvSpPr>
          <p:cNvPr id="10" name="Text 8"/>
          <p:cNvSpPr txBox="1"/>
          <p:nvPr/>
        </p:nvSpPr>
        <p:spPr>
          <a:xfrm>
            <a:off x="6492240" y="1481328"/>
            <a:ext cx="2011680" cy="777240"/>
          </a:xfrm>
          <a:prstGeom prst="rect">
            <a:avLst/>
          </a:prstGeom>
          <a:noFill/>
          <a:ln/>
        </p:spPr>
        <p:txBody>
          <a:bodyPr wrap="square" lIns="0" tIns="0" rIns="0" bIns="0" rtlCol="0" anchor="ctr"/>
          <a:lstStyle/>
          <a:p>
            <a:pPr indent="0" marL="0">
              <a:buNone/>
            </a:pPr>
            <a:r>
              <a:rPr lang="en-US" sz="4800" b="1" dirty="0">
                <a:solidFill>
                  <a:schemeClr val="accent1"/>
                </a:solidFill>
              </a:rPr>
              <a:t>8</a:t>
            </a:r>
            <a:endParaRPr lang="en-US" sz="4800" dirty="0"/>
          </a:p>
        </p:txBody>
      </p:sp>
      <p:sp>
        <p:nvSpPr>
          <p:cNvPr id="11" name="Text 9"/>
          <p:cNvSpPr txBox="1"/>
          <p:nvPr/>
        </p:nvSpPr>
        <p:spPr>
          <a:xfrm>
            <a:off x="6492240" y="2286000"/>
            <a:ext cx="2011680" cy="548640"/>
          </a:xfrm>
          <a:prstGeom prst="rect">
            <a:avLst/>
          </a:prstGeom>
          <a:noFill/>
          <a:ln/>
        </p:spPr>
        <p:txBody>
          <a:bodyPr wrap="square" lIns="0" tIns="0" rIns="0" bIns="0" rtlCol="0" anchor="t"/>
          <a:lstStyle/>
          <a:p>
            <a:pPr indent="0" marL="0">
              <a:buNone/>
            </a:pPr>
            <a:r>
              <a:rPr lang="en-US" sz="1400" dirty="0">
                <a:solidFill>
                  <a:schemeClr val="tx1"/>
                </a:solidFill>
              </a:rPr>
              <a:t>entities in the database design</a:t>
            </a:r>
            <a:endParaRPr lang="en-US" sz="1400" dirty="0"/>
          </a:p>
        </p:txBody>
      </p:sp>
      <p:sp>
        <p:nvSpPr>
          <p:cNvPr id="12" name="stat-card"/>
          <p:cNvSpPr/>
          <p:nvPr/>
        </p:nvSpPr>
        <p:spPr>
          <a:xfrm>
            <a:off x="9052560" y="1371600"/>
            <a:ext cx="2560320" cy="1600200"/>
          </a:xfrm>
          <a:prstGeom prst="roundRect">
            <a:avLst>
              <a:gd name="adj" fmla="val 6857"/>
            </a:avLst>
          </a:prstGeom>
          <a:solidFill>
            <a:schemeClr val="bg2"/>
          </a:solidFill>
          <a:ln/>
        </p:spPr>
      </p:sp>
      <p:sp>
        <p:nvSpPr>
          <p:cNvPr id="13" name="Text 11"/>
          <p:cNvSpPr txBox="1"/>
          <p:nvPr/>
        </p:nvSpPr>
        <p:spPr>
          <a:xfrm>
            <a:off x="9326880" y="1481328"/>
            <a:ext cx="2011680" cy="777240"/>
          </a:xfrm>
          <a:prstGeom prst="rect">
            <a:avLst/>
          </a:prstGeom>
          <a:noFill/>
          <a:ln/>
        </p:spPr>
        <p:txBody>
          <a:bodyPr wrap="square" lIns="0" tIns="0" rIns="0" bIns="0" rtlCol="0" anchor="ctr"/>
          <a:lstStyle/>
          <a:p>
            <a:pPr indent="0" marL="0">
              <a:buNone/>
            </a:pPr>
            <a:r>
              <a:rPr lang="en-US" sz="4800" b="1" dirty="0">
                <a:solidFill>
                  <a:schemeClr val="accent1"/>
                </a:solidFill>
              </a:rPr>
              <a:t>3</a:t>
            </a:r>
            <a:endParaRPr lang="en-US" sz="4800" dirty="0"/>
          </a:p>
        </p:txBody>
      </p:sp>
      <p:sp>
        <p:nvSpPr>
          <p:cNvPr id="14" name="Text 12"/>
          <p:cNvSpPr txBox="1"/>
          <p:nvPr/>
        </p:nvSpPr>
        <p:spPr>
          <a:xfrm>
            <a:off x="9326880" y="2286000"/>
            <a:ext cx="2011680" cy="548640"/>
          </a:xfrm>
          <a:prstGeom prst="rect">
            <a:avLst/>
          </a:prstGeom>
          <a:noFill/>
          <a:ln/>
        </p:spPr>
        <p:txBody>
          <a:bodyPr wrap="square" lIns="0" tIns="0" rIns="0" bIns="0" rtlCol="0" anchor="t"/>
          <a:lstStyle/>
          <a:p>
            <a:pPr indent="0" marL="0">
              <a:buNone/>
            </a:pPr>
            <a:r>
              <a:rPr lang="en-US" sz="1400" dirty="0">
                <a:solidFill>
                  <a:schemeClr val="tx1"/>
                </a:solidFill>
              </a:rPr>
              <a:t>user roles: admin, faculty, student</a:t>
            </a:r>
            <a:endParaRPr lang="en-US" sz="1400" dirty="0"/>
          </a:p>
        </p:txBody>
      </p:sp>
      <p:graphicFrame>
        <p:nvGraphicFramePr>
          <p:cNvPr id="3" name="details-table"/>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914400"/>
        </p:xfrm>
        <a:graphic>
          <a:graphicData uri="http://schemas.openxmlformats.org/drawingml/2006/table">
            <a:tbl>
              <a:tblPr/>
              <a:tblGrid>
                <a:gridCol w="2560320"/>
                <a:gridCol w="8503920"/>
              </a:tblGrid>
              <a:tr h="457200">
                <a:tc>
                  <a:txBody>
                    <a:bodyPr/>
                    <a:lstStyle/>
                    <a:p>
                      <a:pPr indent="0" marL="0">
                        <a:buNone/>
                      </a:pPr>
                      <a:r>
                        <a:rPr lang="en-US" sz="1400" b="1" dirty="0">
                          <a:solidFill>
                            <a:schemeClr val="tx2"/>
                          </a:solidFill>
                        </a:rPr>
                        <a:t>Organisation</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Fantasy Solution, Melapudur, Tiruchirappalli</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Industry guide</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Mr. Bragatheesh, Software Developer (MCA)</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Project</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Student Management System</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Duration</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01 June 2026 to 30 June 2026</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Student</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Harihara Suthan M (810023205302)</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Programme</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B.Tech Information Technology, IT3711 Summer Internship</a:t>
                      </a:r>
                      <a:endParaRPr lang="en-US" sz="1400" dirty="0"/>
                    </a:p>
                  </a:txBody>
                  <a:tcPr marL="137160" marR="137160" marT="0" marB="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About Fantasy Solution</a:t>
            </a:r>
            <a:endParaRPr lang="en-US" sz="3600" dirty="0"/>
          </a:p>
        </p:txBody>
      </p:sp>
      <p:sp>
        <p:nvSpPr>
          <p:cNvPr id="3" name="about-card"/>
          <p:cNvSpPr/>
          <p:nvPr/>
        </p:nvSpPr>
        <p:spPr>
          <a:xfrm>
            <a:off x="548640" y="1371600"/>
            <a:ext cx="4206240" cy="2331720"/>
          </a:xfrm>
          <a:prstGeom prst="roundRect">
            <a:avLst>
              <a:gd name="adj" fmla="val 4706"/>
            </a:avLst>
          </a:prstGeom>
          <a:solidFill>
            <a:schemeClr val="bg2"/>
          </a:solidFill>
          <a:ln/>
        </p:spPr>
      </p:sp>
      <p:sp>
        <p:nvSpPr>
          <p:cNvPr id="4" name="Text 2"/>
          <p:cNvSpPr txBox="1"/>
          <p:nvPr/>
        </p:nvSpPr>
        <p:spPr>
          <a:xfrm>
            <a:off x="822960" y="1554480"/>
            <a:ext cx="3657600" cy="1280160"/>
          </a:xfrm>
          <a:prstGeom prst="rect">
            <a:avLst/>
          </a:prstGeom>
          <a:noFill/>
          <a:ln/>
        </p:spPr>
        <p:txBody>
          <a:bodyPr wrap="square" lIns="0" tIns="0" rIns="0" bIns="0" rtlCol="0" anchor="t"/>
          <a:lstStyle/>
          <a:p>
            <a:pPr indent="0" marL="0">
              <a:buNone/>
            </a:pPr>
            <a:r>
              <a:rPr lang="en-US" sz="1500" dirty="0">
                <a:solidFill>
                  <a:schemeClr val="tx1"/>
                </a:solidFill>
              </a:rPr>
              <a:t>An IT solution and service provider delivering technology-enabled solutions to businesses, institutions and individuals.</a:t>
            </a:r>
            <a:endParaRPr lang="en-US" sz="1500" dirty="0"/>
          </a:p>
        </p:txBody>
      </p:sp>
      <p:sp>
        <p:nvSpPr>
          <p:cNvPr id="5" name="Text 3"/>
          <p:cNvSpPr txBox="1"/>
          <p:nvPr/>
        </p:nvSpPr>
        <p:spPr>
          <a:xfrm>
            <a:off x="822960" y="2971800"/>
            <a:ext cx="3657600" cy="548640"/>
          </a:xfrm>
          <a:prstGeom prst="rect">
            <a:avLst/>
          </a:prstGeom>
          <a:noFill/>
          <a:ln/>
        </p:spPr>
        <p:txBody>
          <a:bodyPr wrap="square" lIns="0" tIns="0" rIns="0" bIns="0" rtlCol="0" anchor="t"/>
          <a:lstStyle/>
          <a:p>
            <a:pPr indent="0" marL="0">
              <a:buNone/>
            </a:pPr>
            <a:r>
              <a:rPr lang="en-US" sz="1500" b="1" dirty="0">
                <a:solidFill>
                  <a:schemeClr val="accent1"/>
                </a:solidFill>
              </a:rPr>
              <a:t>Brand commitment: “Beyond Technology”</a:t>
            </a:r>
            <a:endParaRPr lang="en-US" sz="1500" dirty="0"/>
          </a:p>
        </p:txBody>
      </p:sp>
      <p:sp>
        <p:nvSpPr>
          <p:cNvPr id="6" name="vision-card"/>
          <p:cNvSpPr/>
          <p:nvPr/>
        </p:nvSpPr>
        <p:spPr>
          <a:xfrm>
            <a:off x="548640" y="3886200"/>
            <a:ext cx="4206240" cy="2286000"/>
          </a:xfrm>
          <a:prstGeom prst="roundRect">
            <a:avLst>
              <a:gd name="adj" fmla="val 4800"/>
            </a:avLst>
          </a:prstGeom>
          <a:solidFill>
            <a:schemeClr val="tx2"/>
          </a:solidFill>
          <a:ln/>
        </p:spPr>
      </p:sp>
      <p:sp>
        <p:nvSpPr>
          <p:cNvPr id="7" name="Text 5"/>
          <p:cNvSpPr txBox="1"/>
          <p:nvPr/>
        </p:nvSpPr>
        <p:spPr>
          <a:xfrm>
            <a:off x="822960" y="4069080"/>
            <a:ext cx="3657600" cy="274320"/>
          </a:xfrm>
          <a:prstGeom prst="rect">
            <a:avLst/>
          </a:prstGeom>
          <a:noFill/>
          <a:ln/>
        </p:spPr>
        <p:txBody>
          <a:bodyPr wrap="square" lIns="0" tIns="0" rIns="0" bIns="0" rtlCol="0" anchor="t"/>
          <a:lstStyle/>
          <a:p>
            <a:pPr indent="0" marL="0">
              <a:buNone/>
            </a:pPr>
            <a:r>
              <a:rPr lang="en-US" sz="1200" b="1" dirty="0">
                <a:solidFill>
                  <a:schemeClr val="accent2"/>
                </a:solidFill>
              </a:rPr>
              <a:t>VISION</a:t>
            </a:r>
            <a:endParaRPr lang="en-US" sz="1200" dirty="0"/>
          </a:p>
        </p:txBody>
      </p:sp>
      <p:sp>
        <p:nvSpPr>
          <p:cNvPr id="8" name="Text 6"/>
          <p:cNvSpPr txBox="1"/>
          <p:nvPr/>
        </p:nvSpPr>
        <p:spPr>
          <a:xfrm>
            <a:off x="822960" y="4434840"/>
            <a:ext cx="3657600" cy="1554480"/>
          </a:xfrm>
          <a:prstGeom prst="rect">
            <a:avLst/>
          </a:prstGeom>
          <a:noFill/>
          <a:ln/>
        </p:spPr>
        <p:txBody>
          <a:bodyPr wrap="square" lIns="0" tIns="0" rIns="0" bIns="0" rtlCol="0" anchor="t"/>
          <a:lstStyle/>
          <a:p>
            <a:pPr indent="0" marL="0">
              <a:buNone/>
            </a:pPr>
            <a:r>
              <a:rPr lang="en-US" sz="1500" dirty="0">
                <a:solidFill>
                  <a:schemeClr val="bg1"/>
                </a:solidFill>
              </a:rPr>
              <a:t>To be a leading IT company for consulting services and the deployment of best-of-breed business solutions to top-tier domestic and international customers.</a:t>
            </a:r>
            <a:endParaRPr lang="en-US" sz="1500" dirty="0"/>
          </a:p>
        </p:txBody>
      </p:sp>
      <p:sp>
        <p:nvSpPr>
          <p:cNvPr id="9" name="Text 7"/>
          <p:cNvSpPr txBox="1"/>
          <p:nvPr/>
        </p:nvSpPr>
        <p:spPr>
          <a:xfrm>
            <a:off x="5120640" y="1371600"/>
            <a:ext cx="6492240" cy="365760"/>
          </a:xfrm>
          <a:prstGeom prst="rect">
            <a:avLst/>
          </a:prstGeom>
          <a:noFill/>
          <a:ln/>
        </p:spPr>
        <p:txBody>
          <a:bodyPr wrap="square" lIns="0" tIns="0" rIns="0" bIns="0" rtlCol="0" anchor="t"/>
          <a:lstStyle/>
          <a:p>
            <a:pPr indent="0" marL="0">
              <a:buNone/>
            </a:pPr>
            <a:r>
              <a:rPr lang="en-US" sz="1800" b="1" dirty="0">
                <a:solidFill>
                  <a:schemeClr val="tx2"/>
                </a:solidFill>
              </a:rPr>
              <a:t>Services across the software life cycle</a:t>
            </a:r>
            <a:endParaRPr lang="en-US" sz="1800" dirty="0"/>
          </a:p>
        </p:txBody>
      </p:sp>
      <p:sp>
        <p:nvSpPr>
          <p:cNvPr id="10" name="service-card"/>
          <p:cNvSpPr/>
          <p:nvPr/>
        </p:nvSpPr>
        <p:spPr>
          <a:xfrm>
            <a:off x="5120640" y="1874520"/>
            <a:ext cx="3108960" cy="1097280"/>
          </a:xfrm>
          <a:prstGeom prst="roundRect">
            <a:avLst>
              <a:gd name="adj" fmla="val 10000"/>
            </a:avLst>
          </a:prstGeom>
          <a:solidFill>
            <a:schemeClr val="bg2"/>
          </a:solidFill>
          <a:ln/>
        </p:spPr>
      </p:sp>
      <p:sp>
        <p:nvSpPr>
          <p:cNvPr id="11" name="icon-bg"/>
          <p:cNvSpPr/>
          <p:nvPr/>
        </p:nvSpPr>
        <p:spPr>
          <a:xfrm>
            <a:off x="5303520" y="2176272"/>
            <a:ext cx="502920" cy="502920"/>
          </a:xfrm>
          <a:prstGeom prst="ellipse">
            <a:avLst/>
          </a:prstGeom>
          <a:solidFill>
            <a:schemeClr val="accent1"/>
          </a:solidFill>
          <a:ln/>
        </p:spPr>
      </p:sp>
      <p:pic>
        <p:nvPicPr>
          <p:cNvPr id="12" name="Image 0" descr="Cogs icon">    </p:cNvPr>
          <p:cNvPicPr>
            <a:picLocks noChangeAspect="1"/>
          </p:cNvPicPr>
          <p:nvPr/>
        </p:nvPicPr>
        <p:blipFill>
          <a:blip r:embed="rId1"/>
          <a:stretch>
            <a:fillRect/>
          </a:stretch>
        </p:blipFill>
        <p:spPr>
          <a:xfrm>
            <a:off x="5429250" y="2302002"/>
            <a:ext cx="251460" cy="251460"/>
          </a:xfrm>
          <a:prstGeom prst="rect">
            <a:avLst/>
          </a:prstGeom>
        </p:spPr>
      </p:pic>
      <p:sp>
        <p:nvSpPr>
          <p:cNvPr id="13" name="Text 10"/>
          <p:cNvSpPr txBox="1"/>
          <p:nvPr/>
        </p:nvSpPr>
        <p:spPr>
          <a:xfrm>
            <a:off x="5989320" y="196596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Application development and maintenance</a:t>
            </a:r>
            <a:endParaRPr lang="en-US" sz="1400" dirty="0"/>
          </a:p>
        </p:txBody>
      </p:sp>
      <p:sp>
        <p:nvSpPr>
          <p:cNvPr id="14" name="service-card"/>
          <p:cNvSpPr/>
          <p:nvPr/>
        </p:nvSpPr>
        <p:spPr>
          <a:xfrm>
            <a:off x="8503920" y="1874520"/>
            <a:ext cx="3108960" cy="1097280"/>
          </a:xfrm>
          <a:prstGeom prst="roundRect">
            <a:avLst>
              <a:gd name="adj" fmla="val 10000"/>
            </a:avLst>
          </a:prstGeom>
          <a:solidFill>
            <a:schemeClr val="bg2"/>
          </a:solidFill>
          <a:ln/>
        </p:spPr>
      </p:sp>
      <p:sp>
        <p:nvSpPr>
          <p:cNvPr id="15" name="icon-bg"/>
          <p:cNvSpPr/>
          <p:nvPr/>
        </p:nvSpPr>
        <p:spPr>
          <a:xfrm>
            <a:off x="8686800" y="2176272"/>
            <a:ext cx="502920" cy="502920"/>
          </a:xfrm>
          <a:prstGeom prst="ellipse">
            <a:avLst/>
          </a:prstGeom>
          <a:solidFill>
            <a:schemeClr val="accent1"/>
          </a:solidFill>
          <a:ln/>
        </p:spPr>
      </p:sp>
      <p:pic>
        <p:nvPicPr>
          <p:cNvPr id="16" name="Image 1" descr="ShoppingCart icon">    </p:cNvPr>
          <p:cNvPicPr>
            <a:picLocks noChangeAspect="1"/>
          </p:cNvPicPr>
          <p:nvPr/>
        </p:nvPicPr>
        <p:blipFill>
          <a:blip r:embed="rId2"/>
          <a:stretch>
            <a:fillRect/>
          </a:stretch>
        </p:blipFill>
        <p:spPr>
          <a:xfrm>
            <a:off x="8812530" y="2302002"/>
            <a:ext cx="251460" cy="251460"/>
          </a:xfrm>
          <a:prstGeom prst="rect">
            <a:avLst/>
          </a:prstGeom>
        </p:spPr>
      </p:pic>
      <p:sp>
        <p:nvSpPr>
          <p:cNvPr id="17" name="Text 13"/>
          <p:cNvSpPr txBox="1"/>
          <p:nvPr/>
        </p:nvSpPr>
        <p:spPr>
          <a:xfrm>
            <a:off x="9372600" y="196596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E-business, CMS and payment gateways</a:t>
            </a:r>
            <a:endParaRPr lang="en-US" sz="1400" dirty="0"/>
          </a:p>
        </p:txBody>
      </p:sp>
      <p:sp>
        <p:nvSpPr>
          <p:cNvPr id="18" name="service-card"/>
          <p:cNvSpPr/>
          <p:nvPr/>
        </p:nvSpPr>
        <p:spPr>
          <a:xfrm>
            <a:off x="5120640" y="3154680"/>
            <a:ext cx="3108960" cy="1097280"/>
          </a:xfrm>
          <a:prstGeom prst="roundRect">
            <a:avLst>
              <a:gd name="adj" fmla="val 10000"/>
            </a:avLst>
          </a:prstGeom>
          <a:solidFill>
            <a:schemeClr val="bg2"/>
          </a:solidFill>
          <a:ln/>
        </p:spPr>
      </p:sp>
      <p:sp>
        <p:nvSpPr>
          <p:cNvPr id="19" name="icon-bg"/>
          <p:cNvSpPr/>
          <p:nvPr/>
        </p:nvSpPr>
        <p:spPr>
          <a:xfrm>
            <a:off x="5303520" y="3456432"/>
            <a:ext cx="502920" cy="502920"/>
          </a:xfrm>
          <a:prstGeom prst="ellipse">
            <a:avLst/>
          </a:prstGeom>
          <a:solidFill>
            <a:schemeClr val="accent1"/>
          </a:solidFill>
          <a:ln/>
        </p:spPr>
      </p:sp>
      <p:pic>
        <p:nvPicPr>
          <p:cNvPr id="20" name="Image 2" descr="LaptopCode icon">    </p:cNvPr>
          <p:cNvPicPr>
            <a:picLocks noChangeAspect="1"/>
          </p:cNvPicPr>
          <p:nvPr/>
        </p:nvPicPr>
        <p:blipFill>
          <a:blip r:embed="rId3"/>
          <a:stretch>
            <a:fillRect/>
          </a:stretch>
        </p:blipFill>
        <p:spPr>
          <a:xfrm>
            <a:off x="5429250" y="3582162"/>
            <a:ext cx="251460" cy="251460"/>
          </a:xfrm>
          <a:prstGeom prst="rect">
            <a:avLst/>
          </a:prstGeom>
        </p:spPr>
      </p:pic>
      <p:sp>
        <p:nvSpPr>
          <p:cNvPr id="21" name="Text 16"/>
          <p:cNvSpPr txBox="1"/>
          <p:nvPr/>
        </p:nvSpPr>
        <p:spPr>
          <a:xfrm>
            <a:off x="5989320" y="324612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Website design, development and hosting</a:t>
            </a:r>
            <a:endParaRPr lang="en-US" sz="1400" dirty="0"/>
          </a:p>
        </p:txBody>
      </p:sp>
      <p:sp>
        <p:nvSpPr>
          <p:cNvPr id="22" name="service-card"/>
          <p:cNvSpPr/>
          <p:nvPr/>
        </p:nvSpPr>
        <p:spPr>
          <a:xfrm>
            <a:off x="8503920" y="3154680"/>
            <a:ext cx="3108960" cy="1097280"/>
          </a:xfrm>
          <a:prstGeom prst="roundRect">
            <a:avLst>
              <a:gd name="adj" fmla="val 10000"/>
            </a:avLst>
          </a:prstGeom>
          <a:solidFill>
            <a:schemeClr val="bg2"/>
          </a:solidFill>
          <a:ln/>
        </p:spPr>
      </p:sp>
      <p:sp>
        <p:nvSpPr>
          <p:cNvPr id="23" name="icon-bg"/>
          <p:cNvSpPr/>
          <p:nvPr/>
        </p:nvSpPr>
        <p:spPr>
          <a:xfrm>
            <a:off x="8686800" y="3456432"/>
            <a:ext cx="502920" cy="502920"/>
          </a:xfrm>
          <a:prstGeom prst="ellipse">
            <a:avLst/>
          </a:prstGeom>
          <a:solidFill>
            <a:schemeClr val="accent1"/>
          </a:solidFill>
          <a:ln/>
        </p:spPr>
      </p:sp>
      <p:pic>
        <p:nvPicPr>
          <p:cNvPr id="24" name="Image 3" descr="MobileAlt icon">    </p:cNvPr>
          <p:cNvPicPr>
            <a:picLocks noChangeAspect="1"/>
          </p:cNvPicPr>
          <p:nvPr/>
        </p:nvPicPr>
        <p:blipFill>
          <a:blip r:embed="rId4"/>
          <a:stretch>
            <a:fillRect/>
          </a:stretch>
        </p:blipFill>
        <p:spPr>
          <a:xfrm>
            <a:off x="8812530" y="3582162"/>
            <a:ext cx="251460" cy="251460"/>
          </a:xfrm>
          <a:prstGeom prst="rect">
            <a:avLst/>
          </a:prstGeom>
        </p:spPr>
      </p:pic>
      <p:sp>
        <p:nvSpPr>
          <p:cNvPr id="25" name="Text 19"/>
          <p:cNvSpPr txBox="1"/>
          <p:nvPr/>
        </p:nvSpPr>
        <p:spPr>
          <a:xfrm>
            <a:off x="9372600" y="324612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Android mobile applications</a:t>
            </a:r>
            <a:endParaRPr lang="en-US" sz="1400" dirty="0"/>
          </a:p>
        </p:txBody>
      </p:sp>
      <p:sp>
        <p:nvSpPr>
          <p:cNvPr id="26" name="service-card"/>
          <p:cNvSpPr/>
          <p:nvPr/>
        </p:nvSpPr>
        <p:spPr>
          <a:xfrm>
            <a:off x="5120640" y="4434840"/>
            <a:ext cx="3108960" cy="1097280"/>
          </a:xfrm>
          <a:prstGeom prst="roundRect">
            <a:avLst>
              <a:gd name="adj" fmla="val 10000"/>
            </a:avLst>
          </a:prstGeom>
          <a:solidFill>
            <a:schemeClr val="bg2"/>
          </a:solidFill>
          <a:ln/>
        </p:spPr>
      </p:sp>
      <p:sp>
        <p:nvSpPr>
          <p:cNvPr id="27" name="icon-bg"/>
          <p:cNvSpPr/>
          <p:nvPr/>
        </p:nvSpPr>
        <p:spPr>
          <a:xfrm>
            <a:off x="5303520" y="4736592"/>
            <a:ext cx="502920" cy="502920"/>
          </a:xfrm>
          <a:prstGeom prst="ellipse">
            <a:avLst/>
          </a:prstGeom>
          <a:solidFill>
            <a:schemeClr val="accent1"/>
          </a:solidFill>
          <a:ln/>
        </p:spPr>
      </p:sp>
      <p:pic>
        <p:nvPicPr>
          <p:cNvPr id="28" name="Image 4" descr="Server icon">    </p:cNvPr>
          <p:cNvPicPr>
            <a:picLocks noChangeAspect="1"/>
          </p:cNvPicPr>
          <p:nvPr/>
        </p:nvPicPr>
        <p:blipFill>
          <a:blip r:embed="rId5"/>
          <a:stretch>
            <a:fillRect/>
          </a:stretch>
        </p:blipFill>
        <p:spPr>
          <a:xfrm>
            <a:off x="5429250" y="4862322"/>
            <a:ext cx="251460" cy="251460"/>
          </a:xfrm>
          <a:prstGeom prst="rect">
            <a:avLst/>
          </a:prstGeom>
        </p:spPr>
      </p:pic>
      <p:sp>
        <p:nvSpPr>
          <p:cNvPr id="29" name="Text 22"/>
          <p:cNvSpPr txBox="1"/>
          <p:nvPr/>
        </p:nvSpPr>
        <p:spPr>
          <a:xfrm>
            <a:off x="5989320" y="452628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ERP, testing and performance engineering</a:t>
            </a:r>
            <a:endParaRPr lang="en-US" sz="1400" dirty="0"/>
          </a:p>
        </p:txBody>
      </p:sp>
      <p:sp>
        <p:nvSpPr>
          <p:cNvPr id="30" name="service-card"/>
          <p:cNvSpPr/>
          <p:nvPr/>
        </p:nvSpPr>
        <p:spPr>
          <a:xfrm>
            <a:off x="8503920" y="4434840"/>
            <a:ext cx="3108960" cy="1097280"/>
          </a:xfrm>
          <a:prstGeom prst="roundRect">
            <a:avLst>
              <a:gd name="adj" fmla="val 10000"/>
            </a:avLst>
          </a:prstGeom>
          <a:solidFill>
            <a:schemeClr val="bg2"/>
          </a:solidFill>
          <a:ln/>
        </p:spPr>
      </p:sp>
      <p:sp>
        <p:nvSpPr>
          <p:cNvPr id="31" name="icon-bg"/>
          <p:cNvSpPr/>
          <p:nvPr/>
        </p:nvSpPr>
        <p:spPr>
          <a:xfrm>
            <a:off x="8686800" y="4736592"/>
            <a:ext cx="502920" cy="502920"/>
          </a:xfrm>
          <a:prstGeom prst="ellipse">
            <a:avLst/>
          </a:prstGeom>
          <a:solidFill>
            <a:schemeClr val="accent1"/>
          </a:solidFill>
          <a:ln/>
        </p:spPr>
      </p:sp>
      <p:pic>
        <p:nvPicPr>
          <p:cNvPr id="32" name="Image 5" descr="GraduationCap icon">    </p:cNvPr>
          <p:cNvPicPr>
            <a:picLocks noChangeAspect="1"/>
          </p:cNvPicPr>
          <p:nvPr/>
        </p:nvPicPr>
        <p:blipFill>
          <a:blip r:embed="rId6"/>
          <a:stretch>
            <a:fillRect/>
          </a:stretch>
        </p:blipFill>
        <p:spPr>
          <a:xfrm>
            <a:off x="8812530" y="4862322"/>
            <a:ext cx="251460" cy="251460"/>
          </a:xfrm>
          <a:prstGeom prst="rect">
            <a:avLst/>
          </a:prstGeom>
        </p:spPr>
      </p:pic>
      <p:sp>
        <p:nvSpPr>
          <p:cNvPr id="33" name="Text 25"/>
          <p:cNvSpPr txBox="1"/>
          <p:nvPr/>
        </p:nvSpPr>
        <p:spPr>
          <a:xfrm>
            <a:off x="9372600" y="452628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IT education and student project guidance</a:t>
            </a:r>
            <a:endParaRPr lang="en-US" sz="1400" dirty="0"/>
          </a:p>
        </p:txBody>
      </p:sp>
      <p:sp>
        <p:nvSpPr>
          <p:cNvPr id="34" name="tech-bar"/>
          <p:cNvSpPr/>
          <p:nvPr/>
        </p:nvSpPr>
        <p:spPr>
          <a:xfrm>
            <a:off x="5120640" y="5715000"/>
            <a:ext cx="6492240" cy="457200"/>
          </a:xfrm>
          <a:prstGeom prst="roundRect">
            <a:avLst>
              <a:gd name="adj" fmla="val 24000"/>
            </a:avLst>
          </a:prstGeom>
          <a:solidFill>
            <a:schemeClr val="bg2"/>
          </a:solidFill>
          <a:ln/>
        </p:spPr>
      </p:sp>
      <p:sp>
        <p:nvSpPr>
          <p:cNvPr id="35" name="Text 27"/>
          <p:cNvSpPr txBox="1"/>
          <p:nvPr/>
        </p:nvSpPr>
        <p:spPr>
          <a:xfrm>
            <a:off x="5303520" y="5715000"/>
            <a:ext cx="6217920" cy="457200"/>
          </a:xfrm>
          <a:prstGeom prst="rect">
            <a:avLst/>
          </a:prstGeom>
          <a:noFill/>
          <a:ln/>
        </p:spPr>
        <p:txBody>
          <a:bodyPr wrap="square" lIns="0" tIns="0" rIns="0" bIns="0" rtlCol="0" anchor="ctr"/>
          <a:lstStyle/>
          <a:p>
            <a:pPr indent="0" marL="0">
              <a:buNone/>
            </a:pPr>
            <a:r>
              <a:rPr lang="en-US" sz="1400" dirty="0">
                <a:solidFill>
                  <a:schemeClr val="tx1"/>
                </a:solidFill>
              </a:rPr>
              <a:t>Technology areas: .NET · PHP · Java · Android · R · Python · MATLAB</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Training programme</a:t>
            </a:r>
            <a:endParaRPr lang="en-US" sz="3600" dirty="0"/>
          </a:p>
        </p:txBody>
      </p:sp>
      <p:sp>
        <p:nvSpPr>
          <p:cNvPr id="3" name="timeline-card"/>
          <p:cNvSpPr/>
          <p:nvPr/>
        </p:nvSpPr>
        <p:spPr>
          <a:xfrm>
            <a:off x="548640" y="1371600"/>
            <a:ext cx="7223760" cy="2743200"/>
          </a:xfrm>
          <a:prstGeom prst="roundRect">
            <a:avLst>
              <a:gd name="adj" fmla="val 4000"/>
            </a:avLst>
          </a:prstGeom>
          <a:solidFill>
            <a:schemeClr val="bg2"/>
          </a:solidFill>
          <a:ln/>
        </p:spPr>
      </p:sp>
      <p:pic>
        <p:nvPicPr>
          <p:cNvPr id="4" name="Image 0" descr="Gantt chart of the five internship phases in June 2026">    </p:cNvPr>
          <p:cNvPicPr>
            <a:picLocks noChangeAspect="1"/>
          </p:cNvPicPr>
          <p:nvPr/>
        </p:nvPicPr>
        <p:blipFill>
          <a:blip r:embed="rId1"/>
          <a:stretch>
            <a:fillRect/>
          </a:stretch>
        </p:blipFill>
        <p:spPr>
          <a:xfrm>
            <a:off x="685800" y="1554480"/>
            <a:ext cx="6949440" cy="2395728"/>
          </a:xfrm>
          <a:prstGeom prst="rect">
            <a:avLst/>
          </a:prstGeom>
        </p:spPr>
      </p:pic>
      <p:sp>
        <p:nvSpPr>
          <p:cNvPr id="5" name="step-pill"/>
          <p:cNvSpPr/>
          <p:nvPr/>
        </p:nvSpPr>
        <p:spPr>
          <a:xfrm>
            <a:off x="548640" y="4434840"/>
            <a:ext cx="2103120" cy="640080"/>
          </a:xfrm>
          <a:prstGeom prst="roundRect">
            <a:avLst>
              <a:gd name="adj" fmla="val 17143"/>
            </a:avLst>
          </a:prstGeom>
          <a:solidFill>
            <a:schemeClr val="accent1"/>
          </a:solidFill>
          <a:ln/>
        </p:spPr>
      </p:sp>
      <p:sp>
        <p:nvSpPr>
          <p:cNvPr id="6" name="Text 3"/>
          <p:cNvSpPr txBox="1"/>
          <p:nvPr/>
        </p:nvSpPr>
        <p:spPr>
          <a:xfrm>
            <a:off x="548640" y="4434840"/>
            <a:ext cx="2103120" cy="640080"/>
          </a:xfrm>
          <a:prstGeom prst="rect">
            <a:avLst/>
          </a:prstGeom>
          <a:noFill/>
          <a:ln/>
        </p:spPr>
        <p:txBody>
          <a:bodyPr wrap="square" lIns="0" tIns="0" rIns="0" bIns="0" rtlCol="0" anchor="ctr"/>
          <a:lstStyle/>
          <a:p>
            <a:pPr algn="ctr" indent="0" marL="0">
              <a:buNone/>
            </a:pPr>
            <a:r>
              <a:rPr lang="en-US" sz="1400" b="1" dirty="0">
                <a:solidFill>
                  <a:schemeClr val="bg1"/>
                </a:solidFill>
              </a:rPr>
              <a:t>Short explanation</a:t>
            </a:r>
            <a:endParaRPr lang="en-US" sz="1400" dirty="0"/>
          </a:p>
        </p:txBody>
      </p:sp>
      <p:pic>
        <p:nvPicPr>
          <p:cNvPr id="7" name="Image 1" descr="arrow">    </p:cNvPr>
          <p:cNvPicPr>
            <a:picLocks noChangeAspect="1"/>
          </p:cNvPicPr>
          <p:nvPr/>
        </p:nvPicPr>
        <p:blipFill>
          <a:blip r:embed="rId2"/>
          <a:stretch>
            <a:fillRect/>
          </a:stretch>
        </p:blipFill>
        <p:spPr>
          <a:xfrm>
            <a:off x="2743200" y="4617720"/>
            <a:ext cx="274320" cy="274320"/>
          </a:xfrm>
          <a:prstGeom prst="rect">
            <a:avLst/>
          </a:prstGeom>
        </p:spPr>
      </p:pic>
      <p:sp>
        <p:nvSpPr>
          <p:cNvPr id="8" name="step-pill"/>
          <p:cNvSpPr/>
          <p:nvPr/>
        </p:nvSpPr>
        <p:spPr>
          <a:xfrm>
            <a:off x="3108960" y="4434840"/>
            <a:ext cx="2103120" cy="640080"/>
          </a:xfrm>
          <a:prstGeom prst="roundRect">
            <a:avLst>
              <a:gd name="adj" fmla="val 17143"/>
            </a:avLst>
          </a:prstGeom>
          <a:solidFill>
            <a:schemeClr val="accent1"/>
          </a:solidFill>
          <a:ln/>
        </p:spPr>
      </p:sp>
      <p:sp>
        <p:nvSpPr>
          <p:cNvPr id="9" name="Text 5"/>
          <p:cNvSpPr txBox="1"/>
          <p:nvPr/>
        </p:nvSpPr>
        <p:spPr>
          <a:xfrm>
            <a:off x="3108960" y="4434840"/>
            <a:ext cx="2103120" cy="640080"/>
          </a:xfrm>
          <a:prstGeom prst="rect">
            <a:avLst/>
          </a:prstGeom>
          <a:noFill/>
          <a:ln/>
        </p:spPr>
        <p:txBody>
          <a:bodyPr wrap="square" lIns="0" tIns="0" rIns="0" bIns="0" rtlCol="0" anchor="ctr"/>
          <a:lstStyle/>
          <a:p>
            <a:pPr algn="ctr" indent="0" marL="0">
              <a:buNone/>
            </a:pPr>
            <a:r>
              <a:rPr lang="en-US" sz="1400" b="1" dirty="0">
                <a:solidFill>
                  <a:schemeClr val="bg1"/>
                </a:solidFill>
              </a:rPr>
              <a:t>Coding exercises</a:t>
            </a:r>
            <a:endParaRPr lang="en-US" sz="1400" dirty="0"/>
          </a:p>
        </p:txBody>
      </p:sp>
      <p:pic>
        <p:nvPicPr>
          <p:cNvPr id="10" name="Image 2" descr="arrow">    </p:cNvPr>
          <p:cNvPicPr>
            <a:picLocks noChangeAspect="1"/>
          </p:cNvPicPr>
          <p:nvPr/>
        </p:nvPicPr>
        <p:blipFill>
          <a:blip r:embed="rId3"/>
          <a:stretch>
            <a:fillRect/>
          </a:stretch>
        </p:blipFill>
        <p:spPr>
          <a:xfrm>
            <a:off x="5303520" y="4617720"/>
            <a:ext cx="274320" cy="274320"/>
          </a:xfrm>
          <a:prstGeom prst="rect">
            <a:avLst/>
          </a:prstGeom>
        </p:spPr>
      </p:pic>
      <p:sp>
        <p:nvSpPr>
          <p:cNvPr id="11" name="step-pill"/>
          <p:cNvSpPr/>
          <p:nvPr/>
        </p:nvSpPr>
        <p:spPr>
          <a:xfrm>
            <a:off x="5669280" y="4434840"/>
            <a:ext cx="2103120" cy="640080"/>
          </a:xfrm>
          <a:prstGeom prst="roundRect">
            <a:avLst>
              <a:gd name="adj" fmla="val 17143"/>
            </a:avLst>
          </a:prstGeom>
          <a:solidFill>
            <a:schemeClr val="accent1"/>
          </a:solidFill>
          <a:ln/>
        </p:spPr>
      </p:sp>
      <p:sp>
        <p:nvSpPr>
          <p:cNvPr id="12" name="Text 7"/>
          <p:cNvSpPr txBox="1"/>
          <p:nvPr/>
        </p:nvSpPr>
        <p:spPr>
          <a:xfrm>
            <a:off x="5669280" y="4434840"/>
            <a:ext cx="2103120" cy="640080"/>
          </a:xfrm>
          <a:prstGeom prst="rect">
            <a:avLst/>
          </a:prstGeom>
          <a:noFill/>
          <a:ln/>
        </p:spPr>
        <p:txBody>
          <a:bodyPr wrap="square" lIns="0" tIns="0" rIns="0" bIns="0" rtlCol="0" anchor="ctr"/>
          <a:lstStyle/>
          <a:p>
            <a:pPr algn="ctr" indent="0" marL="0">
              <a:buNone/>
            </a:pPr>
            <a:r>
              <a:rPr lang="en-US" sz="1400" b="1" dirty="0">
                <a:solidFill>
                  <a:schemeClr val="bg1"/>
                </a:solidFill>
              </a:rPr>
              <a:t>Applied in project</a:t>
            </a:r>
            <a:endParaRPr lang="en-US" sz="1400" dirty="0"/>
          </a:p>
        </p:txBody>
      </p:sp>
      <p:sp>
        <p:nvSpPr>
          <p:cNvPr id="13" name="Text 8"/>
          <p:cNvSpPr txBox="1"/>
          <p:nvPr/>
        </p:nvSpPr>
        <p:spPr>
          <a:xfrm>
            <a:off x="548640" y="5303520"/>
            <a:ext cx="7223760" cy="822960"/>
          </a:xfrm>
          <a:prstGeom prst="rect">
            <a:avLst/>
          </a:prstGeom>
          <a:noFill/>
          <a:ln/>
        </p:spPr>
        <p:txBody>
          <a:bodyPr wrap="square" lIns="0" tIns="0" rIns="0" bIns="0" rtlCol="0" anchor="t"/>
          <a:lstStyle/>
          <a:p>
            <a:pPr indent="0" marL="0">
              <a:buNone/>
            </a:pPr>
            <a:r>
              <a:rPr lang="en-US" sz="1400" dirty="0">
                <a:solidFill>
                  <a:schemeClr val="tx1"/>
                </a:solidFill>
              </a:rPr>
              <a:t>Understanding was always tested by practice. The programme closed with documentation, presentations before mentors and peers, and a review.</a:t>
            </a:r>
            <a:endParaRPr lang="en-US" sz="1400" dirty="0"/>
          </a:p>
        </p:txBody>
      </p:sp>
      <p:sp>
        <p:nvSpPr>
          <p:cNvPr id="14" name="icon-bg"/>
          <p:cNvSpPr/>
          <p:nvPr/>
        </p:nvSpPr>
        <p:spPr>
          <a:xfrm>
            <a:off x="8138160" y="1463040"/>
            <a:ext cx="548640" cy="548640"/>
          </a:xfrm>
          <a:prstGeom prst="ellipse">
            <a:avLst/>
          </a:prstGeom>
          <a:solidFill>
            <a:schemeClr val="accent1"/>
          </a:solidFill>
          <a:ln/>
        </p:spPr>
      </p:sp>
      <p:pic>
        <p:nvPicPr>
          <p:cNvPr id="15" name="Image 3" descr="Python icon">    </p:cNvPr>
          <p:cNvPicPr>
            <a:picLocks noChangeAspect="1"/>
          </p:cNvPicPr>
          <p:nvPr/>
        </p:nvPicPr>
        <p:blipFill>
          <a:blip r:embed="rId4"/>
          <a:stretch>
            <a:fillRect/>
          </a:stretch>
        </p:blipFill>
        <p:spPr>
          <a:xfrm>
            <a:off x="8275320" y="1600200"/>
            <a:ext cx="274320" cy="274320"/>
          </a:xfrm>
          <a:prstGeom prst="rect">
            <a:avLst/>
          </a:prstGeom>
        </p:spPr>
      </p:pic>
      <p:sp>
        <p:nvSpPr>
          <p:cNvPr id="16" name="Text 10"/>
          <p:cNvSpPr txBox="1"/>
          <p:nvPr/>
        </p:nvSpPr>
        <p:spPr>
          <a:xfrm>
            <a:off x="8869680" y="1371600"/>
            <a:ext cx="2743200" cy="320040"/>
          </a:xfrm>
          <a:prstGeom prst="rect">
            <a:avLst/>
          </a:prstGeom>
          <a:noFill/>
          <a:ln/>
        </p:spPr>
        <p:txBody>
          <a:bodyPr wrap="square" lIns="0" tIns="0" rIns="0" bIns="0" rtlCol="0" anchor="t"/>
          <a:lstStyle/>
          <a:p>
            <a:pPr indent="0" marL="0">
              <a:buNone/>
            </a:pPr>
            <a:r>
              <a:rPr lang="en-US" sz="1600" b="1" dirty="0">
                <a:solidFill>
                  <a:schemeClr val="tx2"/>
                </a:solidFill>
              </a:rPr>
              <a:t>Core Python and OOP</a:t>
            </a:r>
            <a:endParaRPr lang="en-US" sz="1600" dirty="0"/>
          </a:p>
        </p:txBody>
      </p:sp>
      <p:sp>
        <p:nvSpPr>
          <p:cNvPr id="17" name="Text 11"/>
          <p:cNvSpPr txBox="1"/>
          <p:nvPr/>
        </p:nvSpPr>
        <p:spPr>
          <a:xfrm>
            <a:off x="8869680" y="1700784"/>
            <a:ext cx="2743200" cy="548640"/>
          </a:xfrm>
          <a:prstGeom prst="rect">
            <a:avLst/>
          </a:prstGeom>
          <a:noFill/>
          <a:ln/>
        </p:spPr>
        <p:txBody>
          <a:bodyPr wrap="square" lIns="0" tIns="0" rIns="0" bIns="0" rtlCol="0" anchor="t"/>
          <a:lstStyle/>
          <a:p>
            <a:pPr indent="0" marL="0">
              <a:buNone/>
            </a:pPr>
            <a:r>
              <a:rPr lang="en-US" sz="1400" dirty="0">
                <a:solidFill>
                  <a:schemeClr val="tx1"/>
                </a:solidFill>
              </a:rPr>
              <a:t>Classes, ABCs, exceptions, debugging</a:t>
            </a:r>
            <a:endParaRPr lang="en-US" sz="1400" dirty="0"/>
          </a:p>
        </p:txBody>
      </p:sp>
      <p:sp>
        <p:nvSpPr>
          <p:cNvPr id="18" name="icon-bg"/>
          <p:cNvSpPr/>
          <p:nvPr/>
        </p:nvSpPr>
        <p:spPr>
          <a:xfrm>
            <a:off x="8138160" y="2441448"/>
            <a:ext cx="548640" cy="548640"/>
          </a:xfrm>
          <a:prstGeom prst="ellipse">
            <a:avLst/>
          </a:prstGeom>
          <a:solidFill>
            <a:schemeClr val="accent1"/>
          </a:solidFill>
          <a:ln/>
        </p:spPr>
      </p:sp>
      <p:pic>
        <p:nvPicPr>
          <p:cNvPr id="19" name="Image 4" descr="Code icon">    </p:cNvPr>
          <p:cNvPicPr>
            <a:picLocks noChangeAspect="1"/>
          </p:cNvPicPr>
          <p:nvPr/>
        </p:nvPicPr>
        <p:blipFill>
          <a:blip r:embed="rId5"/>
          <a:stretch>
            <a:fillRect/>
          </a:stretch>
        </p:blipFill>
        <p:spPr>
          <a:xfrm>
            <a:off x="8275320" y="2578608"/>
            <a:ext cx="274320" cy="274320"/>
          </a:xfrm>
          <a:prstGeom prst="rect">
            <a:avLst/>
          </a:prstGeom>
        </p:spPr>
      </p:pic>
      <p:sp>
        <p:nvSpPr>
          <p:cNvPr id="20" name="Text 13"/>
          <p:cNvSpPr txBox="1"/>
          <p:nvPr/>
        </p:nvSpPr>
        <p:spPr>
          <a:xfrm>
            <a:off x="8869680" y="2350008"/>
            <a:ext cx="2743200" cy="320040"/>
          </a:xfrm>
          <a:prstGeom prst="rect">
            <a:avLst/>
          </a:prstGeom>
          <a:noFill/>
          <a:ln/>
        </p:spPr>
        <p:txBody>
          <a:bodyPr wrap="square" lIns="0" tIns="0" rIns="0" bIns="0" rtlCol="0" anchor="t"/>
          <a:lstStyle/>
          <a:p>
            <a:pPr indent="0" marL="0">
              <a:buNone/>
            </a:pPr>
            <a:r>
              <a:rPr lang="en-US" sz="1600" b="1" dirty="0">
                <a:solidFill>
                  <a:schemeClr val="tx2"/>
                </a:solidFill>
              </a:rPr>
              <a:t>Advanced Python</a:t>
            </a:r>
            <a:endParaRPr lang="en-US" sz="1600" dirty="0"/>
          </a:p>
        </p:txBody>
      </p:sp>
      <p:sp>
        <p:nvSpPr>
          <p:cNvPr id="21" name="Text 14"/>
          <p:cNvSpPr txBox="1"/>
          <p:nvPr/>
        </p:nvSpPr>
        <p:spPr>
          <a:xfrm>
            <a:off x="8869680" y="2679192"/>
            <a:ext cx="2743200" cy="548640"/>
          </a:xfrm>
          <a:prstGeom prst="rect">
            <a:avLst/>
          </a:prstGeom>
          <a:noFill/>
          <a:ln/>
        </p:spPr>
        <p:txBody>
          <a:bodyPr wrap="square" lIns="0" tIns="0" rIns="0" bIns="0" rtlCol="0" anchor="t"/>
          <a:lstStyle/>
          <a:p>
            <a:pPr indent="0" marL="0">
              <a:buNone/>
            </a:pPr>
            <a:r>
              <a:rPr lang="en-US" sz="1400" dirty="0">
                <a:solidFill>
                  <a:schemeClr val="tx1"/>
                </a:solidFill>
              </a:rPr>
              <a:t>Generators, decorators, threading, asyncio</a:t>
            </a:r>
            <a:endParaRPr lang="en-US" sz="1400" dirty="0"/>
          </a:p>
        </p:txBody>
      </p:sp>
      <p:sp>
        <p:nvSpPr>
          <p:cNvPr id="22" name="icon-bg"/>
          <p:cNvSpPr/>
          <p:nvPr/>
        </p:nvSpPr>
        <p:spPr>
          <a:xfrm>
            <a:off x="8138160" y="3419856"/>
            <a:ext cx="548640" cy="548640"/>
          </a:xfrm>
          <a:prstGeom prst="ellipse">
            <a:avLst/>
          </a:prstGeom>
          <a:solidFill>
            <a:schemeClr val="accent1"/>
          </a:solidFill>
          <a:ln/>
        </p:spPr>
      </p:sp>
      <p:pic>
        <p:nvPicPr>
          <p:cNvPr id="23" name="Image 5" descr="Database icon">    </p:cNvPr>
          <p:cNvPicPr>
            <a:picLocks noChangeAspect="1"/>
          </p:cNvPicPr>
          <p:nvPr/>
        </p:nvPicPr>
        <p:blipFill>
          <a:blip r:embed="rId6"/>
          <a:stretch>
            <a:fillRect/>
          </a:stretch>
        </p:blipFill>
        <p:spPr>
          <a:xfrm>
            <a:off x="8275320" y="3557016"/>
            <a:ext cx="274320" cy="274320"/>
          </a:xfrm>
          <a:prstGeom prst="rect">
            <a:avLst/>
          </a:prstGeom>
        </p:spPr>
      </p:pic>
      <p:sp>
        <p:nvSpPr>
          <p:cNvPr id="24" name="Text 16"/>
          <p:cNvSpPr txBox="1"/>
          <p:nvPr/>
        </p:nvSpPr>
        <p:spPr>
          <a:xfrm>
            <a:off x="8869680" y="3328416"/>
            <a:ext cx="2743200" cy="320040"/>
          </a:xfrm>
          <a:prstGeom prst="rect">
            <a:avLst/>
          </a:prstGeom>
          <a:noFill/>
          <a:ln/>
        </p:spPr>
        <p:txBody>
          <a:bodyPr wrap="square" lIns="0" tIns="0" rIns="0" bIns="0" rtlCol="0" anchor="t"/>
          <a:lstStyle/>
          <a:p>
            <a:pPr indent="0" marL="0">
              <a:buNone/>
            </a:pPr>
            <a:r>
              <a:rPr lang="en-US" sz="1600" b="1" dirty="0">
                <a:solidFill>
                  <a:schemeClr val="tx2"/>
                </a:solidFill>
              </a:rPr>
              <a:t>Data and web basics</a:t>
            </a:r>
            <a:endParaRPr lang="en-US" sz="1600" dirty="0"/>
          </a:p>
        </p:txBody>
      </p:sp>
      <p:sp>
        <p:nvSpPr>
          <p:cNvPr id="25" name="Text 17"/>
          <p:cNvSpPr txBox="1"/>
          <p:nvPr/>
        </p:nvSpPr>
        <p:spPr>
          <a:xfrm>
            <a:off x="8869680" y="3657600"/>
            <a:ext cx="2743200" cy="548640"/>
          </a:xfrm>
          <a:prstGeom prst="rect">
            <a:avLst/>
          </a:prstGeom>
          <a:noFill/>
          <a:ln/>
        </p:spPr>
        <p:txBody>
          <a:bodyPr wrap="square" lIns="0" tIns="0" rIns="0" bIns="0" rtlCol="0" anchor="t"/>
          <a:lstStyle/>
          <a:p>
            <a:pPr indent="0" marL="0">
              <a:buNone/>
            </a:pPr>
            <a:r>
              <a:rPr lang="en-US" sz="1400" dirty="0">
                <a:solidFill>
                  <a:schemeClr val="tx1"/>
                </a:solidFill>
              </a:rPr>
              <a:t>DB-API, MySQL, Tkinter, Flask</a:t>
            </a:r>
            <a:endParaRPr lang="en-US" sz="1400" dirty="0"/>
          </a:p>
        </p:txBody>
      </p:sp>
      <p:sp>
        <p:nvSpPr>
          <p:cNvPr id="26" name="icon-bg"/>
          <p:cNvSpPr/>
          <p:nvPr/>
        </p:nvSpPr>
        <p:spPr>
          <a:xfrm>
            <a:off x="8138160" y="4398264"/>
            <a:ext cx="548640" cy="548640"/>
          </a:xfrm>
          <a:prstGeom prst="ellipse">
            <a:avLst/>
          </a:prstGeom>
          <a:solidFill>
            <a:schemeClr val="accent1"/>
          </a:solidFill>
          <a:ln/>
        </p:spPr>
      </p:sp>
      <p:pic>
        <p:nvPicPr>
          <p:cNvPr id="27" name="Image 6" descr="LayerGroup icon">    </p:cNvPr>
          <p:cNvPicPr>
            <a:picLocks noChangeAspect="1"/>
          </p:cNvPicPr>
          <p:nvPr/>
        </p:nvPicPr>
        <p:blipFill>
          <a:blip r:embed="rId7"/>
          <a:stretch>
            <a:fillRect/>
          </a:stretch>
        </p:blipFill>
        <p:spPr>
          <a:xfrm>
            <a:off x="8275320" y="4535424"/>
            <a:ext cx="274320" cy="274320"/>
          </a:xfrm>
          <a:prstGeom prst="rect">
            <a:avLst/>
          </a:prstGeom>
        </p:spPr>
      </p:pic>
      <p:sp>
        <p:nvSpPr>
          <p:cNvPr id="28" name="Text 19"/>
          <p:cNvSpPr txBox="1"/>
          <p:nvPr/>
        </p:nvSpPr>
        <p:spPr>
          <a:xfrm>
            <a:off x="8869680" y="4306824"/>
            <a:ext cx="2743200" cy="320040"/>
          </a:xfrm>
          <a:prstGeom prst="rect">
            <a:avLst/>
          </a:prstGeom>
          <a:noFill/>
          <a:ln/>
        </p:spPr>
        <p:txBody>
          <a:bodyPr wrap="square" lIns="0" tIns="0" rIns="0" bIns="0" rtlCol="0" anchor="t"/>
          <a:lstStyle/>
          <a:p>
            <a:pPr indent="0" marL="0">
              <a:buNone/>
            </a:pPr>
            <a:r>
              <a:rPr lang="en-US" sz="1600" b="1" dirty="0">
                <a:solidFill>
                  <a:schemeClr val="tx2"/>
                </a:solidFill>
              </a:rPr>
              <a:t>Django stack</a:t>
            </a:r>
            <a:endParaRPr lang="en-US" sz="1600" dirty="0"/>
          </a:p>
        </p:txBody>
      </p:sp>
      <p:sp>
        <p:nvSpPr>
          <p:cNvPr id="29" name="Text 20"/>
          <p:cNvSpPr txBox="1"/>
          <p:nvPr/>
        </p:nvSpPr>
        <p:spPr>
          <a:xfrm>
            <a:off x="8869680" y="4636008"/>
            <a:ext cx="2743200" cy="548640"/>
          </a:xfrm>
          <a:prstGeom prst="rect">
            <a:avLst/>
          </a:prstGeom>
          <a:noFill/>
          <a:ln/>
        </p:spPr>
        <p:txBody>
          <a:bodyPr wrap="square" lIns="0" tIns="0" rIns="0" bIns="0" rtlCol="0" anchor="t"/>
          <a:lstStyle/>
          <a:p>
            <a:pPr indent="0" marL="0">
              <a:buNone/>
            </a:pPr>
            <a:r>
              <a:rPr lang="en-US" sz="1400" dirty="0">
                <a:solidFill>
                  <a:schemeClr val="tx1"/>
                </a:solidFill>
              </a:rPr>
              <a:t>ORM, REST framework, authentication</a:t>
            </a:r>
            <a:endParaRPr lang="en-US" sz="1400" dirty="0"/>
          </a:p>
        </p:txBody>
      </p:sp>
      <p:sp>
        <p:nvSpPr>
          <p:cNvPr id="30" name="icon-bg"/>
          <p:cNvSpPr/>
          <p:nvPr/>
        </p:nvSpPr>
        <p:spPr>
          <a:xfrm>
            <a:off x="8138160" y="5376672"/>
            <a:ext cx="548640" cy="548640"/>
          </a:xfrm>
          <a:prstGeom prst="ellipse">
            <a:avLst/>
          </a:prstGeom>
          <a:solidFill>
            <a:schemeClr val="accent1"/>
          </a:solidFill>
          <a:ln/>
        </p:spPr>
      </p:sp>
      <p:pic>
        <p:nvPicPr>
          <p:cNvPr id="31" name="Image 7" descr="GitAlt icon">    </p:cNvPr>
          <p:cNvPicPr>
            <a:picLocks noChangeAspect="1"/>
          </p:cNvPicPr>
          <p:nvPr/>
        </p:nvPicPr>
        <p:blipFill>
          <a:blip r:embed="rId8"/>
          <a:stretch>
            <a:fillRect/>
          </a:stretch>
        </p:blipFill>
        <p:spPr>
          <a:xfrm>
            <a:off x="8275320" y="5513832"/>
            <a:ext cx="274320" cy="274320"/>
          </a:xfrm>
          <a:prstGeom prst="rect">
            <a:avLst/>
          </a:prstGeom>
        </p:spPr>
      </p:pic>
      <p:sp>
        <p:nvSpPr>
          <p:cNvPr id="32" name="Text 22"/>
          <p:cNvSpPr txBox="1"/>
          <p:nvPr/>
        </p:nvSpPr>
        <p:spPr>
          <a:xfrm>
            <a:off x="8869680" y="5285232"/>
            <a:ext cx="2743200" cy="320040"/>
          </a:xfrm>
          <a:prstGeom prst="rect">
            <a:avLst/>
          </a:prstGeom>
          <a:noFill/>
          <a:ln/>
        </p:spPr>
        <p:txBody>
          <a:bodyPr wrap="square" lIns="0" tIns="0" rIns="0" bIns="0" rtlCol="0" anchor="t"/>
          <a:lstStyle/>
          <a:p>
            <a:pPr indent="0" marL="0">
              <a:buNone/>
            </a:pPr>
            <a:r>
              <a:rPr lang="en-US" sz="1600" b="1" dirty="0">
                <a:solidFill>
                  <a:schemeClr val="tx2"/>
                </a:solidFill>
              </a:rPr>
              <a:t>Quality and delivery</a:t>
            </a:r>
            <a:endParaRPr lang="en-US" sz="1600" dirty="0"/>
          </a:p>
        </p:txBody>
      </p:sp>
      <p:sp>
        <p:nvSpPr>
          <p:cNvPr id="33" name="Text 23"/>
          <p:cNvSpPr txBox="1"/>
          <p:nvPr/>
        </p:nvSpPr>
        <p:spPr>
          <a:xfrm>
            <a:off x="8869680" y="5614416"/>
            <a:ext cx="2743200" cy="548640"/>
          </a:xfrm>
          <a:prstGeom prst="rect">
            <a:avLst/>
          </a:prstGeom>
          <a:noFill/>
          <a:ln/>
        </p:spPr>
        <p:txBody>
          <a:bodyPr wrap="square" lIns="0" tIns="0" rIns="0" bIns="0" rtlCol="0" anchor="t"/>
          <a:lstStyle/>
          <a:p>
            <a:pPr indent="0" marL="0">
              <a:buNone/>
            </a:pPr>
            <a:r>
              <a:rPr lang="en-US" sz="1400" dirty="0">
                <a:solidFill>
                  <a:schemeClr val="tx1"/>
                </a:solidFill>
              </a:rPr>
              <a:t>pytest, Git, Gunicorn with Nginx</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From training to project</a:t>
            </a:r>
            <a:endParaRPr lang="en-US" sz="3600" dirty="0"/>
          </a:p>
        </p:txBody>
      </p:sp>
      <p:sp>
        <p:nvSpPr>
          <p:cNvPr id="3" name="tech-card"/>
          <p:cNvSpPr/>
          <p:nvPr/>
        </p:nvSpPr>
        <p:spPr>
          <a:xfrm>
            <a:off x="548640" y="1371600"/>
            <a:ext cx="3505200" cy="1417320"/>
          </a:xfrm>
          <a:prstGeom prst="roundRect">
            <a:avLst>
              <a:gd name="adj" fmla="val 7742"/>
            </a:avLst>
          </a:prstGeom>
          <a:solidFill>
            <a:schemeClr val="bg2"/>
          </a:solidFill>
          <a:ln/>
        </p:spPr>
      </p:sp>
      <p:sp>
        <p:nvSpPr>
          <p:cNvPr id="4" name="icon-bg"/>
          <p:cNvSpPr/>
          <p:nvPr/>
        </p:nvSpPr>
        <p:spPr>
          <a:xfrm>
            <a:off x="777240" y="1600200"/>
            <a:ext cx="548640" cy="548640"/>
          </a:xfrm>
          <a:prstGeom prst="ellipse">
            <a:avLst/>
          </a:prstGeom>
          <a:solidFill>
            <a:schemeClr val="accent1"/>
          </a:solidFill>
          <a:ln/>
        </p:spPr>
      </p:sp>
      <p:pic>
        <p:nvPicPr>
          <p:cNvPr id="5" name="Image 0" descr="Python icon">    </p:cNvPr>
          <p:cNvPicPr>
            <a:picLocks noChangeAspect="1"/>
          </p:cNvPicPr>
          <p:nvPr/>
        </p:nvPicPr>
        <p:blipFill>
          <a:blip r:embed="rId1"/>
          <a:stretch>
            <a:fillRect/>
          </a:stretch>
        </p:blipFill>
        <p:spPr>
          <a:xfrm>
            <a:off x="914400" y="1737360"/>
            <a:ext cx="274320" cy="274320"/>
          </a:xfrm>
          <a:prstGeom prst="rect">
            <a:avLst/>
          </a:prstGeom>
        </p:spPr>
      </p:pic>
      <p:sp>
        <p:nvSpPr>
          <p:cNvPr id="6" name="Text 3"/>
          <p:cNvSpPr txBox="1"/>
          <p:nvPr/>
        </p:nvSpPr>
        <p:spPr>
          <a:xfrm>
            <a:off x="1508760" y="1481328"/>
            <a:ext cx="2362200" cy="530352"/>
          </a:xfrm>
          <a:prstGeom prst="rect">
            <a:avLst/>
          </a:prstGeom>
          <a:noFill/>
          <a:ln/>
        </p:spPr>
        <p:txBody>
          <a:bodyPr wrap="square" lIns="0" tIns="0" rIns="0" bIns="0" rtlCol="0" anchor="b"/>
          <a:lstStyle/>
          <a:p>
            <a:pPr indent="0" marL="0">
              <a:buNone/>
            </a:pPr>
            <a:r>
              <a:rPr lang="en-US" sz="1600" b="1" dirty="0">
                <a:solidFill>
                  <a:schemeClr val="tx2"/>
                </a:solidFill>
              </a:rPr>
              <a:t>Core Python and OOP</a:t>
            </a:r>
            <a:endParaRPr lang="en-US" sz="1600" dirty="0"/>
          </a:p>
        </p:txBody>
      </p:sp>
      <p:sp>
        <p:nvSpPr>
          <p:cNvPr id="7" name="Text 4"/>
          <p:cNvSpPr txBox="1"/>
          <p:nvPr/>
        </p:nvSpPr>
        <p:spPr>
          <a:xfrm>
            <a:off x="1508760" y="2066544"/>
            <a:ext cx="2362200" cy="640080"/>
          </a:xfrm>
          <a:prstGeom prst="rect">
            <a:avLst/>
          </a:prstGeom>
          <a:noFill/>
          <a:ln/>
        </p:spPr>
        <p:txBody>
          <a:bodyPr wrap="square" lIns="0" tIns="0" rIns="0" bIns="0" rtlCol="0" anchor="t"/>
          <a:lstStyle/>
          <a:p>
            <a:pPr indent="0" marL="0">
              <a:buNone/>
            </a:pPr>
            <a:r>
              <a:rPr lang="en-US" sz="1400" dirty="0">
                <a:solidFill>
                  <a:schemeClr val="tx1"/>
                </a:solidFill>
              </a:rPr>
              <a:t>Domain model: Student, Course, Enrollment, Marks</a:t>
            </a:r>
            <a:endParaRPr lang="en-US" sz="1400" dirty="0"/>
          </a:p>
        </p:txBody>
      </p:sp>
      <p:sp>
        <p:nvSpPr>
          <p:cNvPr id="8" name="tech-card"/>
          <p:cNvSpPr/>
          <p:nvPr/>
        </p:nvSpPr>
        <p:spPr>
          <a:xfrm>
            <a:off x="4328160" y="1371600"/>
            <a:ext cx="3505200" cy="1417320"/>
          </a:xfrm>
          <a:prstGeom prst="roundRect">
            <a:avLst>
              <a:gd name="adj" fmla="val 7742"/>
            </a:avLst>
          </a:prstGeom>
          <a:solidFill>
            <a:schemeClr val="bg2"/>
          </a:solidFill>
          <a:ln/>
        </p:spPr>
      </p:sp>
      <p:sp>
        <p:nvSpPr>
          <p:cNvPr id="9" name="icon-bg"/>
          <p:cNvSpPr/>
          <p:nvPr/>
        </p:nvSpPr>
        <p:spPr>
          <a:xfrm>
            <a:off x="4556760" y="1600200"/>
            <a:ext cx="548640" cy="548640"/>
          </a:xfrm>
          <a:prstGeom prst="ellipse">
            <a:avLst/>
          </a:prstGeom>
          <a:solidFill>
            <a:schemeClr val="accent1"/>
          </a:solidFill>
          <a:ln/>
        </p:spPr>
      </p:sp>
      <p:pic>
        <p:nvPicPr>
          <p:cNvPr id="10" name="Image 1" descr="Code icon">    </p:cNvPr>
          <p:cNvPicPr>
            <a:picLocks noChangeAspect="1"/>
          </p:cNvPicPr>
          <p:nvPr/>
        </p:nvPicPr>
        <p:blipFill>
          <a:blip r:embed="rId2"/>
          <a:stretch>
            <a:fillRect/>
          </a:stretch>
        </p:blipFill>
        <p:spPr>
          <a:xfrm>
            <a:off x="4693920" y="1737360"/>
            <a:ext cx="274320" cy="274320"/>
          </a:xfrm>
          <a:prstGeom prst="rect">
            <a:avLst/>
          </a:prstGeom>
        </p:spPr>
      </p:pic>
      <p:sp>
        <p:nvSpPr>
          <p:cNvPr id="11" name="Text 7"/>
          <p:cNvSpPr txBox="1"/>
          <p:nvPr/>
        </p:nvSpPr>
        <p:spPr>
          <a:xfrm>
            <a:off x="5288280" y="1481328"/>
            <a:ext cx="2362200" cy="530352"/>
          </a:xfrm>
          <a:prstGeom prst="rect">
            <a:avLst/>
          </a:prstGeom>
          <a:noFill/>
          <a:ln/>
        </p:spPr>
        <p:txBody>
          <a:bodyPr wrap="square" lIns="0" tIns="0" rIns="0" bIns="0" rtlCol="0" anchor="b"/>
          <a:lstStyle/>
          <a:p>
            <a:pPr indent="0" marL="0">
              <a:buNone/>
            </a:pPr>
            <a:r>
              <a:rPr lang="en-US" sz="1600" b="1" dirty="0">
                <a:solidFill>
                  <a:schemeClr val="tx2"/>
                </a:solidFill>
              </a:rPr>
              <a:t>Data structures, type hints</a:t>
            </a:r>
            <a:endParaRPr lang="en-US" sz="1600" dirty="0"/>
          </a:p>
        </p:txBody>
      </p:sp>
      <p:sp>
        <p:nvSpPr>
          <p:cNvPr id="12" name="Text 8"/>
          <p:cNvSpPr txBox="1"/>
          <p:nvPr/>
        </p:nvSpPr>
        <p:spPr>
          <a:xfrm>
            <a:off x="5288280" y="2066544"/>
            <a:ext cx="2362200" cy="640080"/>
          </a:xfrm>
          <a:prstGeom prst="rect">
            <a:avLst/>
          </a:prstGeom>
          <a:noFill/>
          <a:ln/>
        </p:spPr>
        <p:txBody>
          <a:bodyPr wrap="square" lIns="0" tIns="0" rIns="0" bIns="0" rtlCol="0" anchor="t"/>
          <a:lstStyle/>
          <a:p>
            <a:pPr indent="0" marL="0">
              <a:buNone/>
            </a:pPr>
            <a:r>
              <a:rPr lang="en-US" sz="1400" dirty="0">
                <a:solidFill>
                  <a:schemeClr val="tx1"/>
                </a:solidFill>
              </a:rPr>
              <a:t>In-memory search results and reports</a:t>
            </a:r>
            <a:endParaRPr lang="en-US" sz="1400" dirty="0"/>
          </a:p>
        </p:txBody>
      </p:sp>
      <p:sp>
        <p:nvSpPr>
          <p:cNvPr id="13" name="tech-card"/>
          <p:cNvSpPr/>
          <p:nvPr/>
        </p:nvSpPr>
        <p:spPr>
          <a:xfrm>
            <a:off x="8107680" y="1371600"/>
            <a:ext cx="3505200" cy="1417320"/>
          </a:xfrm>
          <a:prstGeom prst="roundRect">
            <a:avLst>
              <a:gd name="adj" fmla="val 7742"/>
            </a:avLst>
          </a:prstGeom>
          <a:solidFill>
            <a:schemeClr val="bg2"/>
          </a:solidFill>
          <a:ln/>
        </p:spPr>
      </p:sp>
      <p:sp>
        <p:nvSpPr>
          <p:cNvPr id="14" name="icon-bg"/>
          <p:cNvSpPr/>
          <p:nvPr/>
        </p:nvSpPr>
        <p:spPr>
          <a:xfrm>
            <a:off x="8336280" y="1600200"/>
            <a:ext cx="548640" cy="548640"/>
          </a:xfrm>
          <a:prstGeom prst="ellipse">
            <a:avLst/>
          </a:prstGeom>
          <a:solidFill>
            <a:schemeClr val="accent1"/>
          </a:solidFill>
          <a:ln/>
        </p:spPr>
      </p:sp>
      <p:pic>
        <p:nvPicPr>
          <p:cNvPr id="15" name="Image 2" descr="Database icon">    </p:cNvPr>
          <p:cNvPicPr>
            <a:picLocks noChangeAspect="1"/>
          </p:cNvPicPr>
          <p:nvPr/>
        </p:nvPicPr>
        <p:blipFill>
          <a:blip r:embed="rId3"/>
          <a:stretch>
            <a:fillRect/>
          </a:stretch>
        </p:blipFill>
        <p:spPr>
          <a:xfrm>
            <a:off x="8473440" y="1737360"/>
            <a:ext cx="274320" cy="274320"/>
          </a:xfrm>
          <a:prstGeom prst="rect">
            <a:avLst/>
          </a:prstGeom>
        </p:spPr>
      </p:pic>
      <p:sp>
        <p:nvSpPr>
          <p:cNvPr id="16" name="Text 11"/>
          <p:cNvSpPr txBox="1"/>
          <p:nvPr/>
        </p:nvSpPr>
        <p:spPr>
          <a:xfrm>
            <a:off x="9067800" y="1481328"/>
            <a:ext cx="2362200" cy="530352"/>
          </a:xfrm>
          <a:prstGeom prst="rect">
            <a:avLst/>
          </a:prstGeom>
          <a:noFill/>
          <a:ln/>
        </p:spPr>
        <p:txBody>
          <a:bodyPr wrap="square" lIns="0" tIns="0" rIns="0" bIns="0" rtlCol="0" anchor="b"/>
          <a:lstStyle/>
          <a:p>
            <a:pPr indent="0" marL="0">
              <a:buNone/>
            </a:pPr>
            <a:r>
              <a:rPr lang="en-US" sz="1600" b="1" dirty="0">
                <a:solidFill>
                  <a:schemeClr val="tx2"/>
                </a:solidFill>
              </a:rPr>
              <a:t>DB-API and SQL</a:t>
            </a:r>
            <a:endParaRPr lang="en-US" sz="1600" dirty="0"/>
          </a:p>
        </p:txBody>
      </p:sp>
      <p:sp>
        <p:nvSpPr>
          <p:cNvPr id="17" name="Text 12"/>
          <p:cNvSpPr txBox="1"/>
          <p:nvPr/>
        </p:nvSpPr>
        <p:spPr>
          <a:xfrm>
            <a:off x="9067800" y="2066544"/>
            <a:ext cx="2362200" cy="640080"/>
          </a:xfrm>
          <a:prstGeom prst="rect">
            <a:avLst/>
          </a:prstGeom>
          <a:noFill/>
          <a:ln/>
        </p:spPr>
        <p:txBody>
          <a:bodyPr wrap="square" lIns="0" tIns="0" rIns="0" bIns="0" rtlCol="0" anchor="t"/>
          <a:lstStyle/>
          <a:p>
            <a:pPr indent="0" marL="0">
              <a:buNone/>
            </a:pPr>
            <a:r>
              <a:rPr lang="en-US" sz="1400" dirty="0">
                <a:solidFill>
                  <a:schemeClr val="tx1"/>
                </a:solidFill>
              </a:rPr>
              <a:t>Foundation for the database layer</a:t>
            </a:r>
            <a:endParaRPr lang="en-US" sz="1400" dirty="0"/>
          </a:p>
        </p:txBody>
      </p:sp>
      <p:sp>
        <p:nvSpPr>
          <p:cNvPr id="18" name="tech-card"/>
          <p:cNvSpPr/>
          <p:nvPr/>
        </p:nvSpPr>
        <p:spPr>
          <a:xfrm>
            <a:off x="548640" y="3017520"/>
            <a:ext cx="3505200" cy="1417320"/>
          </a:xfrm>
          <a:prstGeom prst="roundRect">
            <a:avLst>
              <a:gd name="adj" fmla="val 7742"/>
            </a:avLst>
          </a:prstGeom>
          <a:solidFill>
            <a:schemeClr val="bg2"/>
          </a:solidFill>
          <a:ln/>
        </p:spPr>
      </p:sp>
      <p:sp>
        <p:nvSpPr>
          <p:cNvPr id="19" name="icon-bg"/>
          <p:cNvSpPr/>
          <p:nvPr/>
        </p:nvSpPr>
        <p:spPr>
          <a:xfrm>
            <a:off x="777240" y="3246120"/>
            <a:ext cx="548640" cy="548640"/>
          </a:xfrm>
          <a:prstGeom prst="ellipse">
            <a:avLst/>
          </a:prstGeom>
          <a:solidFill>
            <a:schemeClr val="accent1"/>
          </a:solidFill>
          <a:ln/>
        </p:spPr>
      </p:sp>
      <p:pic>
        <p:nvPicPr>
          <p:cNvPr id="20" name="Image 3" descr="Flask icon">    </p:cNvPr>
          <p:cNvPicPr>
            <a:picLocks noChangeAspect="1"/>
          </p:cNvPicPr>
          <p:nvPr/>
        </p:nvPicPr>
        <p:blipFill>
          <a:blip r:embed="rId4"/>
          <a:stretch>
            <a:fillRect/>
          </a:stretch>
        </p:blipFill>
        <p:spPr>
          <a:xfrm>
            <a:off x="914400" y="3383280"/>
            <a:ext cx="274320" cy="274320"/>
          </a:xfrm>
          <a:prstGeom prst="rect">
            <a:avLst/>
          </a:prstGeom>
        </p:spPr>
      </p:pic>
      <p:sp>
        <p:nvSpPr>
          <p:cNvPr id="21" name="Text 15"/>
          <p:cNvSpPr txBox="1"/>
          <p:nvPr/>
        </p:nvSpPr>
        <p:spPr>
          <a:xfrm>
            <a:off x="1508760" y="3127248"/>
            <a:ext cx="2362200" cy="530352"/>
          </a:xfrm>
          <a:prstGeom prst="rect">
            <a:avLst/>
          </a:prstGeom>
          <a:noFill/>
          <a:ln/>
        </p:spPr>
        <p:txBody>
          <a:bodyPr wrap="square" lIns="0" tIns="0" rIns="0" bIns="0" rtlCol="0" anchor="b"/>
          <a:lstStyle/>
          <a:p>
            <a:pPr indent="0" marL="0">
              <a:buNone/>
            </a:pPr>
            <a:r>
              <a:rPr lang="en-US" sz="1600" b="1" dirty="0">
                <a:solidFill>
                  <a:schemeClr val="tx2"/>
                </a:solidFill>
              </a:rPr>
              <a:t>Flask and Jinja2</a:t>
            </a:r>
            <a:endParaRPr lang="en-US" sz="1600" dirty="0"/>
          </a:p>
        </p:txBody>
      </p:sp>
      <p:sp>
        <p:nvSpPr>
          <p:cNvPr id="22" name="Text 16"/>
          <p:cNvSpPr txBox="1"/>
          <p:nvPr/>
        </p:nvSpPr>
        <p:spPr>
          <a:xfrm>
            <a:off x="1508760" y="3712464"/>
            <a:ext cx="2362200" cy="640080"/>
          </a:xfrm>
          <a:prstGeom prst="rect">
            <a:avLst/>
          </a:prstGeom>
          <a:noFill/>
          <a:ln/>
        </p:spPr>
        <p:txBody>
          <a:bodyPr wrap="square" lIns="0" tIns="0" rIns="0" bIns="0" rtlCol="0" anchor="t"/>
          <a:lstStyle/>
          <a:p>
            <a:pPr indent="0" marL="0">
              <a:buNone/>
            </a:pPr>
            <a:r>
              <a:rPr lang="en-US" sz="1400" dirty="0">
                <a:solidFill>
                  <a:schemeClr val="tx1"/>
                </a:solidFill>
              </a:rPr>
              <a:t>Prototype screens and form handling</a:t>
            </a:r>
            <a:endParaRPr lang="en-US" sz="1400" dirty="0"/>
          </a:p>
        </p:txBody>
      </p:sp>
      <p:sp>
        <p:nvSpPr>
          <p:cNvPr id="23" name="tech-card"/>
          <p:cNvSpPr/>
          <p:nvPr/>
        </p:nvSpPr>
        <p:spPr>
          <a:xfrm>
            <a:off x="4328160" y="3017520"/>
            <a:ext cx="3505200" cy="1417320"/>
          </a:xfrm>
          <a:prstGeom prst="roundRect">
            <a:avLst>
              <a:gd name="adj" fmla="val 7742"/>
            </a:avLst>
          </a:prstGeom>
          <a:solidFill>
            <a:schemeClr val="bg2"/>
          </a:solidFill>
          <a:ln/>
        </p:spPr>
      </p:sp>
      <p:sp>
        <p:nvSpPr>
          <p:cNvPr id="24" name="icon-bg"/>
          <p:cNvSpPr/>
          <p:nvPr/>
        </p:nvSpPr>
        <p:spPr>
          <a:xfrm>
            <a:off x="4556760" y="3246120"/>
            <a:ext cx="548640" cy="548640"/>
          </a:xfrm>
          <a:prstGeom prst="ellipse">
            <a:avLst/>
          </a:prstGeom>
          <a:solidFill>
            <a:schemeClr val="accent1"/>
          </a:solidFill>
          <a:ln/>
        </p:spPr>
      </p:sp>
      <p:pic>
        <p:nvPicPr>
          <p:cNvPr id="25" name="Image 4" descr="LayerGroup icon">    </p:cNvPr>
          <p:cNvPicPr>
            <a:picLocks noChangeAspect="1"/>
          </p:cNvPicPr>
          <p:nvPr/>
        </p:nvPicPr>
        <p:blipFill>
          <a:blip r:embed="rId5"/>
          <a:stretch>
            <a:fillRect/>
          </a:stretch>
        </p:blipFill>
        <p:spPr>
          <a:xfrm>
            <a:off x="4693920" y="3383280"/>
            <a:ext cx="274320" cy="274320"/>
          </a:xfrm>
          <a:prstGeom prst="rect">
            <a:avLst/>
          </a:prstGeom>
        </p:spPr>
      </p:pic>
      <p:sp>
        <p:nvSpPr>
          <p:cNvPr id="26" name="Text 19"/>
          <p:cNvSpPr txBox="1"/>
          <p:nvPr/>
        </p:nvSpPr>
        <p:spPr>
          <a:xfrm>
            <a:off x="5288280" y="3127248"/>
            <a:ext cx="2362200" cy="530352"/>
          </a:xfrm>
          <a:prstGeom prst="rect">
            <a:avLst/>
          </a:prstGeom>
          <a:noFill/>
          <a:ln/>
        </p:spPr>
        <p:txBody>
          <a:bodyPr wrap="square" lIns="0" tIns="0" rIns="0" bIns="0" rtlCol="0" anchor="b"/>
          <a:lstStyle/>
          <a:p>
            <a:pPr indent="0" marL="0">
              <a:buNone/>
            </a:pPr>
            <a:r>
              <a:rPr lang="en-US" sz="1600" b="1" dirty="0">
                <a:solidFill>
                  <a:schemeClr val="tx2"/>
                </a:solidFill>
              </a:rPr>
              <a:t>Django and REST framework</a:t>
            </a:r>
            <a:endParaRPr lang="en-US" sz="1600" dirty="0"/>
          </a:p>
        </p:txBody>
      </p:sp>
      <p:sp>
        <p:nvSpPr>
          <p:cNvPr id="27" name="Text 20"/>
          <p:cNvSpPr txBox="1"/>
          <p:nvPr/>
        </p:nvSpPr>
        <p:spPr>
          <a:xfrm>
            <a:off x="5288280" y="3712464"/>
            <a:ext cx="2362200" cy="640080"/>
          </a:xfrm>
          <a:prstGeom prst="rect">
            <a:avLst/>
          </a:prstGeom>
          <a:noFill/>
          <a:ln/>
        </p:spPr>
        <p:txBody>
          <a:bodyPr wrap="square" lIns="0" tIns="0" rIns="0" bIns="0" rtlCol="0" anchor="t"/>
          <a:lstStyle/>
          <a:p>
            <a:pPr indent="0" marL="0">
              <a:buNone/>
            </a:pPr>
            <a:r>
              <a:rPr lang="en-US" sz="1400" dirty="0">
                <a:solidFill>
                  <a:schemeClr val="tx1"/>
                </a:solidFill>
              </a:rPr>
              <a:t>Views, services and configuration</a:t>
            </a:r>
            <a:endParaRPr lang="en-US" sz="1400" dirty="0"/>
          </a:p>
        </p:txBody>
      </p:sp>
      <p:sp>
        <p:nvSpPr>
          <p:cNvPr id="28" name="tech-card"/>
          <p:cNvSpPr/>
          <p:nvPr/>
        </p:nvSpPr>
        <p:spPr>
          <a:xfrm>
            <a:off x="8107680" y="3017520"/>
            <a:ext cx="3505200" cy="1417320"/>
          </a:xfrm>
          <a:prstGeom prst="roundRect">
            <a:avLst>
              <a:gd name="adj" fmla="val 7742"/>
            </a:avLst>
          </a:prstGeom>
          <a:solidFill>
            <a:schemeClr val="bg2"/>
          </a:solidFill>
          <a:ln/>
        </p:spPr>
      </p:sp>
      <p:sp>
        <p:nvSpPr>
          <p:cNvPr id="29" name="icon-bg"/>
          <p:cNvSpPr/>
          <p:nvPr/>
        </p:nvSpPr>
        <p:spPr>
          <a:xfrm>
            <a:off x="8336280" y="3246120"/>
            <a:ext cx="548640" cy="548640"/>
          </a:xfrm>
          <a:prstGeom prst="ellipse">
            <a:avLst/>
          </a:prstGeom>
          <a:solidFill>
            <a:schemeClr val="accent1"/>
          </a:solidFill>
          <a:ln/>
        </p:spPr>
      </p:sp>
      <p:pic>
        <p:nvPicPr>
          <p:cNvPr id="30" name="Image 5" descr="ProjectDiagram icon">    </p:cNvPr>
          <p:cNvPicPr>
            <a:picLocks noChangeAspect="1"/>
          </p:cNvPicPr>
          <p:nvPr/>
        </p:nvPicPr>
        <p:blipFill>
          <a:blip r:embed="rId6"/>
          <a:stretch>
            <a:fillRect/>
          </a:stretch>
        </p:blipFill>
        <p:spPr>
          <a:xfrm>
            <a:off x="8473440" y="3383280"/>
            <a:ext cx="274320" cy="274320"/>
          </a:xfrm>
          <a:prstGeom prst="rect">
            <a:avLst/>
          </a:prstGeom>
        </p:spPr>
      </p:pic>
      <p:sp>
        <p:nvSpPr>
          <p:cNvPr id="31" name="Text 23"/>
          <p:cNvSpPr txBox="1"/>
          <p:nvPr/>
        </p:nvSpPr>
        <p:spPr>
          <a:xfrm>
            <a:off x="9067800" y="3127248"/>
            <a:ext cx="2362200" cy="530352"/>
          </a:xfrm>
          <a:prstGeom prst="rect">
            <a:avLst/>
          </a:prstGeom>
          <a:noFill/>
          <a:ln/>
        </p:spPr>
        <p:txBody>
          <a:bodyPr wrap="square" lIns="0" tIns="0" rIns="0" bIns="0" rtlCol="0" anchor="b"/>
          <a:lstStyle/>
          <a:p>
            <a:pPr indent="0" marL="0">
              <a:buNone/>
            </a:pPr>
            <a:r>
              <a:rPr lang="en-US" sz="1600" b="1" dirty="0">
                <a:solidFill>
                  <a:schemeClr val="tx2"/>
                </a:solidFill>
              </a:rPr>
              <a:t>Django ORM and migrations</a:t>
            </a:r>
            <a:endParaRPr lang="en-US" sz="1600" dirty="0"/>
          </a:p>
        </p:txBody>
      </p:sp>
      <p:sp>
        <p:nvSpPr>
          <p:cNvPr id="32" name="Text 24"/>
          <p:cNvSpPr txBox="1"/>
          <p:nvPr/>
        </p:nvSpPr>
        <p:spPr>
          <a:xfrm>
            <a:off x="9067800" y="3712464"/>
            <a:ext cx="2362200" cy="640080"/>
          </a:xfrm>
          <a:prstGeom prst="rect">
            <a:avLst/>
          </a:prstGeom>
          <a:noFill/>
          <a:ln/>
        </p:spPr>
        <p:txBody>
          <a:bodyPr wrap="square" lIns="0" tIns="0" rIns="0" bIns="0" rtlCol="0" anchor="t"/>
          <a:lstStyle/>
          <a:p>
            <a:pPr indent="0" marL="0">
              <a:buNone/>
            </a:pPr>
            <a:r>
              <a:rPr lang="en-US" sz="1400" dirty="0">
                <a:solidFill>
                  <a:schemeClr val="tx1"/>
                </a:solidFill>
              </a:rPr>
              <a:t>Models mapped to MySQL tables</a:t>
            </a:r>
            <a:endParaRPr lang="en-US" sz="1400" dirty="0"/>
          </a:p>
        </p:txBody>
      </p:sp>
      <p:sp>
        <p:nvSpPr>
          <p:cNvPr id="33" name="tech-card"/>
          <p:cNvSpPr/>
          <p:nvPr/>
        </p:nvSpPr>
        <p:spPr>
          <a:xfrm>
            <a:off x="548640" y="4663440"/>
            <a:ext cx="3505200" cy="1417320"/>
          </a:xfrm>
          <a:prstGeom prst="roundRect">
            <a:avLst>
              <a:gd name="adj" fmla="val 7742"/>
            </a:avLst>
          </a:prstGeom>
          <a:solidFill>
            <a:schemeClr val="bg2"/>
          </a:solidFill>
          <a:ln/>
        </p:spPr>
      </p:sp>
      <p:sp>
        <p:nvSpPr>
          <p:cNvPr id="34" name="icon-bg"/>
          <p:cNvSpPr/>
          <p:nvPr/>
        </p:nvSpPr>
        <p:spPr>
          <a:xfrm>
            <a:off x="777240" y="4892040"/>
            <a:ext cx="548640" cy="548640"/>
          </a:xfrm>
          <a:prstGeom prst="ellipse">
            <a:avLst/>
          </a:prstGeom>
          <a:solidFill>
            <a:schemeClr val="accent1"/>
          </a:solidFill>
          <a:ln/>
        </p:spPr>
      </p:sp>
      <p:pic>
        <p:nvPicPr>
          <p:cNvPr id="35" name="Image 6" descr="UserShield icon">    </p:cNvPr>
          <p:cNvPicPr>
            <a:picLocks noChangeAspect="1"/>
          </p:cNvPicPr>
          <p:nvPr/>
        </p:nvPicPr>
        <p:blipFill>
          <a:blip r:embed="rId7"/>
          <a:stretch>
            <a:fillRect/>
          </a:stretch>
        </p:blipFill>
        <p:spPr>
          <a:xfrm>
            <a:off x="914400" y="5029200"/>
            <a:ext cx="274320" cy="274320"/>
          </a:xfrm>
          <a:prstGeom prst="rect">
            <a:avLst/>
          </a:prstGeom>
        </p:spPr>
      </p:pic>
      <p:sp>
        <p:nvSpPr>
          <p:cNvPr id="36" name="Text 27"/>
          <p:cNvSpPr txBox="1"/>
          <p:nvPr/>
        </p:nvSpPr>
        <p:spPr>
          <a:xfrm>
            <a:off x="1508760" y="4773168"/>
            <a:ext cx="2362200" cy="530352"/>
          </a:xfrm>
          <a:prstGeom prst="rect">
            <a:avLst/>
          </a:prstGeom>
          <a:noFill/>
          <a:ln/>
        </p:spPr>
        <p:txBody>
          <a:bodyPr wrap="square" lIns="0" tIns="0" rIns="0" bIns="0" rtlCol="0" anchor="b"/>
          <a:lstStyle/>
          <a:p>
            <a:pPr indent="0" marL="0">
              <a:buNone/>
            </a:pPr>
            <a:r>
              <a:rPr lang="en-US" sz="1600" b="1" dirty="0">
                <a:solidFill>
                  <a:schemeClr val="tx2"/>
                </a:solidFill>
              </a:rPr>
              <a:t>Django auth and permissions</a:t>
            </a:r>
            <a:endParaRPr lang="en-US" sz="1600" dirty="0"/>
          </a:p>
        </p:txBody>
      </p:sp>
      <p:sp>
        <p:nvSpPr>
          <p:cNvPr id="37" name="Text 28"/>
          <p:cNvSpPr txBox="1"/>
          <p:nvPr/>
        </p:nvSpPr>
        <p:spPr>
          <a:xfrm>
            <a:off x="1508760" y="5358384"/>
            <a:ext cx="2362200" cy="640080"/>
          </a:xfrm>
          <a:prstGeom prst="rect">
            <a:avLst/>
          </a:prstGeom>
          <a:noFill/>
          <a:ln/>
        </p:spPr>
        <p:txBody>
          <a:bodyPr wrap="square" lIns="0" tIns="0" rIns="0" bIns="0" rtlCol="0" anchor="t"/>
          <a:lstStyle/>
          <a:p>
            <a:pPr indent="0" marL="0">
              <a:buNone/>
            </a:pPr>
            <a:r>
              <a:rPr lang="en-US" sz="1400" dirty="0">
                <a:solidFill>
                  <a:schemeClr val="tx1"/>
                </a:solidFill>
              </a:rPr>
              <a:t>Role-based access for three user roles</a:t>
            </a:r>
            <a:endParaRPr lang="en-US" sz="1400" dirty="0"/>
          </a:p>
        </p:txBody>
      </p:sp>
      <p:sp>
        <p:nvSpPr>
          <p:cNvPr id="38" name="tech-card"/>
          <p:cNvSpPr/>
          <p:nvPr/>
        </p:nvSpPr>
        <p:spPr>
          <a:xfrm>
            <a:off x="4328160" y="4663440"/>
            <a:ext cx="3505200" cy="1417320"/>
          </a:xfrm>
          <a:prstGeom prst="roundRect">
            <a:avLst>
              <a:gd name="adj" fmla="val 7742"/>
            </a:avLst>
          </a:prstGeom>
          <a:solidFill>
            <a:schemeClr val="bg2"/>
          </a:solidFill>
          <a:ln/>
        </p:spPr>
      </p:sp>
      <p:sp>
        <p:nvSpPr>
          <p:cNvPr id="39" name="icon-bg"/>
          <p:cNvSpPr/>
          <p:nvPr/>
        </p:nvSpPr>
        <p:spPr>
          <a:xfrm>
            <a:off x="4556760" y="4892040"/>
            <a:ext cx="548640" cy="548640"/>
          </a:xfrm>
          <a:prstGeom prst="ellipse">
            <a:avLst/>
          </a:prstGeom>
          <a:solidFill>
            <a:schemeClr val="accent1"/>
          </a:solidFill>
          <a:ln/>
        </p:spPr>
      </p:sp>
      <p:pic>
        <p:nvPicPr>
          <p:cNvPr id="40" name="Image 7" descr="ClipboardCheck icon">    </p:cNvPr>
          <p:cNvPicPr>
            <a:picLocks noChangeAspect="1"/>
          </p:cNvPicPr>
          <p:nvPr/>
        </p:nvPicPr>
        <p:blipFill>
          <a:blip r:embed="rId8"/>
          <a:stretch>
            <a:fillRect/>
          </a:stretch>
        </p:blipFill>
        <p:spPr>
          <a:xfrm>
            <a:off x="4693920" y="5029200"/>
            <a:ext cx="274320" cy="274320"/>
          </a:xfrm>
          <a:prstGeom prst="rect">
            <a:avLst/>
          </a:prstGeom>
        </p:spPr>
      </p:pic>
      <p:sp>
        <p:nvSpPr>
          <p:cNvPr id="41" name="Text 31"/>
          <p:cNvSpPr txBox="1"/>
          <p:nvPr/>
        </p:nvSpPr>
        <p:spPr>
          <a:xfrm>
            <a:off x="5288280" y="4773168"/>
            <a:ext cx="2362200" cy="530352"/>
          </a:xfrm>
          <a:prstGeom prst="rect">
            <a:avLst/>
          </a:prstGeom>
          <a:noFill/>
          <a:ln/>
        </p:spPr>
        <p:txBody>
          <a:bodyPr wrap="square" lIns="0" tIns="0" rIns="0" bIns="0" rtlCol="0" anchor="b"/>
          <a:lstStyle/>
          <a:p>
            <a:pPr indent="0" marL="0">
              <a:buNone/>
            </a:pPr>
            <a:r>
              <a:rPr lang="en-US" sz="1600" b="1" dirty="0">
                <a:solidFill>
                  <a:schemeClr val="tx2"/>
                </a:solidFill>
              </a:rPr>
              <a:t>unittest and pytest</a:t>
            </a:r>
            <a:endParaRPr lang="en-US" sz="1600" dirty="0"/>
          </a:p>
        </p:txBody>
      </p:sp>
      <p:sp>
        <p:nvSpPr>
          <p:cNvPr id="42" name="Text 32"/>
          <p:cNvSpPr txBox="1"/>
          <p:nvPr/>
        </p:nvSpPr>
        <p:spPr>
          <a:xfrm>
            <a:off x="5288280" y="5358384"/>
            <a:ext cx="2362200" cy="640080"/>
          </a:xfrm>
          <a:prstGeom prst="rect">
            <a:avLst/>
          </a:prstGeom>
          <a:noFill/>
          <a:ln/>
        </p:spPr>
        <p:txBody>
          <a:bodyPr wrap="square" lIns="0" tIns="0" rIns="0" bIns="0" rtlCol="0" anchor="t"/>
          <a:lstStyle/>
          <a:p>
            <a:pPr indent="0" marL="0">
              <a:buNone/>
            </a:pPr>
            <a:r>
              <a:rPr lang="en-US" sz="1400" dirty="0">
                <a:solidFill>
                  <a:schemeClr val="tx1"/>
                </a:solidFill>
              </a:rPr>
              <a:t>Verifies grading and attendance rules</a:t>
            </a:r>
            <a:endParaRPr lang="en-US" sz="1400" dirty="0"/>
          </a:p>
        </p:txBody>
      </p:sp>
      <p:sp>
        <p:nvSpPr>
          <p:cNvPr id="43" name="tech-card"/>
          <p:cNvSpPr/>
          <p:nvPr/>
        </p:nvSpPr>
        <p:spPr>
          <a:xfrm>
            <a:off x="8107680" y="4663440"/>
            <a:ext cx="3505200" cy="1417320"/>
          </a:xfrm>
          <a:prstGeom prst="roundRect">
            <a:avLst>
              <a:gd name="adj" fmla="val 7742"/>
            </a:avLst>
          </a:prstGeom>
          <a:solidFill>
            <a:schemeClr val="bg2"/>
          </a:solidFill>
          <a:ln/>
        </p:spPr>
      </p:sp>
      <p:sp>
        <p:nvSpPr>
          <p:cNvPr id="44" name="icon-bg"/>
          <p:cNvSpPr/>
          <p:nvPr/>
        </p:nvSpPr>
        <p:spPr>
          <a:xfrm>
            <a:off x="8336280" y="4892040"/>
            <a:ext cx="548640" cy="548640"/>
          </a:xfrm>
          <a:prstGeom prst="ellipse">
            <a:avLst/>
          </a:prstGeom>
          <a:solidFill>
            <a:schemeClr val="accent1"/>
          </a:solidFill>
          <a:ln/>
        </p:spPr>
      </p:sp>
      <p:pic>
        <p:nvPicPr>
          <p:cNvPr id="45" name="Image 8" descr="GitAlt icon">    </p:cNvPr>
          <p:cNvPicPr>
            <a:picLocks noChangeAspect="1"/>
          </p:cNvPicPr>
          <p:nvPr/>
        </p:nvPicPr>
        <p:blipFill>
          <a:blip r:embed="rId9"/>
          <a:stretch>
            <a:fillRect/>
          </a:stretch>
        </p:blipFill>
        <p:spPr>
          <a:xfrm>
            <a:off x="8473440" y="5029200"/>
            <a:ext cx="274320" cy="274320"/>
          </a:xfrm>
          <a:prstGeom prst="rect">
            <a:avLst/>
          </a:prstGeom>
        </p:spPr>
      </p:pic>
      <p:sp>
        <p:nvSpPr>
          <p:cNvPr id="46" name="Text 35"/>
          <p:cNvSpPr txBox="1"/>
          <p:nvPr/>
        </p:nvSpPr>
        <p:spPr>
          <a:xfrm>
            <a:off x="9067800" y="4773168"/>
            <a:ext cx="2362200" cy="530352"/>
          </a:xfrm>
          <a:prstGeom prst="rect">
            <a:avLst/>
          </a:prstGeom>
          <a:noFill/>
          <a:ln/>
        </p:spPr>
        <p:txBody>
          <a:bodyPr wrap="square" lIns="0" tIns="0" rIns="0" bIns="0" rtlCol="0" anchor="b"/>
          <a:lstStyle/>
          <a:p>
            <a:pPr indent="0" marL="0">
              <a:buNone/>
            </a:pPr>
            <a:r>
              <a:rPr lang="en-US" sz="1600" b="1" dirty="0">
                <a:solidFill>
                  <a:schemeClr val="tx2"/>
                </a:solidFill>
              </a:rPr>
              <a:t>Git, Gunicorn, Nginx</a:t>
            </a:r>
            <a:endParaRPr lang="en-US" sz="1600" dirty="0"/>
          </a:p>
        </p:txBody>
      </p:sp>
      <p:sp>
        <p:nvSpPr>
          <p:cNvPr id="47" name="Text 36"/>
          <p:cNvSpPr txBox="1"/>
          <p:nvPr/>
        </p:nvSpPr>
        <p:spPr>
          <a:xfrm>
            <a:off x="9067800" y="5358384"/>
            <a:ext cx="2362200" cy="640080"/>
          </a:xfrm>
          <a:prstGeom prst="rect">
            <a:avLst/>
          </a:prstGeom>
          <a:noFill/>
          <a:ln/>
        </p:spPr>
        <p:txBody>
          <a:bodyPr wrap="square" lIns="0" tIns="0" rIns="0" bIns="0" rtlCol="0" anchor="t"/>
          <a:lstStyle/>
          <a:p>
            <a:pPr indent="0" marL="0">
              <a:buNone/>
            </a:pPr>
            <a:r>
              <a:rPr lang="en-US" sz="1400" dirty="0">
                <a:solidFill>
                  <a:schemeClr val="tx1"/>
                </a:solidFill>
              </a:rPr>
              <a:t>Source management and hosting</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Problem and proposed system</a:t>
            </a:r>
            <a:endParaRPr lang="en-US" sz="3600" dirty="0"/>
          </a:p>
        </p:txBody>
      </p:sp>
      <p:sp>
        <p:nvSpPr>
          <p:cNvPr id="3" name="problem-card"/>
          <p:cNvSpPr/>
          <p:nvPr/>
        </p:nvSpPr>
        <p:spPr>
          <a:xfrm>
            <a:off x="548640" y="1371600"/>
            <a:ext cx="5120640" cy="4800600"/>
          </a:xfrm>
          <a:prstGeom prst="roundRect">
            <a:avLst>
              <a:gd name="adj" fmla="val 2286"/>
            </a:avLst>
          </a:prstGeom>
          <a:solidFill>
            <a:schemeClr val="bg2"/>
          </a:solidFill>
          <a:ln/>
        </p:spPr>
      </p:sp>
      <p:sp>
        <p:nvSpPr>
          <p:cNvPr id="4" name="Text 2"/>
          <p:cNvSpPr txBox="1"/>
          <p:nvPr/>
        </p:nvSpPr>
        <p:spPr>
          <a:xfrm>
            <a:off x="822960" y="1554480"/>
            <a:ext cx="4572000" cy="365760"/>
          </a:xfrm>
          <a:prstGeom prst="rect">
            <a:avLst/>
          </a:prstGeom>
          <a:noFill/>
          <a:ln/>
        </p:spPr>
        <p:txBody>
          <a:bodyPr wrap="square" lIns="0" tIns="0" rIns="0" bIns="0" rtlCol="0" anchor="t"/>
          <a:lstStyle/>
          <a:p>
            <a:pPr indent="0" marL="0">
              <a:buNone/>
            </a:pPr>
            <a:r>
              <a:rPr lang="en-US" sz="2000" b="1" dirty="0">
                <a:solidFill>
                  <a:schemeClr val="tx2"/>
                </a:solidFill>
              </a:rPr>
              <a:t>Manual records today</a:t>
            </a:r>
            <a:endParaRPr lang="en-US" sz="2000" dirty="0"/>
          </a:p>
        </p:txBody>
      </p:sp>
      <p:pic>
        <p:nvPicPr>
          <p:cNvPr id="5" name="Image 0" descr="problem">    </p:cNvPr>
          <p:cNvPicPr>
            <a:picLocks noChangeAspect="1"/>
          </p:cNvPicPr>
          <p:nvPr/>
        </p:nvPicPr>
        <p:blipFill>
          <a:blip r:embed="rId1"/>
          <a:stretch>
            <a:fillRect/>
          </a:stretch>
        </p:blipFill>
        <p:spPr>
          <a:xfrm>
            <a:off x="822960" y="2212848"/>
            <a:ext cx="310896" cy="310896"/>
          </a:xfrm>
          <a:prstGeom prst="rect">
            <a:avLst/>
          </a:prstGeom>
        </p:spPr>
      </p:pic>
      <p:sp>
        <p:nvSpPr>
          <p:cNvPr id="6" name="Text 3"/>
          <p:cNvSpPr txBox="1"/>
          <p:nvPr/>
        </p:nvSpPr>
        <p:spPr>
          <a:xfrm>
            <a:off x="1325880" y="2148840"/>
            <a:ext cx="4114800" cy="438912"/>
          </a:xfrm>
          <a:prstGeom prst="rect">
            <a:avLst/>
          </a:prstGeom>
          <a:noFill/>
          <a:ln/>
        </p:spPr>
        <p:txBody>
          <a:bodyPr wrap="square" lIns="0" tIns="0" rIns="0" bIns="0" rtlCol="0" anchor="ctr"/>
          <a:lstStyle/>
          <a:p>
            <a:pPr indent="0" marL="0">
              <a:buNone/>
            </a:pPr>
            <a:r>
              <a:rPr lang="en-US" sz="1600" dirty="0">
                <a:solidFill>
                  <a:schemeClr val="tx1"/>
                </a:solidFill>
              </a:rPr>
              <a:t>Slow to search, easy to lose</a:t>
            </a:r>
            <a:endParaRPr lang="en-US" sz="1600" dirty="0"/>
          </a:p>
        </p:txBody>
      </p:sp>
      <p:pic>
        <p:nvPicPr>
          <p:cNvPr id="7" name="Image 1" descr="problem">    </p:cNvPr>
          <p:cNvPicPr>
            <a:picLocks noChangeAspect="1"/>
          </p:cNvPicPr>
          <p:nvPr/>
        </p:nvPicPr>
        <p:blipFill>
          <a:blip r:embed="rId2"/>
          <a:stretch>
            <a:fillRect/>
          </a:stretch>
        </p:blipFill>
        <p:spPr>
          <a:xfrm>
            <a:off x="822960" y="2871216"/>
            <a:ext cx="310896" cy="310896"/>
          </a:xfrm>
          <a:prstGeom prst="rect">
            <a:avLst/>
          </a:prstGeom>
        </p:spPr>
      </p:pic>
      <p:sp>
        <p:nvSpPr>
          <p:cNvPr id="8" name="Text 4"/>
          <p:cNvSpPr txBox="1"/>
          <p:nvPr/>
        </p:nvSpPr>
        <p:spPr>
          <a:xfrm>
            <a:off x="1325880" y="2807208"/>
            <a:ext cx="4114800" cy="438912"/>
          </a:xfrm>
          <a:prstGeom prst="rect">
            <a:avLst/>
          </a:prstGeom>
          <a:noFill/>
          <a:ln/>
        </p:spPr>
        <p:txBody>
          <a:bodyPr wrap="square" lIns="0" tIns="0" rIns="0" bIns="0" rtlCol="0" anchor="ctr"/>
          <a:lstStyle/>
          <a:p>
            <a:pPr indent="0" marL="0">
              <a:buNone/>
            </a:pPr>
            <a:r>
              <a:rPr lang="en-US" sz="1600" dirty="0">
                <a:solidFill>
                  <a:schemeClr val="tx1"/>
                </a:solidFill>
              </a:rPr>
              <a:t>Attendance, marks and profiles kept apart</a:t>
            </a:r>
            <a:endParaRPr lang="en-US" sz="1600" dirty="0"/>
          </a:p>
        </p:txBody>
      </p:sp>
      <p:pic>
        <p:nvPicPr>
          <p:cNvPr id="9" name="Image 2" descr="problem">    </p:cNvPr>
          <p:cNvPicPr>
            <a:picLocks noChangeAspect="1"/>
          </p:cNvPicPr>
          <p:nvPr/>
        </p:nvPicPr>
        <p:blipFill>
          <a:blip r:embed="rId3"/>
          <a:stretch>
            <a:fillRect/>
          </a:stretch>
        </p:blipFill>
        <p:spPr>
          <a:xfrm>
            <a:off x="822960" y="3529584"/>
            <a:ext cx="310896" cy="310896"/>
          </a:xfrm>
          <a:prstGeom prst="rect">
            <a:avLst/>
          </a:prstGeom>
        </p:spPr>
      </p:pic>
      <p:sp>
        <p:nvSpPr>
          <p:cNvPr id="10" name="Text 5"/>
          <p:cNvSpPr txBox="1"/>
          <p:nvPr/>
        </p:nvSpPr>
        <p:spPr>
          <a:xfrm>
            <a:off x="1325880" y="3465576"/>
            <a:ext cx="4114800" cy="438912"/>
          </a:xfrm>
          <a:prstGeom prst="rect">
            <a:avLst/>
          </a:prstGeom>
          <a:noFill/>
          <a:ln/>
        </p:spPr>
        <p:txBody>
          <a:bodyPr wrap="square" lIns="0" tIns="0" rIns="0" bIns="0" rtlCol="0" anchor="ctr"/>
          <a:lstStyle/>
          <a:p>
            <a:pPr indent="0" marL="0">
              <a:buNone/>
            </a:pPr>
            <a:r>
              <a:rPr lang="en-US" sz="1600" dirty="0">
                <a:solidFill>
                  <a:schemeClr val="tx1"/>
                </a:solidFill>
              </a:rPr>
              <a:t>Totals and grades calculated by hand</a:t>
            </a:r>
            <a:endParaRPr lang="en-US" sz="1600" dirty="0"/>
          </a:p>
        </p:txBody>
      </p:sp>
      <p:pic>
        <p:nvPicPr>
          <p:cNvPr id="11" name="Image 3" descr="problem">    </p:cNvPr>
          <p:cNvPicPr>
            <a:picLocks noChangeAspect="1"/>
          </p:cNvPicPr>
          <p:nvPr/>
        </p:nvPicPr>
        <p:blipFill>
          <a:blip r:embed="rId4"/>
          <a:stretch>
            <a:fillRect/>
          </a:stretch>
        </p:blipFill>
        <p:spPr>
          <a:xfrm>
            <a:off x="822960" y="4187952"/>
            <a:ext cx="310896" cy="310896"/>
          </a:xfrm>
          <a:prstGeom prst="rect">
            <a:avLst/>
          </a:prstGeom>
        </p:spPr>
      </p:pic>
      <p:sp>
        <p:nvSpPr>
          <p:cNvPr id="12" name="Text 6"/>
          <p:cNvSpPr txBox="1"/>
          <p:nvPr/>
        </p:nvSpPr>
        <p:spPr>
          <a:xfrm>
            <a:off x="1325880" y="4123944"/>
            <a:ext cx="4114800" cy="438912"/>
          </a:xfrm>
          <a:prstGeom prst="rect">
            <a:avLst/>
          </a:prstGeom>
          <a:noFill/>
          <a:ln/>
        </p:spPr>
        <p:txBody>
          <a:bodyPr wrap="square" lIns="0" tIns="0" rIns="0" bIns="0" rtlCol="0" anchor="ctr"/>
          <a:lstStyle/>
          <a:p>
            <a:pPr indent="0" marL="0">
              <a:buNone/>
            </a:pPr>
            <a:r>
              <a:rPr lang="en-US" sz="1600" dirty="0">
                <a:solidFill>
                  <a:schemeClr val="tx1"/>
                </a:solidFill>
              </a:rPr>
              <a:t>Students learn of shortage or results late</a:t>
            </a:r>
            <a:endParaRPr lang="en-US" sz="1600" dirty="0"/>
          </a:p>
        </p:txBody>
      </p:sp>
      <p:pic>
        <p:nvPicPr>
          <p:cNvPr id="13" name="Image 4" descr="problem">    </p:cNvPr>
          <p:cNvPicPr>
            <a:picLocks noChangeAspect="1"/>
          </p:cNvPicPr>
          <p:nvPr/>
        </p:nvPicPr>
        <p:blipFill>
          <a:blip r:embed="rId5"/>
          <a:stretch>
            <a:fillRect/>
          </a:stretch>
        </p:blipFill>
        <p:spPr>
          <a:xfrm>
            <a:off x="822960" y="4846320"/>
            <a:ext cx="310896" cy="310896"/>
          </a:xfrm>
          <a:prstGeom prst="rect">
            <a:avLst/>
          </a:prstGeom>
        </p:spPr>
      </p:pic>
      <p:sp>
        <p:nvSpPr>
          <p:cNvPr id="14" name="Text 7"/>
          <p:cNvSpPr txBox="1"/>
          <p:nvPr/>
        </p:nvSpPr>
        <p:spPr>
          <a:xfrm>
            <a:off x="1325880" y="4782312"/>
            <a:ext cx="4114800" cy="438912"/>
          </a:xfrm>
          <a:prstGeom prst="rect">
            <a:avLst/>
          </a:prstGeom>
          <a:noFill/>
          <a:ln/>
        </p:spPr>
        <p:txBody>
          <a:bodyPr wrap="square" lIns="0" tIns="0" rIns="0" bIns="0" rtlCol="0" anchor="ctr"/>
          <a:lstStyle/>
          <a:p>
            <a:pPr indent="0" marL="0">
              <a:buNone/>
            </a:pPr>
            <a:r>
              <a:rPr lang="en-US" sz="1600" dirty="0">
                <a:solidFill>
                  <a:schemeClr val="tx1"/>
                </a:solidFill>
              </a:rPr>
              <a:t>Class-wise reports take hours</a:t>
            </a:r>
            <a:endParaRPr lang="en-US" sz="1600" dirty="0"/>
          </a:p>
        </p:txBody>
      </p:sp>
      <p:pic>
        <p:nvPicPr>
          <p:cNvPr id="15" name="Image 5" descr="problem">    </p:cNvPr>
          <p:cNvPicPr>
            <a:picLocks noChangeAspect="1"/>
          </p:cNvPicPr>
          <p:nvPr/>
        </p:nvPicPr>
        <p:blipFill>
          <a:blip r:embed="rId6"/>
          <a:stretch>
            <a:fillRect/>
          </a:stretch>
        </p:blipFill>
        <p:spPr>
          <a:xfrm>
            <a:off x="822960" y="5504688"/>
            <a:ext cx="310896" cy="310896"/>
          </a:xfrm>
          <a:prstGeom prst="rect">
            <a:avLst/>
          </a:prstGeom>
        </p:spPr>
      </p:pic>
      <p:sp>
        <p:nvSpPr>
          <p:cNvPr id="16" name="Text 8"/>
          <p:cNvSpPr txBox="1"/>
          <p:nvPr/>
        </p:nvSpPr>
        <p:spPr>
          <a:xfrm>
            <a:off x="1325880" y="5440680"/>
            <a:ext cx="4114800" cy="438912"/>
          </a:xfrm>
          <a:prstGeom prst="rect">
            <a:avLst/>
          </a:prstGeom>
          <a:noFill/>
          <a:ln/>
        </p:spPr>
        <p:txBody>
          <a:bodyPr wrap="square" lIns="0" tIns="0" rIns="0" bIns="0" rtlCol="0" anchor="ctr"/>
          <a:lstStyle/>
          <a:p>
            <a:pPr indent="0" marL="0">
              <a:buNone/>
            </a:pPr>
            <a:r>
              <a:rPr lang="en-US" sz="1600" dirty="0">
                <a:solidFill>
                  <a:schemeClr val="tx1"/>
                </a:solidFill>
              </a:rPr>
              <a:t>Weak access control on registers</a:t>
            </a:r>
            <a:endParaRPr lang="en-US" sz="1600" dirty="0"/>
          </a:p>
        </p:txBody>
      </p:sp>
      <p:pic>
        <p:nvPicPr>
          <p:cNvPr id="17" name="Image 6" descr="leads to">    </p:cNvPr>
          <p:cNvPicPr>
            <a:picLocks noChangeAspect="1"/>
          </p:cNvPicPr>
          <p:nvPr/>
        </p:nvPicPr>
        <p:blipFill>
          <a:blip r:embed="rId7"/>
          <a:stretch>
            <a:fillRect/>
          </a:stretch>
        </p:blipFill>
        <p:spPr>
          <a:xfrm>
            <a:off x="5852160" y="3611880"/>
            <a:ext cx="457200" cy="457200"/>
          </a:xfrm>
          <a:prstGeom prst="rect">
            <a:avLst/>
          </a:prstGeom>
        </p:spPr>
      </p:pic>
      <p:sp>
        <p:nvSpPr>
          <p:cNvPr id="18" name="solution-card"/>
          <p:cNvSpPr/>
          <p:nvPr/>
        </p:nvSpPr>
        <p:spPr>
          <a:xfrm>
            <a:off x="6492240" y="1371600"/>
            <a:ext cx="5120640" cy="4800600"/>
          </a:xfrm>
          <a:prstGeom prst="roundRect">
            <a:avLst>
              <a:gd name="adj" fmla="val 2286"/>
            </a:avLst>
          </a:prstGeom>
          <a:solidFill>
            <a:schemeClr val="tx2"/>
          </a:solidFill>
          <a:ln/>
        </p:spPr>
      </p:sp>
      <p:sp>
        <p:nvSpPr>
          <p:cNvPr id="19" name="Text 10"/>
          <p:cNvSpPr txBox="1"/>
          <p:nvPr/>
        </p:nvSpPr>
        <p:spPr>
          <a:xfrm>
            <a:off x="6766560" y="1554480"/>
            <a:ext cx="4572000" cy="365760"/>
          </a:xfrm>
          <a:prstGeom prst="rect">
            <a:avLst/>
          </a:prstGeom>
          <a:noFill/>
          <a:ln/>
        </p:spPr>
        <p:txBody>
          <a:bodyPr wrap="square" lIns="0" tIns="0" rIns="0" bIns="0" rtlCol="0" anchor="t"/>
          <a:lstStyle/>
          <a:p>
            <a:pPr indent="0" marL="0">
              <a:buNone/>
            </a:pPr>
            <a:r>
              <a:rPr lang="en-US" sz="2000" b="1" dirty="0">
                <a:solidFill>
                  <a:schemeClr val="bg1"/>
                </a:solidFill>
              </a:rPr>
              <a:t>Student Management System</a:t>
            </a:r>
            <a:endParaRPr lang="en-US" sz="2000" dirty="0"/>
          </a:p>
        </p:txBody>
      </p:sp>
      <p:pic>
        <p:nvPicPr>
          <p:cNvPr id="20" name="Image 7" descr="benefit">    </p:cNvPr>
          <p:cNvPicPr>
            <a:picLocks noChangeAspect="1"/>
          </p:cNvPicPr>
          <p:nvPr/>
        </p:nvPicPr>
        <p:blipFill>
          <a:blip r:embed="rId8"/>
          <a:stretch>
            <a:fillRect/>
          </a:stretch>
        </p:blipFill>
        <p:spPr>
          <a:xfrm>
            <a:off x="6766560" y="2212848"/>
            <a:ext cx="310896" cy="310896"/>
          </a:xfrm>
          <a:prstGeom prst="rect">
            <a:avLst/>
          </a:prstGeom>
        </p:spPr>
      </p:pic>
      <p:sp>
        <p:nvSpPr>
          <p:cNvPr id="21" name="Text 11"/>
          <p:cNvSpPr txBox="1"/>
          <p:nvPr/>
        </p:nvSpPr>
        <p:spPr>
          <a:xfrm>
            <a:off x="7269480" y="2148840"/>
            <a:ext cx="4114800" cy="438912"/>
          </a:xfrm>
          <a:prstGeom prst="rect">
            <a:avLst/>
          </a:prstGeom>
          <a:noFill/>
          <a:ln/>
        </p:spPr>
        <p:txBody>
          <a:bodyPr wrap="square" lIns="0" tIns="0" rIns="0" bIns="0" rtlCol="0" anchor="ctr"/>
          <a:lstStyle/>
          <a:p>
            <a:pPr indent="0" marL="0">
              <a:buNone/>
            </a:pPr>
            <a:r>
              <a:rPr lang="en-US" sz="1600" dirty="0">
                <a:solidFill>
                  <a:schemeClr val="bg1"/>
                </a:solidFill>
              </a:rPr>
              <a:t>Central relational MySQL database</a:t>
            </a:r>
            <a:endParaRPr lang="en-US" sz="1600" dirty="0"/>
          </a:p>
        </p:txBody>
      </p:sp>
      <p:pic>
        <p:nvPicPr>
          <p:cNvPr id="22" name="Image 8" descr="benefit">    </p:cNvPr>
          <p:cNvPicPr>
            <a:picLocks noChangeAspect="1"/>
          </p:cNvPicPr>
          <p:nvPr/>
        </p:nvPicPr>
        <p:blipFill>
          <a:blip r:embed="rId9"/>
          <a:stretch>
            <a:fillRect/>
          </a:stretch>
        </p:blipFill>
        <p:spPr>
          <a:xfrm>
            <a:off x="6766560" y="2871216"/>
            <a:ext cx="310896" cy="310896"/>
          </a:xfrm>
          <a:prstGeom prst="rect">
            <a:avLst/>
          </a:prstGeom>
        </p:spPr>
      </p:pic>
      <p:sp>
        <p:nvSpPr>
          <p:cNvPr id="23" name="Text 12"/>
          <p:cNvSpPr txBox="1"/>
          <p:nvPr/>
        </p:nvSpPr>
        <p:spPr>
          <a:xfrm>
            <a:off x="7269480" y="2807208"/>
            <a:ext cx="4114800" cy="438912"/>
          </a:xfrm>
          <a:prstGeom prst="rect">
            <a:avLst/>
          </a:prstGeom>
          <a:noFill/>
          <a:ln/>
        </p:spPr>
        <p:txBody>
          <a:bodyPr wrap="square" lIns="0" tIns="0" rIns="0" bIns="0" rtlCol="0" anchor="ctr"/>
          <a:lstStyle/>
          <a:p>
            <a:pPr indent="0" marL="0">
              <a:buNone/>
            </a:pPr>
            <a:r>
              <a:rPr lang="en-US" sz="1600" dirty="0">
                <a:solidFill>
                  <a:schemeClr val="bg1"/>
                </a:solidFill>
              </a:rPr>
              <a:t>Role-based web interface</a:t>
            </a:r>
            <a:endParaRPr lang="en-US" sz="1600" dirty="0"/>
          </a:p>
        </p:txBody>
      </p:sp>
      <p:pic>
        <p:nvPicPr>
          <p:cNvPr id="24" name="Image 9" descr="benefit">    </p:cNvPr>
          <p:cNvPicPr>
            <a:picLocks noChangeAspect="1"/>
          </p:cNvPicPr>
          <p:nvPr/>
        </p:nvPicPr>
        <p:blipFill>
          <a:blip r:embed="rId10"/>
          <a:stretch>
            <a:fillRect/>
          </a:stretch>
        </p:blipFill>
        <p:spPr>
          <a:xfrm>
            <a:off x="6766560" y="3529584"/>
            <a:ext cx="310896" cy="310896"/>
          </a:xfrm>
          <a:prstGeom prst="rect">
            <a:avLst/>
          </a:prstGeom>
        </p:spPr>
      </p:pic>
      <p:sp>
        <p:nvSpPr>
          <p:cNvPr id="25" name="Text 13"/>
          <p:cNvSpPr txBox="1"/>
          <p:nvPr/>
        </p:nvSpPr>
        <p:spPr>
          <a:xfrm>
            <a:off x="7269480" y="3465576"/>
            <a:ext cx="4114800" cy="438912"/>
          </a:xfrm>
          <a:prstGeom prst="rect">
            <a:avLst/>
          </a:prstGeom>
          <a:noFill/>
          <a:ln/>
        </p:spPr>
        <p:txBody>
          <a:bodyPr wrap="square" lIns="0" tIns="0" rIns="0" bIns="0" rtlCol="0" anchor="ctr"/>
          <a:lstStyle/>
          <a:p>
            <a:pPr indent="0" marL="0">
              <a:buNone/>
            </a:pPr>
            <a:r>
              <a:rPr lang="en-US" sz="1600" dirty="0">
                <a:solidFill>
                  <a:schemeClr val="bg1"/>
                </a:solidFill>
              </a:rPr>
              <a:t>Instant enrolment, attendance and marks</a:t>
            </a:r>
            <a:endParaRPr lang="en-US" sz="1600" dirty="0"/>
          </a:p>
        </p:txBody>
      </p:sp>
      <p:pic>
        <p:nvPicPr>
          <p:cNvPr id="26" name="Image 10" descr="benefit">    </p:cNvPr>
          <p:cNvPicPr>
            <a:picLocks noChangeAspect="1"/>
          </p:cNvPicPr>
          <p:nvPr/>
        </p:nvPicPr>
        <p:blipFill>
          <a:blip r:embed="rId11"/>
          <a:stretch>
            <a:fillRect/>
          </a:stretch>
        </p:blipFill>
        <p:spPr>
          <a:xfrm>
            <a:off x="6766560" y="4187952"/>
            <a:ext cx="310896" cy="310896"/>
          </a:xfrm>
          <a:prstGeom prst="rect">
            <a:avLst/>
          </a:prstGeom>
        </p:spPr>
      </p:pic>
      <p:sp>
        <p:nvSpPr>
          <p:cNvPr id="27" name="Text 14"/>
          <p:cNvSpPr txBox="1"/>
          <p:nvPr/>
        </p:nvSpPr>
        <p:spPr>
          <a:xfrm>
            <a:off x="7269480" y="4123944"/>
            <a:ext cx="4114800" cy="438912"/>
          </a:xfrm>
          <a:prstGeom prst="rect">
            <a:avLst/>
          </a:prstGeom>
          <a:noFill/>
          <a:ln/>
        </p:spPr>
        <p:txBody>
          <a:bodyPr wrap="square" lIns="0" tIns="0" rIns="0" bIns="0" rtlCol="0" anchor="ctr"/>
          <a:lstStyle/>
          <a:p>
            <a:pPr indent="0" marL="0">
              <a:buNone/>
            </a:pPr>
            <a:r>
              <a:rPr lang="en-US" sz="1600" dirty="0">
                <a:solidFill>
                  <a:schemeClr val="bg1"/>
                </a:solidFill>
              </a:rPr>
              <a:t>Automatic percentages and grades</a:t>
            </a:r>
            <a:endParaRPr lang="en-US" sz="1600" dirty="0"/>
          </a:p>
        </p:txBody>
      </p:sp>
      <p:pic>
        <p:nvPicPr>
          <p:cNvPr id="28" name="Image 11" descr="benefit">    </p:cNvPr>
          <p:cNvPicPr>
            <a:picLocks noChangeAspect="1"/>
          </p:cNvPicPr>
          <p:nvPr/>
        </p:nvPicPr>
        <p:blipFill>
          <a:blip r:embed="rId12"/>
          <a:stretch>
            <a:fillRect/>
          </a:stretch>
        </p:blipFill>
        <p:spPr>
          <a:xfrm>
            <a:off x="6766560" y="4846320"/>
            <a:ext cx="310896" cy="310896"/>
          </a:xfrm>
          <a:prstGeom prst="rect">
            <a:avLst/>
          </a:prstGeom>
        </p:spPr>
      </p:pic>
      <p:sp>
        <p:nvSpPr>
          <p:cNvPr id="29" name="Text 15"/>
          <p:cNvSpPr txBox="1"/>
          <p:nvPr/>
        </p:nvSpPr>
        <p:spPr>
          <a:xfrm>
            <a:off x="7269480" y="4782312"/>
            <a:ext cx="4114800" cy="438912"/>
          </a:xfrm>
          <a:prstGeom prst="rect">
            <a:avLst/>
          </a:prstGeom>
          <a:noFill/>
          <a:ln/>
        </p:spPr>
        <p:txBody>
          <a:bodyPr wrap="square" lIns="0" tIns="0" rIns="0" bIns="0" rtlCol="0" anchor="ctr"/>
          <a:lstStyle/>
          <a:p>
            <a:pPr indent="0" marL="0">
              <a:buNone/>
            </a:pPr>
            <a:r>
              <a:rPr lang="en-US" sz="1600" dirty="0">
                <a:solidFill>
                  <a:schemeClr val="bg1"/>
                </a:solidFill>
              </a:rPr>
              <a:t>Reports generated on demand</a:t>
            </a:r>
            <a:endParaRPr lang="en-US" sz="1600" dirty="0"/>
          </a:p>
        </p:txBody>
      </p:sp>
      <p:pic>
        <p:nvPicPr>
          <p:cNvPr id="30" name="Image 12" descr="benefit">    </p:cNvPr>
          <p:cNvPicPr>
            <a:picLocks noChangeAspect="1"/>
          </p:cNvPicPr>
          <p:nvPr/>
        </p:nvPicPr>
        <p:blipFill>
          <a:blip r:embed="rId13"/>
          <a:stretch>
            <a:fillRect/>
          </a:stretch>
        </p:blipFill>
        <p:spPr>
          <a:xfrm>
            <a:off x="6766560" y="5504688"/>
            <a:ext cx="310896" cy="310896"/>
          </a:xfrm>
          <a:prstGeom prst="rect">
            <a:avLst/>
          </a:prstGeom>
        </p:spPr>
      </p:pic>
      <p:sp>
        <p:nvSpPr>
          <p:cNvPr id="31" name="Text 16"/>
          <p:cNvSpPr txBox="1"/>
          <p:nvPr/>
        </p:nvSpPr>
        <p:spPr>
          <a:xfrm>
            <a:off x="7269480" y="5440680"/>
            <a:ext cx="4114800" cy="438912"/>
          </a:xfrm>
          <a:prstGeom prst="rect">
            <a:avLst/>
          </a:prstGeom>
          <a:noFill/>
          <a:ln/>
        </p:spPr>
        <p:txBody>
          <a:bodyPr wrap="square" lIns="0" tIns="0" rIns="0" bIns="0" rtlCol="0" anchor="ctr"/>
          <a:lstStyle/>
          <a:p>
            <a:pPr indent="0" marL="0">
              <a:buNone/>
            </a:pPr>
            <a:r>
              <a:rPr lang="en-US" sz="1600" dirty="0">
                <a:solidFill>
                  <a:schemeClr val="bg1"/>
                </a:solidFill>
              </a:rPr>
              <a:t>Each role sees only its own functions</a:t>
            </a:r>
            <a:endParaRPr lang="en-US" sz="16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the system must do</a:t>
            </a:r>
            <a:endParaRPr lang="en-US" sz="3600" dirty="0"/>
          </a:p>
        </p:txBody>
      </p:sp>
      <p:sp>
        <p:nvSpPr>
          <p:cNvPr id="3" name="role-card"/>
          <p:cNvSpPr/>
          <p:nvPr/>
        </p:nvSpPr>
        <p:spPr>
          <a:xfrm>
            <a:off x="548640" y="1371600"/>
            <a:ext cx="2606063" cy="2834640"/>
          </a:xfrm>
          <a:prstGeom prst="roundRect">
            <a:avLst>
              <a:gd name="adj" fmla="val 4210"/>
            </a:avLst>
          </a:prstGeom>
          <a:solidFill>
            <a:schemeClr val="bg2"/>
          </a:solidFill>
          <a:ln/>
        </p:spPr>
      </p:sp>
      <p:sp>
        <p:nvSpPr>
          <p:cNvPr id="4" name="icon-bg"/>
          <p:cNvSpPr/>
          <p:nvPr/>
        </p:nvSpPr>
        <p:spPr>
          <a:xfrm>
            <a:off x="777240" y="1600200"/>
            <a:ext cx="548640" cy="548640"/>
          </a:xfrm>
          <a:prstGeom prst="ellipse">
            <a:avLst/>
          </a:prstGeom>
          <a:solidFill>
            <a:schemeClr val="accent1"/>
          </a:solidFill>
          <a:ln/>
        </p:spPr>
      </p:sp>
      <p:pic>
        <p:nvPicPr>
          <p:cNvPr id="5" name="Image 0" descr="UserCog icon">    </p:cNvPr>
          <p:cNvPicPr>
            <a:picLocks noChangeAspect="1"/>
          </p:cNvPicPr>
          <p:nvPr/>
        </p:nvPicPr>
        <p:blipFill>
          <a:blip r:embed="rId1"/>
          <a:stretch>
            <a:fillRect/>
          </a:stretch>
        </p:blipFill>
        <p:spPr>
          <a:xfrm>
            <a:off x="914400" y="1737360"/>
            <a:ext cx="274320" cy="274320"/>
          </a:xfrm>
          <a:prstGeom prst="rect">
            <a:avLst/>
          </a:prstGeom>
        </p:spPr>
      </p:pic>
      <p:sp>
        <p:nvSpPr>
          <p:cNvPr id="6" name="Text 3"/>
          <p:cNvSpPr txBox="1"/>
          <p:nvPr/>
        </p:nvSpPr>
        <p:spPr>
          <a:xfrm>
            <a:off x="1463040" y="1572768"/>
            <a:ext cx="1600223" cy="365760"/>
          </a:xfrm>
          <a:prstGeom prst="rect">
            <a:avLst/>
          </a:prstGeom>
          <a:noFill/>
          <a:ln/>
        </p:spPr>
        <p:txBody>
          <a:bodyPr wrap="square" lIns="0" tIns="0" rIns="0" bIns="0" rtlCol="0" anchor="t"/>
          <a:lstStyle/>
          <a:p>
            <a:pPr indent="0" marL="0">
              <a:buNone/>
            </a:pPr>
            <a:r>
              <a:rPr lang="en-US" sz="2000" b="1" dirty="0">
                <a:solidFill>
                  <a:schemeClr val="tx2"/>
                </a:solidFill>
              </a:rPr>
              <a:t>Admin</a:t>
            </a:r>
            <a:endParaRPr lang="en-US" sz="2000" dirty="0"/>
          </a:p>
        </p:txBody>
      </p:sp>
      <p:sp>
        <p:nvSpPr>
          <p:cNvPr id="7" name="Text 4"/>
          <p:cNvSpPr txBox="1"/>
          <p:nvPr/>
        </p:nvSpPr>
        <p:spPr>
          <a:xfrm>
            <a:off x="1463040" y="1956816"/>
            <a:ext cx="1600223" cy="274320"/>
          </a:xfrm>
          <a:prstGeom prst="rect">
            <a:avLst/>
          </a:prstGeom>
          <a:noFill/>
          <a:ln/>
        </p:spPr>
        <p:txBody>
          <a:bodyPr wrap="square" lIns="0" tIns="0" rIns="0" bIns="0" rtlCol="0" anchor="t"/>
          <a:lstStyle/>
          <a:p>
            <a:pPr indent="0" marL="0">
              <a:buNone/>
            </a:pPr>
            <a:r>
              <a:rPr lang="en-US" sz="1200" dirty="0">
                <a:solidFill>
                  <a:schemeClr val="accent6"/>
                </a:solidFill>
              </a:rPr>
              <a:t>FR-02 to FR-05, FR-10</a:t>
            </a:r>
            <a:endParaRPr lang="en-US" sz="1200" dirty="0"/>
          </a:p>
        </p:txBody>
      </p:sp>
      <p:sp>
        <p:nvSpPr>
          <p:cNvPr id="8" name="Text 5"/>
          <p:cNvSpPr txBox="1"/>
          <p:nvPr/>
        </p:nvSpPr>
        <p:spPr>
          <a:xfrm>
            <a:off x="777240" y="2514600"/>
            <a:ext cx="2148863"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Manage students, courses and faculty</a:t>
            </a:r>
            <a:endParaRPr lang="en-US" sz="1400" dirty="0"/>
          </a:p>
          <a:p>
            <a:pPr marL="342900" indent="-342900">
              <a:spcAft>
                <a:spcPts val="600"/>
              </a:spcAft>
              <a:buSzPct val="100000"/>
              <a:buChar char="•"/>
            </a:pPr>
            <a:r>
              <a:rPr lang="en-US" sz="1400" dirty="0">
                <a:solidFill>
                  <a:schemeClr val="tx1"/>
                </a:solidFill>
              </a:rPr>
              <a:t>Enrol students with seat checks</a:t>
            </a:r>
            <a:endParaRPr lang="en-US" sz="1400" dirty="0"/>
          </a:p>
          <a:p>
            <a:pPr marL="342900" indent="-342900">
              <a:spcAft>
                <a:spcPts val="600"/>
              </a:spcAft>
              <a:buSzPct val="100000"/>
              <a:buChar char="•"/>
            </a:pPr>
            <a:r>
              <a:rPr lang="en-US" sz="1400" dirty="0">
                <a:solidFill>
                  <a:schemeClr val="tx1"/>
                </a:solidFill>
              </a:rPr>
              <a:t>Generate reports</a:t>
            </a:r>
            <a:endParaRPr lang="en-US" sz="1400" dirty="0"/>
          </a:p>
        </p:txBody>
      </p:sp>
      <p:sp>
        <p:nvSpPr>
          <p:cNvPr id="9" name="role-card"/>
          <p:cNvSpPr/>
          <p:nvPr/>
        </p:nvSpPr>
        <p:spPr>
          <a:xfrm>
            <a:off x="3368032" y="1371600"/>
            <a:ext cx="2606063" cy="2834640"/>
          </a:xfrm>
          <a:prstGeom prst="roundRect">
            <a:avLst>
              <a:gd name="adj" fmla="val 4210"/>
            </a:avLst>
          </a:prstGeom>
          <a:solidFill>
            <a:schemeClr val="bg2"/>
          </a:solidFill>
          <a:ln/>
        </p:spPr>
      </p:sp>
      <p:sp>
        <p:nvSpPr>
          <p:cNvPr id="10" name="icon-bg"/>
          <p:cNvSpPr/>
          <p:nvPr/>
        </p:nvSpPr>
        <p:spPr>
          <a:xfrm>
            <a:off x="3596632" y="1600200"/>
            <a:ext cx="548640" cy="548640"/>
          </a:xfrm>
          <a:prstGeom prst="ellipse">
            <a:avLst/>
          </a:prstGeom>
          <a:solidFill>
            <a:schemeClr val="accent1"/>
          </a:solidFill>
          <a:ln/>
        </p:spPr>
      </p:sp>
      <p:pic>
        <p:nvPicPr>
          <p:cNvPr id="11" name="Image 1" descr="ChalkboardTeacher icon">    </p:cNvPr>
          <p:cNvPicPr>
            <a:picLocks noChangeAspect="1"/>
          </p:cNvPicPr>
          <p:nvPr/>
        </p:nvPicPr>
        <p:blipFill>
          <a:blip r:embed="rId2"/>
          <a:stretch>
            <a:fillRect/>
          </a:stretch>
        </p:blipFill>
        <p:spPr>
          <a:xfrm>
            <a:off x="3733792" y="1737360"/>
            <a:ext cx="274320" cy="274320"/>
          </a:xfrm>
          <a:prstGeom prst="rect">
            <a:avLst/>
          </a:prstGeom>
        </p:spPr>
      </p:pic>
      <p:sp>
        <p:nvSpPr>
          <p:cNvPr id="12" name="Text 8"/>
          <p:cNvSpPr txBox="1"/>
          <p:nvPr/>
        </p:nvSpPr>
        <p:spPr>
          <a:xfrm>
            <a:off x="4282432" y="1572768"/>
            <a:ext cx="1600223" cy="365760"/>
          </a:xfrm>
          <a:prstGeom prst="rect">
            <a:avLst/>
          </a:prstGeom>
          <a:noFill/>
          <a:ln/>
        </p:spPr>
        <p:txBody>
          <a:bodyPr wrap="square" lIns="0" tIns="0" rIns="0" bIns="0" rtlCol="0" anchor="t"/>
          <a:lstStyle/>
          <a:p>
            <a:pPr indent="0" marL="0">
              <a:buNone/>
            </a:pPr>
            <a:r>
              <a:rPr lang="en-US" sz="2000" b="1" dirty="0">
                <a:solidFill>
                  <a:schemeClr val="tx2"/>
                </a:solidFill>
              </a:rPr>
              <a:t>Faculty</a:t>
            </a:r>
            <a:endParaRPr lang="en-US" sz="2000" dirty="0"/>
          </a:p>
        </p:txBody>
      </p:sp>
      <p:sp>
        <p:nvSpPr>
          <p:cNvPr id="13" name="Text 9"/>
          <p:cNvSpPr txBox="1"/>
          <p:nvPr/>
        </p:nvSpPr>
        <p:spPr>
          <a:xfrm>
            <a:off x="4282432" y="1956816"/>
            <a:ext cx="1600223" cy="274320"/>
          </a:xfrm>
          <a:prstGeom prst="rect">
            <a:avLst/>
          </a:prstGeom>
          <a:noFill/>
          <a:ln/>
        </p:spPr>
        <p:txBody>
          <a:bodyPr wrap="square" lIns="0" tIns="0" rIns="0" bIns="0" rtlCol="0" anchor="t"/>
          <a:lstStyle/>
          <a:p>
            <a:pPr indent="0" marL="0">
              <a:buNone/>
            </a:pPr>
            <a:r>
              <a:rPr lang="en-US" sz="1200" dirty="0">
                <a:solidFill>
                  <a:schemeClr val="accent6"/>
                </a:solidFill>
              </a:rPr>
              <a:t>FR-06, FR-07, FR-10</a:t>
            </a:r>
            <a:endParaRPr lang="en-US" sz="1200" dirty="0"/>
          </a:p>
        </p:txBody>
      </p:sp>
      <p:sp>
        <p:nvSpPr>
          <p:cNvPr id="14" name="Text 10"/>
          <p:cNvSpPr txBox="1"/>
          <p:nvPr/>
        </p:nvSpPr>
        <p:spPr>
          <a:xfrm>
            <a:off x="3596632" y="2514600"/>
            <a:ext cx="2148863"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Mark session-wise attendance</a:t>
            </a:r>
            <a:endParaRPr lang="en-US" sz="1400" dirty="0"/>
          </a:p>
          <a:p>
            <a:pPr marL="342900" indent="-342900">
              <a:spcAft>
                <a:spcPts val="600"/>
              </a:spcAft>
              <a:buSzPct val="100000"/>
              <a:buChar char="•"/>
            </a:pPr>
            <a:r>
              <a:rPr lang="en-US" sz="1400" dirty="0">
                <a:solidFill>
                  <a:schemeClr val="tx1"/>
                </a:solidFill>
              </a:rPr>
              <a:t>Enter assessment marks</a:t>
            </a:r>
            <a:endParaRPr lang="en-US" sz="1400" dirty="0"/>
          </a:p>
          <a:p>
            <a:pPr marL="342900" indent="-342900">
              <a:spcAft>
                <a:spcPts val="600"/>
              </a:spcAft>
              <a:buSzPct val="100000"/>
              <a:buChar char="•"/>
            </a:pPr>
            <a:r>
              <a:rPr lang="en-US" sz="1400" dirty="0">
                <a:solidFill>
                  <a:schemeClr val="tx1"/>
                </a:solidFill>
              </a:rPr>
              <a:t>View attendance and result reports</a:t>
            </a:r>
            <a:endParaRPr lang="en-US" sz="1400" dirty="0"/>
          </a:p>
        </p:txBody>
      </p:sp>
      <p:sp>
        <p:nvSpPr>
          <p:cNvPr id="15" name="role-card"/>
          <p:cNvSpPr/>
          <p:nvPr/>
        </p:nvSpPr>
        <p:spPr>
          <a:xfrm>
            <a:off x="6187425" y="1371600"/>
            <a:ext cx="2606063" cy="2834640"/>
          </a:xfrm>
          <a:prstGeom prst="roundRect">
            <a:avLst>
              <a:gd name="adj" fmla="val 4210"/>
            </a:avLst>
          </a:prstGeom>
          <a:solidFill>
            <a:schemeClr val="bg2"/>
          </a:solidFill>
          <a:ln/>
        </p:spPr>
      </p:sp>
      <p:sp>
        <p:nvSpPr>
          <p:cNvPr id="16" name="icon-bg"/>
          <p:cNvSpPr/>
          <p:nvPr/>
        </p:nvSpPr>
        <p:spPr>
          <a:xfrm>
            <a:off x="6416025" y="1600200"/>
            <a:ext cx="548640" cy="548640"/>
          </a:xfrm>
          <a:prstGeom prst="ellipse">
            <a:avLst/>
          </a:prstGeom>
          <a:solidFill>
            <a:schemeClr val="accent1"/>
          </a:solidFill>
          <a:ln/>
        </p:spPr>
      </p:sp>
      <p:pic>
        <p:nvPicPr>
          <p:cNvPr id="17" name="Image 2" descr="UserGraduate icon">    </p:cNvPr>
          <p:cNvPicPr>
            <a:picLocks noChangeAspect="1"/>
          </p:cNvPicPr>
          <p:nvPr/>
        </p:nvPicPr>
        <p:blipFill>
          <a:blip r:embed="rId3"/>
          <a:stretch>
            <a:fillRect/>
          </a:stretch>
        </p:blipFill>
        <p:spPr>
          <a:xfrm>
            <a:off x="6553185" y="1737360"/>
            <a:ext cx="274320" cy="274320"/>
          </a:xfrm>
          <a:prstGeom prst="rect">
            <a:avLst/>
          </a:prstGeom>
        </p:spPr>
      </p:pic>
      <p:sp>
        <p:nvSpPr>
          <p:cNvPr id="18" name="Text 13"/>
          <p:cNvSpPr txBox="1"/>
          <p:nvPr/>
        </p:nvSpPr>
        <p:spPr>
          <a:xfrm>
            <a:off x="7101825" y="1572768"/>
            <a:ext cx="1600223" cy="365760"/>
          </a:xfrm>
          <a:prstGeom prst="rect">
            <a:avLst/>
          </a:prstGeom>
          <a:noFill/>
          <a:ln/>
        </p:spPr>
        <p:txBody>
          <a:bodyPr wrap="square" lIns="0" tIns="0" rIns="0" bIns="0" rtlCol="0" anchor="t"/>
          <a:lstStyle/>
          <a:p>
            <a:pPr indent="0" marL="0">
              <a:buNone/>
            </a:pPr>
            <a:r>
              <a:rPr lang="en-US" sz="2000" b="1" dirty="0">
                <a:solidFill>
                  <a:schemeClr val="tx2"/>
                </a:solidFill>
              </a:rPr>
              <a:t>Student</a:t>
            </a:r>
            <a:endParaRPr lang="en-US" sz="2000" dirty="0"/>
          </a:p>
        </p:txBody>
      </p:sp>
      <p:sp>
        <p:nvSpPr>
          <p:cNvPr id="19" name="Text 14"/>
          <p:cNvSpPr txBox="1"/>
          <p:nvPr/>
        </p:nvSpPr>
        <p:spPr>
          <a:xfrm>
            <a:off x="7101825" y="1956816"/>
            <a:ext cx="1600223" cy="274320"/>
          </a:xfrm>
          <a:prstGeom prst="rect">
            <a:avLst/>
          </a:prstGeom>
          <a:noFill/>
          <a:ln/>
        </p:spPr>
        <p:txBody>
          <a:bodyPr wrap="square" lIns="0" tIns="0" rIns="0" bIns="0" rtlCol="0" anchor="t"/>
          <a:lstStyle/>
          <a:p>
            <a:pPr indent="0" marL="0">
              <a:buNone/>
            </a:pPr>
            <a:r>
              <a:rPr lang="en-US" sz="1200" dirty="0">
                <a:solidFill>
                  <a:schemeClr val="accent6"/>
                </a:solidFill>
              </a:rPr>
              <a:t>FR-09</a:t>
            </a:r>
            <a:endParaRPr lang="en-US" sz="1200" dirty="0"/>
          </a:p>
        </p:txBody>
      </p:sp>
      <p:sp>
        <p:nvSpPr>
          <p:cNvPr id="20" name="Text 15"/>
          <p:cNvSpPr txBox="1"/>
          <p:nvPr/>
        </p:nvSpPr>
        <p:spPr>
          <a:xfrm>
            <a:off x="6416025" y="2514600"/>
            <a:ext cx="2148863"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View own profile</a:t>
            </a:r>
            <a:endParaRPr lang="en-US" sz="1400" dirty="0"/>
          </a:p>
          <a:p>
            <a:pPr marL="342900" indent="-342900">
              <a:spcAft>
                <a:spcPts val="600"/>
              </a:spcAft>
              <a:buSzPct val="100000"/>
              <a:buChar char="•"/>
            </a:pPr>
            <a:r>
              <a:rPr lang="en-US" sz="1400" dirty="0">
                <a:solidFill>
                  <a:schemeClr val="tx1"/>
                </a:solidFill>
              </a:rPr>
              <a:t>Track attendance percentage</a:t>
            </a:r>
            <a:endParaRPr lang="en-US" sz="1400" dirty="0"/>
          </a:p>
          <a:p>
            <a:pPr marL="342900" indent="-342900">
              <a:spcAft>
                <a:spcPts val="600"/>
              </a:spcAft>
              <a:buSzPct val="100000"/>
              <a:buChar char="•"/>
            </a:pPr>
            <a:r>
              <a:rPr lang="en-US" sz="1400" dirty="0">
                <a:solidFill>
                  <a:schemeClr val="tx1"/>
                </a:solidFill>
              </a:rPr>
              <a:t>See results in a read-only view</a:t>
            </a:r>
            <a:endParaRPr lang="en-US" sz="1400" dirty="0"/>
          </a:p>
        </p:txBody>
      </p:sp>
      <p:sp>
        <p:nvSpPr>
          <p:cNvPr id="21" name="role-card"/>
          <p:cNvSpPr/>
          <p:nvPr/>
        </p:nvSpPr>
        <p:spPr>
          <a:xfrm>
            <a:off x="9006817" y="1371600"/>
            <a:ext cx="2606063" cy="2834640"/>
          </a:xfrm>
          <a:prstGeom prst="roundRect">
            <a:avLst>
              <a:gd name="adj" fmla="val 4210"/>
            </a:avLst>
          </a:prstGeom>
          <a:solidFill>
            <a:schemeClr val="bg2"/>
          </a:solidFill>
          <a:ln/>
        </p:spPr>
      </p:sp>
      <p:sp>
        <p:nvSpPr>
          <p:cNvPr id="22" name="icon-bg"/>
          <p:cNvSpPr/>
          <p:nvPr/>
        </p:nvSpPr>
        <p:spPr>
          <a:xfrm>
            <a:off x="9235417" y="1600200"/>
            <a:ext cx="548640" cy="548640"/>
          </a:xfrm>
          <a:prstGeom prst="ellipse">
            <a:avLst/>
          </a:prstGeom>
          <a:solidFill>
            <a:schemeClr val="accent1"/>
          </a:solidFill>
          <a:ln/>
        </p:spPr>
      </p:sp>
      <p:pic>
        <p:nvPicPr>
          <p:cNvPr id="23" name="Image 3" descr="Cogs icon">    </p:cNvPr>
          <p:cNvPicPr>
            <a:picLocks noChangeAspect="1"/>
          </p:cNvPicPr>
          <p:nvPr/>
        </p:nvPicPr>
        <p:blipFill>
          <a:blip r:embed="rId4"/>
          <a:stretch>
            <a:fillRect/>
          </a:stretch>
        </p:blipFill>
        <p:spPr>
          <a:xfrm>
            <a:off x="9372577" y="1737360"/>
            <a:ext cx="274320" cy="274320"/>
          </a:xfrm>
          <a:prstGeom prst="rect">
            <a:avLst/>
          </a:prstGeom>
        </p:spPr>
      </p:pic>
      <p:sp>
        <p:nvSpPr>
          <p:cNvPr id="24" name="Text 18"/>
          <p:cNvSpPr txBox="1"/>
          <p:nvPr/>
        </p:nvSpPr>
        <p:spPr>
          <a:xfrm>
            <a:off x="9921217" y="1572768"/>
            <a:ext cx="1600223" cy="365760"/>
          </a:xfrm>
          <a:prstGeom prst="rect">
            <a:avLst/>
          </a:prstGeom>
          <a:noFill/>
          <a:ln/>
        </p:spPr>
        <p:txBody>
          <a:bodyPr wrap="square" lIns="0" tIns="0" rIns="0" bIns="0" rtlCol="0" anchor="t"/>
          <a:lstStyle/>
          <a:p>
            <a:pPr indent="0" marL="0">
              <a:buNone/>
            </a:pPr>
            <a:r>
              <a:rPr lang="en-US" sz="2000" b="1" dirty="0">
                <a:solidFill>
                  <a:schemeClr val="tx2"/>
                </a:solidFill>
              </a:rPr>
              <a:t>System</a:t>
            </a:r>
            <a:endParaRPr lang="en-US" sz="2000" dirty="0"/>
          </a:p>
        </p:txBody>
      </p:sp>
      <p:sp>
        <p:nvSpPr>
          <p:cNvPr id="25" name="Text 19"/>
          <p:cNvSpPr txBox="1"/>
          <p:nvPr/>
        </p:nvSpPr>
        <p:spPr>
          <a:xfrm>
            <a:off x="9921217" y="1956816"/>
            <a:ext cx="1600223" cy="274320"/>
          </a:xfrm>
          <a:prstGeom prst="rect">
            <a:avLst/>
          </a:prstGeom>
          <a:noFill/>
          <a:ln/>
        </p:spPr>
        <p:txBody>
          <a:bodyPr wrap="square" lIns="0" tIns="0" rIns="0" bIns="0" rtlCol="0" anchor="t"/>
          <a:lstStyle/>
          <a:p>
            <a:pPr indent="0" marL="0">
              <a:buNone/>
            </a:pPr>
            <a:r>
              <a:rPr lang="en-US" sz="1200" dirty="0">
                <a:solidFill>
                  <a:schemeClr val="accent6"/>
                </a:solidFill>
              </a:rPr>
              <a:t>FR-01, FR-08</a:t>
            </a:r>
            <a:endParaRPr lang="en-US" sz="1200" dirty="0"/>
          </a:p>
        </p:txBody>
      </p:sp>
      <p:sp>
        <p:nvSpPr>
          <p:cNvPr id="26" name="Text 20"/>
          <p:cNvSpPr txBox="1"/>
          <p:nvPr/>
        </p:nvSpPr>
        <p:spPr>
          <a:xfrm>
            <a:off x="9235417" y="2514600"/>
            <a:ext cx="2148863"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Secure login and logout</a:t>
            </a:r>
            <a:endParaRPr lang="en-US" sz="1400" dirty="0"/>
          </a:p>
          <a:p>
            <a:pPr marL="342900" indent="-342900">
              <a:spcAft>
                <a:spcPts val="600"/>
              </a:spcAft>
              <a:buSzPct val="100000"/>
              <a:buChar char="•"/>
            </a:pPr>
            <a:r>
              <a:rPr lang="en-US" sz="1400" dirty="0">
                <a:solidFill>
                  <a:schemeClr val="tx1"/>
                </a:solidFill>
              </a:rPr>
              <a:t>Compute totals and grades</a:t>
            </a:r>
            <a:endParaRPr lang="en-US" sz="1400" dirty="0"/>
          </a:p>
          <a:p>
            <a:pPr marL="342900" indent="-342900">
              <a:spcAft>
                <a:spcPts val="600"/>
              </a:spcAft>
              <a:buSzPct val="100000"/>
              <a:buChar char="•"/>
            </a:pPr>
            <a:r>
              <a:rPr lang="en-US" sz="1400" dirty="0">
                <a:solidFill>
                  <a:schemeClr val="tx1"/>
                </a:solidFill>
              </a:rPr>
              <a:t>Derive attendance % and result</a:t>
            </a:r>
            <a:endParaRPr lang="en-US" sz="1400" dirty="0"/>
          </a:p>
        </p:txBody>
      </p:sp>
      <p:sp>
        <p:nvSpPr>
          <p:cNvPr id="27" name="rule-card"/>
          <p:cNvSpPr/>
          <p:nvPr/>
        </p:nvSpPr>
        <p:spPr>
          <a:xfrm>
            <a:off x="548640" y="4434840"/>
            <a:ext cx="2606063" cy="1097280"/>
          </a:xfrm>
          <a:prstGeom prst="roundRect">
            <a:avLst>
              <a:gd name="adj" fmla="val 10000"/>
            </a:avLst>
          </a:prstGeom>
          <a:solidFill>
            <a:schemeClr val="tx2"/>
          </a:solidFill>
          <a:ln/>
        </p:spPr>
      </p:sp>
      <p:sp>
        <p:nvSpPr>
          <p:cNvPr id="28" name="Text 22"/>
          <p:cNvSpPr txBox="1"/>
          <p:nvPr/>
        </p:nvSpPr>
        <p:spPr>
          <a:xfrm>
            <a:off x="777240" y="4507992"/>
            <a:ext cx="2148863" cy="548640"/>
          </a:xfrm>
          <a:prstGeom prst="rect">
            <a:avLst/>
          </a:prstGeom>
          <a:noFill/>
          <a:ln/>
        </p:spPr>
        <p:txBody>
          <a:bodyPr wrap="square" lIns="0" tIns="0" rIns="0" bIns="0" rtlCol="0" anchor="ctr"/>
          <a:lstStyle/>
          <a:p>
            <a:pPr indent="0" marL="0">
              <a:buNone/>
            </a:pPr>
            <a:r>
              <a:rPr lang="en-US" sz="3000" b="1" dirty="0">
                <a:solidFill>
                  <a:schemeClr val="accent2"/>
                </a:solidFill>
              </a:rPr>
              <a:t>75%</a:t>
            </a:r>
            <a:endParaRPr lang="en-US" sz="3000" dirty="0"/>
          </a:p>
        </p:txBody>
      </p:sp>
      <p:sp>
        <p:nvSpPr>
          <p:cNvPr id="29" name="Text 23"/>
          <p:cNvSpPr txBox="1"/>
          <p:nvPr/>
        </p:nvSpPr>
        <p:spPr>
          <a:xfrm>
            <a:off x="777240" y="5029200"/>
            <a:ext cx="2148863" cy="457200"/>
          </a:xfrm>
          <a:prstGeom prst="rect">
            <a:avLst/>
          </a:prstGeom>
          <a:noFill/>
          <a:ln/>
        </p:spPr>
        <p:txBody>
          <a:bodyPr wrap="square" lIns="0" tIns="0" rIns="0" bIns="0" rtlCol="0" anchor="t"/>
          <a:lstStyle/>
          <a:p>
            <a:pPr indent="0" marL="0">
              <a:buNone/>
            </a:pPr>
            <a:r>
              <a:rPr lang="en-US" sz="1400" dirty="0">
                <a:solidFill>
                  <a:schemeClr val="bg1"/>
                </a:solidFill>
              </a:rPr>
              <a:t>minimum attendance of conducted sessions</a:t>
            </a:r>
            <a:endParaRPr lang="en-US" sz="1400" dirty="0"/>
          </a:p>
        </p:txBody>
      </p:sp>
      <p:sp>
        <p:nvSpPr>
          <p:cNvPr id="30" name="rule-card"/>
          <p:cNvSpPr/>
          <p:nvPr/>
        </p:nvSpPr>
        <p:spPr>
          <a:xfrm>
            <a:off x="3368032" y="4434840"/>
            <a:ext cx="2606063" cy="1097280"/>
          </a:xfrm>
          <a:prstGeom prst="roundRect">
            <a:avLst>
              <a:gd name="adj" fmla="val 10000"/>
            </a:avLst>
          </a:prstGeom>
          <a:solidFill>
            <a:schemeClr val="tx2"/>
          </a:solidFill>
          <a:ln/>
        </p:spPr>
      </p:sp>
      <p:sp>
        <p:nvSpPr>
          <p:cNvPr id="31" name="Text 25"/>
          <p:cNvSpPr txBox="1"/>
          <p:nvPr/>
        </p:nvSpPr>
        <p:spPr>
          <a:xfrm>
            <a:off x="3596632" y="4507992"/>
            <a:ext cx="2148863" cy="548640"/>
          </a:xfrm>
          <a:prstGeom prst="rect">
            <a:avLst/>
          </a:prstGeom>
          <a:noFill/>
          <a:ln/>
        </p:spPr>
        <p:txBody>
          <a:bodyPr wrap="square" lIns="0" tIns="0" rIns="0" bIns="0" rtlCol="0" anchor="ctr"/>
          <a:lstStyle/>
          <a:p>
            <a:pPr indent="0" marL="0">
              <a:buNone/>
            </a:pPr>
            <a:r>
              <a:rPr lang="en-US" sz="3000" b="1" dirty="0">
                <a:solidFill>
                  <a:schemeClr val="accent2"/>
                </a:solidFill>
              </a:rPr>
              <a:t>40%</a:t>
            </a:r>
            <a:endParaRPr lang="en-US" sz="3000" dirty="0"/>
          </a:p>
        </p:txBody>
      </p:sp>
      <p:sp>
        <p:nvSpPr>
          <p:cNvPr id="32" name="Text 26"/>
          <p:cNvSpPr txBox="1"/>
          <p:nvPr/>
        </p:nvSpPr>
        <p:spPr>
          <a:xfrm>
            <a:off x="3596632" y="5029200"/>
            <a:ext cx="2148863" cy="457200"/>
          </a:xfrm>
          <a:prstGeom prst="rect">
            <a:avLst/>
          </a:prstGeom>
          <a:noFill/>
          <a:ln/>
        </p:spPr>
        <p:txBody>
          <a:bodyPr wrap="square" lIns="0" tIns="0" rIns="0" bIns="0" rtlCol="0" anchor="t"/>
          <a:lstStyle/>
          <a:p>
            <a:pPr indent="0" marL="0">
              <a:buNone/>
            </a:pPr>
            <a:r>
              <a:rPr lang="en-US" sz="1400" dirty="0">
                <a:solidFill>
                  <a:schemeClr val="bg1"/>
                </a:solidFill>
              </a:rPr>
              <a:t>pass mark of the maximum score</a:t>
            </a:r>
            <a:endParaRPr lang="en-US" sz="1400" dirty="0"/>
          </a:p>
        </p:txBody>
      </p:sp>
      <p:sp>
        <p:nvSpPr>
          <p:cNvPr id="33" name="rule-card"/>
          <p:cNvSpPr/>
          <p:nvPr/>
        </p:nvSpPr>
        <p:spPr>
          <a:xfrm>
            <a:off x="6187425" y="4434840"/>
            <a:ext cx="2606063" cy="1097280"/>
          </a:xfrm>
          <a:prstGeom prst="roundRect">
            <a:avLst>
              <a:gd name="adj" fmla="val 10000"/>
            </a:avLst>
          </a:prstGeom>
          <a:solidFill>
            <a:schemeClr val="tx2"/>
          </a:solidFill>
          <a:ln/>
        </p:spPr>
      </p:sp>
      <p:sp>
        <p:nvSpPr>
          <p:cNvPr id="34" name="Text 28"/>
          <p:cNvSpPr txBox="1"/>
          <p:nvPr/>
        </p:nvSpPr>
        <p:spPr>
          <a:xfrm>
            <a:off x="6416025" y="4507992"/>
            <a:ext cx="2148863" cy="548640"/>
          </a:xfrm>
          <a:prstGeom prst="rect">
            <a:avLst/>
          </a:prstGeom>
          <a:noFill/>
          <a:ln/>
        </p:spPr>
        <p:txBody>
          <a:bodyPr wrap="square" lIns="0" tIns="0" rIns="0" bIns="0" rtlCol="0" anchor="ctr"/>
          <a:lstStyle/>
          <a:p>
            <a:pPr indent="0" marL="0">
              <a:buNone/>
            </a:pPr>
            <a:r>
              <a:rPr lang="en-US" sz="3000" b="1" dirty="0">
                <a:solidFill>
                  <a:schemeClr val="accent2"/>
                </a:solidFill>
              </a:rPr>
              <a:t>7</a:t>
            </a:r>
            <a:endParaRPr lang="en-US" sz="3000" dirty="0"/>
          </a:p>
        </p:txBody>
      </p:sp>
      <p:sp>
        <p:nvSpPr>
          <p:cNvPr id="35" name="Text 29"/>
          <p:cNvSpPr txBox="1"/>
          <p:nvPr/>
        </p:nvSpPr>
        <p:spPr>
          <a:xfrm>
            <a:off x="6416025" y="5029200"/>
            <a:ext cx="2148863" cy="457200"/>
          </a:xfrm>
          <a:prstGeom prst="rect">
            <a:avLst/>
          </a:prstGeom>
          <a:noFill/>
          <a:ln/>
        </p:spPr>
        <p:txBody>
          <a:bodyPr wrap="square" lIns="0" tIns="0" rIns="0" bIns="0" rtlCol="0" anchor="t"/>
          <a:lstStyle/>
          <a:p>
            <a:pPr indent="0" marL="0">
              <a:buNone/>
            </a:pPr>
            <a:r>
              <a:rPr lang="en-US" sz="1400" dirty="0">
                <a:solidFill>
                  <a:schemeClr val="bg1"/>
                </a:solidFill>
              </a:rPr>
              <a:t>grade bands, from O down to RA</a:t>
            </a:r>
            <a:endParaRPr lang="en-US" sz="1400" dirty="0"/>
          </a:p>
        </p:txBody>
      </p:sp>
      <p:sp>
        <p:nvSpPr>
          <p:cNvPr id="36" name="rule-card"/>
          <p:cNvSpPr/>
          <p:nvPr/>
        </p:nvSpPr>
        <p:spPr>
          <a:xfrm>
            <a:off x="9006817" y="4434840"/>
            <a:ext cx="2606063" cy="1097280"/>
          </a:xfrm>
          <a:prstGeom prst="roundRect">
            <a:avLst>
              <a:gd name="adj" fmla="val 10000"/>
            </a:avLst>
          </a:prstGeom>
          <a:solidFill>
            <a:schemeClr val="tx2"/>
          </a:solidFill>
          <a:ln/>
        </p:spPr>
      </p:sp>
      <p:sp>
        <p:nvSpPr>
          <p:cNvPr id="37" name="Text 31"/>
          <p:cNvSpPr txBox="1"/>
          <p:nvPr/>
        </p:nvSpPr>
        <p:spPr>
          <a:xfrm>
            <a:off x="9235417" y="4507992"/>
            <a:ext cx="2148863" cy="548640"/>
          </a:xfrm>
          <a:prstGeom prst="rect">
            <a:avLst/>
          </a:prstGeom>
          <a:noFill/>
          <a:ln/>
        </p:spPr>
        <p:txBody>
          <a:bodyPr wrap="square" lIns="0" tIns="0" rIns="0" bIns="0" rtlCol="0" anchor="ctr"/>
          <a:lstStyle/>
          <a:p>
            <a:pPr indent="0" marL="0">
              <a:buNone/>
            </a:pPr>
            <a:r>
              <a:rPr lang="en-US" sz="3000" b="1" dirty="0">
                <a:solidFill>
                  <a:schemeClr val="accent2"/>
                </a:solidFill>
              </a:rPr>
              <a:t>Config</a:t>
            </a:r>
            <a:endParaRPr lang="en-US" sz="3000" dirty="0"/>
          </a:p>
        </p:txBody>
      </p:sp>
      <p:sp>
        <p:nvSpPr>
          <p:cNvPr id="38" name="Text 32"/>
          <p:cNvSpPr txBox="1"/>
          <p:nvPr/>
        </p:nvSpPr>
        <p:spPr>
          <a:xfrm>
            <a:off x="9235417" y="5029200"/>
            <a:ext cx="2148863" cy="457200"/>
          </a:xfrm>
          <a:prstGeom prst="rect">
            <a:avLst/>
          </a:prstGeom>
          <a:noFill/>
          <a:ln/>
        </p:spPr>
        <p:txBody>
          <a:bodyPr wrap="square" lIns="0" tIns="0" rIns="0" bIns="0" rtlCol="0" anchor="t"/>
          <a:lstStyle/>
          <a:p>
            <a:pPr indent="0" marL="0">
              <a:buNone/>
            </a:pPr>
            <a:r>
              <a:rPr lang="en-US" sz="1400" dirty="0">
                <a:solidFill>
                  <a:schemeClr val="bg1"/>
                </a:solidFill>
              </a:rPr>
              <a:t>rules stored as settings, no code change</a:t>
            </a:r>
            <a:endParaRPr lang="en-US" sz="1400" dirty="0"/>
          </a:p>
        </p:txBody>
      </p:sp>
      <p:sp>
        <p:nvSpPr>
          <p:cNvPr id="39" name="nfr-bar"/>
          <p:cNvSpPr/>
          <p:nvPr/>
        </p:nvSpPr>
        <p:spPr>
          <a:xfrm>
            <a:off x="548640" y="5715000"/>
            <a:ext cx="11064240" cy="457200"/>
          </a:xfrm>
          <a:prstGeom prst="roundRect">
            <a:avLst>
              <a:gd name="adj" fmla="val 24000"/>
            </a:avLst>
          </a:prstGeom>
          <a:solidFill>
            <a:schemeClr val="bg2"/>
          </a:solidFill>
          <a:ln/>
        </p:spPr>
      </p:sp>
      <p:sp>
        <p:nvSpPr>
          <p:cNvPr id="40" name="Text 34"/>
          <p:cNvSpPr txBox="1"/>
          <p:nvPr/>
        </p:nvSpPr>
        <p:spPr>
          <a:xfrm>
            <a:off x="777240" y="5715000"/>
            <a:ext cx="10607040" cy="457200"/>
          </a:xfrm>
          <a:prstGeom prst="rect">
            <a:avLst/>
          </a:prstGeom>
          <a:noFill/>
          <a:ln/>
        </p:spPr>
        <p:txBody>
          <a:bodyPr wrap="square" lIns="0" tIns="0" rIns="0" bIns="0" rtlCol="0" anchor="ctr"/>
          <a:lstStyle/>
          <a:p>
            <a:pPr indent="0" marL="0">
              <a:buNone/>
            </a:pPr>
            <a:r>
              <a:rPr lang="en-US" sz="1400" b="1" dirty="0">
                <a:solidFill>
                  <a:schemeClr val="tx2"/>
                </a:solidFill>
              </a:rPr>
              <a:t>Non-functional:  </a:t>
            </a:r>
            <a:pPr indent="0" marL="0">
              <a:buNone/>
            </a:pPr>
            <a:r>
              <a:rPr lang="en-US" sz="1400" dirty="0">
                <a:solidFill>
                  <a:schemeClr val="tx1"/>
                </a:solidFill>
              </a:rPr>
              <a:t>security · usability · reliability · performance · maintainability · portability</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Layered architecture</a:t>
            </a:r>
            <a:endParaRPr lang="en-US" sz="3600" dirty="0"/>
          </a:p>
        </p:txBody>
      </p:sp>
      <p:sp>
        <p:nvSpPr>
          <p:cNvPr id="3" name="arch-frame"/>
          <p:cNvSpPr/>
          <p:nvPr/>
        </p:nvSpPr>
        <p:spPr>
          <a:xfrm>
            <a:off x="548640" y="1371600"/>
            <a:ext cx="11064240" cy="3657600"/>
          </a:xfrm>
          <a:prstGeom prst="roundRect">
            <a:avLst>
              <a:gd name="adj" fmla="val 3000"/>
            </a:avLst>
          </a:prstGeom>
          <a:solidFill>
            <a:schemeClr val="bg2"/>
          </a:solidFill>
          <a:ln/>
        </p:spPr>
      </p:sp>
      <p:pic>
        <p:nvPicPr>
          <p:cNvPr id="4" name="Image 0" descr="Layered architecture: presentation, views, service layer, data access and MySQL, with Django authentication beside the views">    </p:cNvPr>
          <p:cNvPicPr>
            <a:picLocks noChangeAspect="1"/>
          </p:cNvPicPr>
          <p:nvPr/>
        </p:nvPicPr>
        <p:blipFill>
          <a:blip r:embed="rId1"/>
          <a:stretch>
            <a:fillRect/>
          </a:stretch>
        </p:blipFill>
        <p:spPr>
          <a:xfrm>
            <a:off x="777240" y="1508760"/>
            <a:ext cx="10607040" cy="3419856"/>
          </a:xfrm>
          <a:prstGeom prst="rect">
            <a:avLst/>
          </a:prstGeom>
        </p:spPr>
      </p:pic>
      <p:sp>
        <p:nvSpPr>
          <p:cNvPr id="5" name="icon-bg"/>
          <p:cNvSpPr/>
          <p:nvPr/>
        </p:nvSpPr>
        <p:spPr>
          <a:xfrm>
            <a:off x="548640" y="5303520"/>
            <a:ext cx="548640" cy="548640"/>
          </a:xfrm>
          <a:prstGeom prst="ellipse">
            <a:avLst/>
          </a:prstGeom>
          <a:solidFill>
            <a:schemeClr val="accent1"/>
          </a:solidFill>
          <a:ln/>
        </p:spPr>
      </p:sp>
      <p:pic>
        <p:nvPicPr>
          <p:cNvPr id="6" name="Image 1" descr="LayerGroup icon">    </p:cNvPr>
          <p:cNvPicPr>
            <a:picLocks noChangeAspect="1"/>
          </p:cNvPicPr>
          <p:nvPr/>
        </p:nvPicPr>
        <p:blipFill>
          <a:blip r:embed="rId2"/>
          <a:stretch>
            <a:fillRect/>
          </a:stretch>
        </p:blipFill>
        <p:spPr>
          <a:xfrm>
            <a:off x="685800" y="5440680"/>
            <a:ext cx="274320" cy="274320"/>
          </a:xfrm>
          <a:prstGeom prst="rect">
            <a:avLst/>
          </a:prstGeom>
        </p:spPr>
      </p:pic>
      <p:sp>
        <p:nvSpPr>
          <p:cNvPr id="7" name="Text 3"/>
          <p:cNvSpPr txBox="1"/>
          <p:nvPr/>
        </p:nvSpPr>
        <p:spPr>
          <a:xfrm>
            <a:off x="1280160" y="5257800"/>
            <a:ext cx="2727960" cy="320040"/>
          </a:xfrm>
          <a:prstGeom prst="rect">
            <a:avLst/>
          </a:prstGeom>
          <a:noFill/>
          <a:ln/>
        </p:spPr>
        <p:txBody>
          <a:bodyPr wrap="square" lIns="0" tIns="0" rIns="0" bIns="0" rtlCol="0" anchor="t"/>
          <a:lstStyle/>
          <a:p>
            <a:pPr indent="0" marL="0">
              <a:buNone/>
            </a:pPr>
            <a:r>
              <a:rPr lang="en-US" sz="1600" b="1" dirty="0">
                <a:solidFill>
                  <a:schemeClr val="tx2"/>
                </a:solidFill>
              </a:rPr>
              <a:t>One responsibility per layer</a:t>
            </a:r>
            <a:endParaRPr lang="en-US" sz="1600" dirty="0"/>
          </a:p>
        </p:txBody>
      </p:sp>
      <p:sp>
        <p:nvSpPr>
          <p:cNvPr id="8" name="Text 4"/>
          <p:cNvSpPr txBox="1"/>
          <p:nvPr/>
        </p:nvSpPr>
        <p:spPr>
          <a:xfrm>
            <a:off x="1280160" y="5596128"/>
            <a:ext cx="2727960" cy="548640"/>
          </a:xfrm>
          <a:prstGeom prst="rect">
            <a:avLst/>
          </a:prstGeom>
          <a:noFill/>
          <a:ln/>
        </p:spPr>
        <p:txBody>
          <a:bodyPr wrap="square" lIns="0" tIns="0" rIns="0" bIns="0" rtlCol="0" anchor="t"/>
          <a:lstStyle/>
          <a:p>
            <a:pPr indent="0" marL="0">
              <a:buNone/>
            </a:pPr>
            <a:r>
              <a:rPr lang="en-US" sz="1400" dirty="0">
                <a:solidFill>
                  <a:schemeClr val="tx1"/>
                </a:solidFill>
              </a:rPr>
              <a:t>Easier to understand, test and extend</a:t>
            </a:r>
            <a:endParaRPr lang="en-US" sz="1400" dirty="0"/>
          </a:p>
        </p:txBody>
      </p:sp>
      <p:sp>
        <p:nvSpPr>
          <p:cNvPr id="9" name="icon-bg"/>
          <p:cNvSpPr/>
          <p:nvPr/>
        </p:nvSpPr>
        <p:spPr>
          <a:xfrm>
            <a:off x="4328160" y="5303520"/>
            <a:ext cx="548640" cy="548640"/>
          </a:xfrm>
          <a:prstGeom prst="ellipse">
            <a:avLst/>
          </a:prstGeom>
          <a:solidFill>
            <a:schemeClr val="accent1"/>
          </a:solidFill>
          <a:ln/>
        </p:spPr>
      </p:sp>
      <p:pic>
        <p:nvPicPr>
          <p:cNvPr id="10" name="Image 2" descr="Lock icon">    </p:cNvPr>
          <p:cNvPicPr>
            <a:picLocks noChangeAspect="1"/>
          </p:cNvPicPr>
          <p:nvPr/>
        </p:nvPicPr>
        <p:blipFill>
          <a:blip r:embed="rId3"/>
          <a:stretch>
            <a:fillRect/>
          </a:stretch>
        </p:blipFill>
        <p:spPr>
          <a:xfrm>
            <a:off x="4465320" y="5440680"/>
            <a:ext cx="274320" cy="274320"/>
          </a:xfrm>
          <a:prstGeom prst="rect">
            <a:avLst/>
          </a:prstGeom>
        </p:spPr>
      </p:pic>
      <p:sp>
        <p:nvSpPr>
          <p:cNvPr id="11" name="Text 6"/>
          <p:cNvSpPr txBox="1"/>
          <p:nvPr/>
        </p:nvSpPr>
        <p:spPr>
          <a:xfrm>
            <a:off x="5059680" y="5257800"/>
            <a:ext cx="2727960" cy="320040"/>
          </a:xfrm>
          <a:prstGeom prst="rect">
            <a:avLst/>
          </a:prstGeom>
          <a:noFill/>
          <a:ln/>
        </p:spPr>
        <p:txBody>
          <a:bodyPr wrap="square" lIns="0" tIns="0" rIns="0" bIns="0" rtlCol="0" anchor="t"/>
          <a:lstStyle/>
          <a:p>
            <a:pPr indent="0" marL="0">
              <a:buNone/>
            </a:pPr>
            <a:r>
              <a:rPr lang="en-US" sz="1600" b="1" dirty="0">
                <a:solidFill>
                  <a:schemeClr val="tx2"/>
                </a:solidFill>
              </a:rPr>
              <a:t>Security checks every request</a:t>
            </a:r>
            <a:endParaRPr lang="en-US" sz="1600" dirty="0"/>
          </a:p>
        </p:txBody>
      </p:sp>
      <p:sp>
        <p:nvSpPr>
          <p:cNvPr id="12" name="Text 7"/>
          <p:cNvSpPr txBox="1"/>
          <p:nvPr/>
        </p:nvSpPr>
        <p:spPr>
          <a:xfrm>
            <a:off x="5059680" y="5596128"/>
            <a:ext cx="2727960" cy="548640"/>
          </a:xfrm>
          <a:prstGeom prst="rect">
            <a:avLst/>
          </a:prstGeom>
          <a:noFill/>
          <a:ln/>
        </p:spPr>
        <p:txBody>
          <a:bodyPr wrap="square" lIns="0" tIns="0" rIns="0" bIns="0" rtlCol="0" anchor="t"/>
          <a:lstStyle/>
          <a:p>
            <a:pPr indent="0" marL="0">
              <a:buNone/>
            </a:pPr>
            <a:r>
              <a:rPr lang="en-US" sz="1400" dirty="0">
                <a:solidFill>
                  <a:schemeClr val="tx1"/>
                </a:solidFill>
              </a:rPr>
              <a:t>Identity and role verified before business logic</a:t>
            </a:r>
            <a:endParaRPr lang="en-US" sz="1400" dirty="0"/>
          </a:p>
        </p:txBody>
      </p:sp>
      <p:sp>
        <p:nvSpPr>
          <p:cNvPr id="13" name="icon-bg"/>
          <p:cNvSpPr/>
          <p:nvPr/>
        </p:nvSpPr>
        <p:spPr>
          <a:xfrm>
            <a:off x="8107680" y="5303520"/>
            <a:ext cx="548640" cy="548640"/>
          </a:xfrm>
          <a:prstGeom prst="ellipse">
            <a:avLst/>
          </a:prstGeom>
          <a:solidFill>
            <a:schemeClr val="accent1"/>
          </a:solidFill>
          <a:ln/>
        </p:spPr>
      </p:sp>
      <p:pic>
        <p:nvPicPr>
          <p:cNvPr id="14" name="Image 3" descr="ClipboardCheck icon">    </p:cNvPr>
          <p:cNvPicPr>
            <a:picLocks noChangeAspect="1"/>
          </p:cNvPicPr>
          <p:nvPr/>
        </p:nvPicPr>
        <p:blipFill>
          <a:blip r:embed="rId4"/>
          <a:stretch>
            <a:fillRect/>
          </a:stretch>
        </p:blipFill>
        <p:spPr>
          <a:xfrm>
            <a:off x="8244840" y="5440680"/>
            <a:ext cx="274320" cy="274320"/>
          </a:xfrm>
          <a:prstGeom prst="rect">
            <a:avLst/>
          </a:prstGeom>
        </p:spPr>
      </p:pic>
      <p:sp>
        <p:nvSpPr>
          <p:cNvPr id="15" name="Text 9"/>
          <p:cNvSpPr txBox="1"/>
          <p:nvPr/>
        </p:nvSpPr>
        <p:spPr>
          <a:xfrm>
            <a:off x="8839200" y="5257800"/>
            <a:ext cx="2727960" cy="320040"/>
          </a:xfrm>
          <a:prstGeom prst="rect">
            <a:avLst/>
          </a:prstGeom>
          <a:noFill/>
          <a:ln/>
        </p:spPr>
        <p:txBody>
          <a:bodyPr wrap="square" lIns="0" tIns="0" rIns="0" bIns="0" rtlCol="0" anchor="t"/>
          <a:lstStyle/>
          <a:p>
            <a:pPr indent="0" marL="0">
              <a:buNone/>
            </a:pPr>
            <a:r>
              <a:rPr lang="en-US" sz="1600" b="1" dirty="0">
                <a:solidFill>
                  <a:schemeClr val="tx2"/>
                </a:solidFill>
              </a:rPr>
              <a:t>Rules live in services</a:t>
            </a:r>
            <a:endParaRPr lang="en-US" sz="1600" dirty="0"/>
          </a:p>
        </p:txBody>
      </p:sp>
      <p:sp>
        <p:nvSpPr>
          <p:cNvPr id="16" name="Text 10"/>
          <p:cNvSpPr txBox="1"/>
          <p:nvPr/>
        </p:nvSpPr>
        <p:spPr>
          <a:xfrm>
            <a:off x="8839200" y="5596128"/>
            <a:ext cx="2727960" cy="548640"/>
          </a:xfrm>
          <a:prstGeom prst="rect">
            <a:avLst/>
          </a:prstGeom>
          <a:noFill/>
          <a:ln/>
        </p:spPr>
        <p:txBody>
          <a:bodyPr wrap="square" lIns="0" tIns="0" rIns="0" bIns="0" rtlCol="0" anchor="t"/>
          <a:lstStyle/>
          <a:p>
            <a:pPr indent="0" marL="0">
              <a:buNone/>
            </a:pPr>
            <a:r>
              <a:rPr lang="en-US" sz="1400" dirty="0">
                <a:solidFill>
                  <a:schemeClr val="tx1"/>
                </a:solidFill>
              </a:rPr>
              <a:t>Grading and attendance unit-tested on their own</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Use cases and data model</a:t>
            </a:r>
            <a:endParaRPr lang="en-US" sz="3600" dirty="0"/>
          </a:p>
        </p:txBody>
      </p:sp>
      <p:sp>
        <p:nvSpPr>
          <p:cNvPr id="3" name="usecase-frame"/>
          <p:cNvSpPr/>
          <p:nvPr/>
        </p:nvSpPr>
        <p:spPr>
          <a:xfrm>
            <a:off x="548640" y="1371600"/>
            <a:ext cx="5120640" cy="3840480"/>
          </a:xfrm>
          <a:prstGeom prst="roundRect">
            <a:avLst>
              <a:gd name="adj" fmla="val 2857"/>
            </a:avLst>
          </a:prstGeom>
          <a:solidFill>
            <a:schemeClr val="bg2"/>
          </a:solidFill>
          <a:ln/>
        </p:spPr>
      </p:sp>
      <p:pic>
        <p:nvPicPr>
          <p:cNvPr id="4" name="Image 0" descr="Use case diagram for administrator, faculty and student">    </p:cNvPr>
          <p:cNvPicPr>
            <a:picLocks noChangeAspect="1"/>
          </p:cNvPicPr>
          <p:nvPr/>
        </p:nvPicPr>
        <p:blipFill>
          <a:blip r:embed="rId1"/>
          <a:stretch>
            <a:fillRect/>
          </a:stretch>
        </p:blipFill>
        <p:spPr>
          <a:xfrm>
            <a:off x="634822" y="1508760"/>
            <a:ext cx="4948276" cy="3611880"/>
          </a:xfrm>
          <a:prstGeom prst="rect">
            <a:avLst/>
          </a:prstGeom>
        </p:spPr>
      </p:pic>
      <p:sp>
        <p:nvSpPr>
          <p:cNvPr id="5" name="er-frame"/>
          <p:cNvSpPr/>
          <p:nvPr/>
        </p:nvSpPr>
        <p:spPr>
          <a:xfrm>
            <a:off x="5897880" y="1371600"/>
            <a:ext cx="5715000" cy="3840480"/>
          </a:xfrm>
          <a:prstGeom prst="roundRect">
            <a:avLst>
              <a:gd name="adj" fmla="val 2857"/>
            </a:avLst>
          </a:prstGeom>
          <a:solidFill>
            <a:schemeClr val="bg2"/>
          </a:solidFill>
          <a:ln/>
        </p:spPr>
      </p:sp>
      <p:pic>
        <p:nvPicPr>
          <p:cNvPr id="6" name="Image 1" descr="Entity-relationship diagram with eight entities">    </p:cNvPr>
          <p:cNvPicPr>
            <a:picLocks noChangeAspect="1"/>
          </p:cNvPicPr>
          <p:nvPr/>
        </p:nvPicPr>
        <p:blipFill>
          <a:blip r:embed="rId2"/>
          <a:stretch>
            <a:fillRect/>
          </a:stretch>
        </p:blipFill>
        <p:spPr>
          <a:xfrm>
            <a:off x="6035040" y="1596924"/>
            <a:ext cx="5440680" cy="3389832"/>
          </a:xfrm>
          <a:prstGeom prst="rect">
            <a:avLst/>
          </a:prstGeom>
        </p:spPr>
      </p:pic>
      <p:sp>
        <p:nvSpPr>
          <p:cNvPr id="7" name="Text 3"/>
          <p:cNvSpPr txBox="1"/>
          <p:nvPr/>
        </p:nvSpPr>
        <p:spPr>
          <a:xfrm>
            <a:off x="548640" y="5440680"/>
            <a:ext cx="5120640" cy="731520"/>
          </a:xfrm>
          <a:prstGeom prst="rect">
            <a:avLst/>
          </a:prstGeom>
          <a:noFill/>
          <a:ln/>
        </p:spPr>
        <p:txBody>
          <a:bodyPr wrap="square" lIns="0" tIns="0" rIns="0" bIns="0" rtlCol="0" anchor="t"/>
          <a:lstStyle/>
          <a:p>
            <a:pPr indent="0" marL="0">
              <a:buNone/>
            </a:pPr>
            <a:r>
              <a:rPr lang="en-US" sz="1400" b="1" dirty="0">
                <a:solidFill>
                  <a:schemeClr val="tx2"/>
                </a:solidFill>
              </a:rPr>
              <a:t>Three roles. </a:t>
            </a:r>
            <a:pPr indent="0" marL="0">
              <a:buNone/>
            </a:pPr>
            <a:r>
              <a:rPr lang="en-US" sz="1400" dirty="0">
                <a:solidFill>
                  <a:schemeClr val="tx1"/>
                </a:solidFill>
              </a:rPr>
              <a:t>Everyone logs in first; each role then has its own permitted functions.</a:t>
            </a:r>
            <a:endParaRPr lang="en-US" sz="1400" dirty="0"/>
          </a:p>
        </p:txBody>
      </p:sp>
      <p:sp>
        <p:nvSpPr>
          <p:cNvPr id="8" name="Text 4"/>
          <p:cNvSpPr txBox="1"/>
          <p:nvPr/>
        </p:nvSpPr>
        <p:spPr>
          <a:xfrm>
            <a:off x="5897880" y="5440680"/>
            <a:ext cx="5715000" cy="731520"/>
          </a:xfrm>
          <a:prstGeom prst="rect">
            <a:avLst/>
          </a:prstGeom>
          <a:noFill/>
          <a:ln/>
        </p:spPr>
        <p:txBody>
          <a:bodyPr wrap="square" lIns="0" tIns="0" rIns="0" bIns="0" rtlCol="0" anchor="t"/>
          <a:lstStyle/>
          <a:p>
            <a:pPr indent="0" marL="0">
              <a:buNone/>
            </a:pPr>
            <a:r>
              <a:rPr lang="en-US" sz="1400" b="1" dirty="0">
                <a:solidFill>
                  <a:schemeClr val="tx2"/>
                </a:solidFill>
              </a:rPr>
              <a:t>Eight entities. </a:t>
            </a:r>
            <a:pPr indent="0" marL="0">
              <a:buNone/>
            </a:pPr>
            <a:r>
              <a:rPr lang="en-US" sz="1400" dirty="0">
                <a:solidFill>
                  <a:schemeClr val="tx1"/>
                </a:solidFill>
              </a:rPr>
              <a:t>Attendance and marks hang off enrolment; foreign keys keep every record valid.</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From attendance to result</a:t>
            </a:r>
            <a:endParaRPr lang="en-US" sz="3600" dirty="0"/>
          </a:p>
        </p:txBody>
      </p:sp>
      <p:sp>
        <p:nvSpPr>
          <p:cNvPr id="3" name="flow-frame"/>
          <p:cNvSpPr/>
          <p:nvPr/>
        </p:nvSpPr>
        <p:spPr>
          <a:xfrm>
            <a:off x="548640" y="1371600"/>
            <a:ext cx="3931920" cy="4800600"/>
          </a:xfrm>
          <a:prstGeom prst="roundRect">
            <a:avLst>
              <a:gd name="adj" fmla="val 2791"/>
            </a:avLst>
          </a:prstGeom>
          <a:solidFill>
            <a:schemeClr val="bg2"/>
          </a:solidFill>
          <a:ln/>
        </p:spPr>
      </p:sp>
      <p:pic>
        <p:nvPicPr>
          <p:cNvPr id="4" name="Image 0" descr="Flowchart of attendance, marks entry and result processing">    </p:cNvPr>
          <p:cNvPicPr>
            <a:picLocks noChangeAspect="1"/>
          </p:cNvPicPr>
          <p:nvPr/>
        </p:nvPicPr>
        <p:blipFill>
          <a:blip r:embed="rId1"/>
          <a:stretch>
            <a:fillRect/>
          </a:stretch>
        </p:blipFill>
        <p:spPr>
          <a:xfrm>
            <a:off x="713232" y="1600200"/>
            <a:ext cx="3602736" cy="4572000"/>
          </a:xfrm>
          <a:prstGeom prst="rect">
            <a:avLst/>
          </a:prstGeom>
        </p:spPr>
      </p:pic>
      <p:sp>
        <p:nvSpPr>
          <p:cNvPr id="5" name="step-card"/>
          <p:cNvSpPr/>
          <p:nvPr/>
        </p:nvSpPr>
        <p:spPr>
          <a:xfrm>
            <a:off x="4754880" y="1371600"/>
            <a:ext cx="2103120" cy="1463040"/>
          </a:xfrm>
          <a:prstGeom prst="roundRect">
            <a:avLst>
              <a:gd name="adj" fmla="val 7500"/>
            </a:avLst>
          </a:prstGeom>
          <a:solidFill>
            <a:schemeClr val="bg2"/>
          </a:solidFill>
          <a:ln/>
        </p:spPr>
      </p:sp>
      <p:sp>
        <p:nvSpPr>
          <p:cNvPr id="6" name="num-bg"/>
          <p:cNvSpPr/>
          <p:nvPr/>
        </p:nvSpPr>
        <p:spPr>
          <a:xfrm>
            <a:off x="4983480" y="1554480"/>
            <a:ext cx="411480" cy="411480"/>
          </a:xfrm>
          <a:prstGeom prst="ellipse">
            <a:avLst/>
          </a:prstGeom>
          <a:solidFill>
            <a:schemeClr val="accent1"/>
          </a:solidFill>
          <a:ln/>
        </p:spPr>
      </p:sp>
      <p:sp>
        <p:nvSpPr>
          <p:cNvPr id="7" name="Text 4"/>
          <p:cNvSpPr txBox="1"/>
          <p:nvPr/>
        </p:nvSpPr>
        <p:spPr>
          <a:xfrm>
            <a:off x="498348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4983480" y="2103120"/>
            <a:ext cx="1691640" cy="685800"/>
          </a:xfrm>
          <a:prstGeom prst="rect">
            <a:avLst/>
          </a:prstGeom>
          <a:noFill/>
          <a:ln/>
        </p:spPr>
        <p:txBody>
          <a:bodyPr wrap="square" lIns="0" tIns="0" rIns="0" bIns="0" rtlCol="0" anchor="t"/>
          <a:lstStyle/>
          <a:p>
            <a:pPr indent="0" marL="0">
              <a:buNone/>
            </a:pPr>
            <a:r>
              <a:rPr lang="en-US" sz="1400" dirty="0">
                <a:solidFill>
                  <a:schemeClr val="tx1"/>
                </a:solidFill>
              </a:rPr>
              <a:t>Validate marks between 0 and the maximum</a:t>
            </a:r>
            <a:endParaRPr lang="en-US" sz="1400" dirty="0"/>
          </a:p>
        </p:txBody>
      </p:sp>
      <p:sp>
        <p:nvSpPr>
          <p:cNvPr id="9" name="step-card"/>
          <p:cNvSpPr/>
          <p:nvPr/>
        </p:nvSpPr>
        <p:spPr>
          <a:xfrm>
            <a:off x="7132320" y="1371600"/>
            <a:ext cx="2103120" cy="1463040"/>
          </a:xfrm>
          <a:prstGeom prst="roundRect">
            <a:avLst>
              <a:gd name="adj" fmla="val 7500"/>
            </a:avLst>
          </a:prstGeom>
          <a:solidFill>
            <a:schemeClr val="bg2"/>
          </a:solidFill>
          <a:ln/>
        </p:spPr>
      </p:sp>
      <p:sp>
        <p:nvSpPr>
          <p:cNvPr id="10" name="num-bg"/>
          <p:cNvSpPr/>
          <p:nvPr/>
        </p:nvSpPr>
        <p:spPr>
          <a:xfrm>
            <a:off x="7360920" y="1554480"/>
            <a:ext cx="411480" cy="411480"/>
          </a:xfrm>
          <a:prstGeom prst="ellipse">
            <a:avLst/>
          </a:prstGeom>
          <a:solidFill>
            <a:schemeClr val="accent1"/>
          </a:solidFill>
          <a:ln/>
        </p:spPr>
      </p:sp>
      <p:sp>
        <p:nvSpPr>
          <p:cNvPr id="11" name="Text 8"/>
          <p:cNvSpPr txBox="1"/>
          <p:nvPr/>
        </p:nvSpPr>
        <p:spPr>
          <a:xfrm>
            <a:off x="736092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7360920" y="2103120"/>
            <a:ext cx="1691640" cy="685800"/>
          </a:xfrm>
          <a:prstGeom prst="rect">
            <a:avLst/>
          </a:prstGeom>
          <a:noFill/>
          <a:ln/>
        </p:spPr>
        <p:txBody>
          <a:bodyPr wrap="square" lIns="0" tIns="0" rIns="0" bIns="0" rtlCol="0" anchor="t"/>
          <a:lstStyle/>
          <a:p>
            <a:pPr indent="0" marL="0">
              <a:buNone/>
            </a:pPr>
            <a:r>
              <a:rPr lang="en-US" sz="1400" dirty="0">
                <a:solidFill>
                  <a:schemeClr val="tx1"/>
                </a:solidFill>
              </a:rPr>
              <a:t>Compute total, grade and attendance %</a:t>
            </a:r>
            <a:endParaRPr lang="en-US" sz="1400" dirty="0"/>
          </a:p>
        </p:txBody>
      </p:sp>
      <p:sp>
        <p:nvSpPr>
          <p:cNvPr id="13" name="step-card"/>
          <p:cNvSpPr/>
          <p:nvPr/>
        </p:nvSpPr>
        <p:spPr>
          <a:xfrm>
            <a:off x="9509760" y="1371600"/>
            <a:ext cx="2103120" cy="1463040"/>
          </a:xfrm>
          <a:prstGeom prst="roundRect">
            <a:avLst>
              <a:gd name="adj" fmla="val 7500"/>
            </a:avLst>
          </a:prstGeom>
          <a:solidFill>
            <a:schemeClr val="bg2"/>
          </a:solidFill>
          <a:ln/>
        </p:spPr>
      </p:sp>
      <p:sp>
        <p:nvSpPr>
          <p:cNvPr id="14" name="num-bg"/>
          <p:cNvSpPr/>
          <p:nvPr/>
        </p:nvSpPr>
        <p:spPr>
          <a:xfrm>
            <a:off x="9738360" y="1554480"/>
            <a:ext cx="411480" cy="411480"/>
          </a:xfrm>
          <a:prstGeom prst="ellipse">
            <a:avLst/>
          </a:prstGeom>
          <a:solidFill>
            <a:schemeClr val="accent1"/>
          </a:solidFill>
          <a:ln/>
        </p:spPr>
      </p:sp>
      <p:sp>
        <p:nvSpPr>
          <p:cNvPr id="15" name="Text 12"/>
          <p:cNvSpPr txBox="1"/>
          <p:nvPr/>
        </p:nvSpPr>
        <p:spPr>
          <a:xfrm>
            <a:off x="973836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9738360" y="2103120"/>
            <a:ext cx="1691640" cy="685800"/>
          </a:xfrm>
          <a:prstGeom prst="rect">
            <a:avLst/>
          </a:prstGeom>
          <a:noFill/>
          <a:ln/>
        </p:spPr>
        <p:txBody>
          <a:bodyPr wrap="square" lIns="0" tIns="0" rIns="0" bIns="0" rtlCol="0" anchor="t"/>
          <a:lstStyle/>
          <a:p>
            <a:pPr indent="0" marL="0">
              <a:buNone/>
            </a:pPr>
            <a:r>
              <a:rPr lang="en-US" sz="1400" dirty="0">
                <a:solidFill>
                  <a:schemeClr val="tx1"/>
                </a:solidFill>
              </a:rPr>
              <a:t>Decide result on attendance and pass mark</a:t>
            </a:r>
            <a:endParaRPr lang="en-US" sz="1400" dirty="0"/>
          </a:p>
        </p:txBody>
      </p:sp>
      <p:sp>
        <p:nvSpPr>
          <p:cNvPr id="17" name="Text 14"/>
          <p:cNvSpPr txBox="1"/>
          <p:nvPr/>
        </p:nvSpPr>
        <p:spPr>
          <a:xfrm>
            <a:off x="4754880" y="3063240"/>
            <a:ext cx="6858000" cy="320040"/>
          </a:xfrm>
          <a:prstGeom prst="rect">
            <a:avLst/>
          </a:prstGeom>
          <a:noFill/>
          <a:ln/>
        </p:spPr>
        <p:txBody>
          <a:bodyPr wrap="square" lIns="0" tIns="0" rIns="0" bIns="0" rtlCol="0" anchor="t"/>
          <a:lstStyle/>
          <a:p>
            <a:pPr indent="0" marL="0">
              <a:buNone/>
            </a:pPr>
            <a:r>
              <a:rPr lang="en-US" sz="1600" b="1" dirty="0">
                <a:solidFill>
                  <a:schemeClr val="tx2"/>
                </a:solidFill>
              </a:rPr>
              <a:t>Grade bands (percentage)</a:t>
            </a:r>
            <a:endParaRPr lang="en-US" sz="1600" dirty="0"/>
          </a:p>
        </p:txBody>
      </p:sp>
      <p:sp>
        <p:nvSpPr>
          <p:cNvPr id="18" name="grade-chip"/>
          <p:cNvSpPr/>
          <p:nvPr/>
        </p:nvSpPr>
        <p:spPr>
          <a:xfrm>
            <a:off x="4754880" y="3474720"/>
            <a:ext cx="896112" cy="1143000"/>
          </a:xfrm>
          <a:prstGeom prst="roundRect">
            <a:avLst>
              <a:gd name="adj" fmla="val 10204"/>
            </a:avLst>
          </a:prstGeom>
          <a:solidFill>
            <a:schemeClr val="accent1"/>
          </a:solidFill>
          <a:ln/>
        </p:spPr>
      </p:sp>
      <p:sp>
        <p:nvSpPr>
          <p:cNvPr id="19" name="Text 16"/>
          <p:cNvSpPr txBox="1"/>
          <p:nvPr/>
        </p:nvSpPr>
        <p:spPr>
          <a:xfrm>
            <a:off x="4754880"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O</a:t>
            </a:r>
            <a:endParaRPr lang="en-US" sz="2600" dirty="0"/>
          </a:p>
        </p:txBody>
      </p:sp>
      <p:sp>
        <p:nvSpPr>
          <p:cNvPr id="20" name="Text 17"/>
          <p:cNvSpPr txBox="1"/>
          <p:nvPr/>
        </p:nvSpPr>
        <p:spPr>
          <a:xfrm>
            <a:off x="4754880"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90+</a:t>
            </a:r>
            <a:endParaRPr lang="en-US" sz="1200" dirty="0"/>
          </a:p>
        </p:txBody>
      </p:sp>
      <p:sp>
        <p:nvSpPr>
          <p:cNvPr id="21" name="grade-chip"/>
          <p:cNvSpPr/>
          <p:nvPr/>
        </p:nvSpPr>
        <p:spPr>
          <a:xfrm>
            <a:off x="5742432" y="3474720"/>
            <a:ext cx="896112" cy="1143000"/>
          </a:xfrm>
          <a:prstGeom prst="roundRect">
            <a:avLst>
              <a:gd name="adj" fmla="val 10204"/>
            </a:avLst>
          </a:prstGeom>
          <a:solidFill>
            <a:schemeClr val="accent1"/>
          </a:solidFill>
          <a:ln/>
        </p:spPr>
      </p:sp>
      <p:sp>
        <p:nvSpPr>
          <p:cNvPr id="22" name="Text 19"/>
          <p:cNvSpPr txBox="1"/>
          <p:nvPr/>
        </p:nvSpPr>
        <p:spPr>
          <a:xfrm>
            <a:off x="5742432"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23" name="Text 20"/>
          <p:cNvSpPr txBox="1"/>
          <p:nvPr/>
        </p:nvSpPr>
        <p:spPr>
          <a:xfrm>
            <a:off x="5742432"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80–89</a:t>
            </a:r>
            <a:endParaRPr lang="en-US" sz="1200" dirty="0"/>
          </a:p>
        </p:txBody>
      </p:sp>
      <p:sp>
        <p:nvSpPr>
          <p:cNvPr id="24" name="grade-chip"/>
          <p:cNvSpPr/>
          <p:nvPr/>
        </p:nvSpPr>
        <p:spPr>
          <a:xfrm>
            <a:off x="6729984" y="3474720"/>
            <a:ext cx="896112" cy="1143000"/>
          </a:xfrm>
          <a:prstGeom prst="roundRect">
            <a:avLst>
              <a:gd name="adj" fmla="val 10204"/>
            </a:avLst>
          </a:prstGeom>
          <a:solidFill>
            <a:schemeClr val="accent1"/>
          </a:solidFill>
          <a:ln/>
        </p:spPr>
      </p:sp>
      <p:sp>
        <p:nvSpPr>
          <p:cNvPr id="25" name="Text 22"/>
          <p:cNvSpPr txBox="1"/>
          <p:nvPr/>
        </p:nvSpPr>
        <p:spPr>
          <a:xfrm>
            <a:off x="6729984"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26" name="Text 23"/>
          <p:cNvSpPr txBox="1"/>
          <p:nvPr/>
        </p:nvSpPr>
        <p:spPr>
          <a:xfrm>
            <a:off x="6729984"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70–79</a:t>
            </a:r>
            <a:endParaRPr lang="en-US" sz="1200" dirty="0"/>
          </a:p>
        </p:txBody>
      </p:sp>
      <p:sp>
        <p:nvSpPr>
          <p:cNvPr id="27" name="grade-chip"/>
          <p:cNvSpPr/>
          <p:nvPr/>
        </p:nvSpPr>
        <p:spPr>
          <a:xfrm>
            <a:off x="7717536" y="3474720"/>
            <a:ext cx="896112" cy="1143000"/>
          </a:xfrm>
          <a:prstGeom prst="roundRect">
            <a:avLst>
              <a:gd name="adj" fmla="val 10204"/>
            </a:avLst>
          </a:prstGeom>
          <a:solidFill>
            <a:schemeClr val="accent1"/>
          </a:solidFill>
          <a:ln/>
        </p:spPr>
      </p:sp>
      <p:sp>
        <p:nvSpPr>
          <p:cNvPr id="28" name="Text 25"/>
          <p:cNvSpPr txBox="1"/>
          <p:nvPr/>
        </p:nvSpPr>
        <p:spPr>
          <a:xfrm>
            <a:off x="7717536"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B+</a:t>
            </a:r>
            <a:endParaRPr lang="en-US" sz="2600" dirty="0"/>
          </a:p>
        </p:txBody>
      </p:sp>
      <p:sp>
        <p:nvSpPr>
          <p:cNvPr id="29" name="Text 26"/>
          <p:cNvSpPr txBox="1"/>
          <p:nvPr/>
        </p:nvSpPr>
        <p:spPr>
          <a:xfrm>
            <a:off x="7717536"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60–69</a:t>
            </a:r>
            <a:endParaRPr lang="en-US" sz="1200" dirty="0"/>
          </a:p>
        </p:txBody>
      </p:sp>
      <p:sp>
        <p:nvSpPr>
          <p:cNvPr id="30" name="grade-chip"/>
          <p:cNvSpPr/>
          <p:nvPr/>
        </p:nvSpPr>
        <p:spPr>
          <a:xfrm>
            <a:off x="8705088" y="3474720"/>
            <a:ext cx="896112" cy="1143000"/>
          </a:xfrm>
          <a:prstGeom prst="roundRect">
            <a:avLst>
              <a:gd name="adj" fmla="val 10204"/>
            </a:avLst>
          </a:prstGeom>
          <a:solidFill>
            <a:schemeClr val="accent1"/>
          </a:solidFill>
          <a:ln/>
        </p:spPr>
      </p:sp>
      <p:sp>
        <p:nvSpPr>
          <p:cNvPr id="31" name="Text 28"/>
          <p:cNvSpPr txBox="1"/>
          <p:nvPr/>
        </p:nvSpPr>
        <p:spPr>
          <a:xfrm>
            <a:off x="8705088"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B</a:t>
            </a:r>
            <a:endParaRPr lang="en-US" sz="2600" dirty="0"/>
          </a:p>
        </p:txBody>
      </p:sp>
      <p:sp>
        <p:nvSpPr>
          <p:cNvPr id="32" name="Text 29"/>
          <p:cNvSpPr txBox="1"/>
          <p:nvPr/>
        </p:nvSpPr>
        <p:spPr>
          <a:xfrm>
            <a:off x="8705088"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50–59</a:t>
            </a:r>
            <a:endParaRPr lang="en-US" sz="1200" dirty="0"/>
          </a:p>
        </p:txBody>
      </p:sp>
      <p:sp>
        <p:nvSpPr>
          <p:cNvPr id="33" name="grade-chip"/>
          <p:cNvSpPr/>
          <p:nvPr/>
        </p:nvSpPr>
        <p:spPr>
          <a:xfrm>
            <a:off x="9692640" y="3474720"/>
            <a:ext cx="896112" cy="1143000"/>
          </a:xfrm>
          <a:prstGeom prst="roundRect">
            <a:avLst>
              <a:gd name="adj" fmla="val 10204"/>
            </a:avLst>
          </a:prstGeom>
          <a:solidFill>
            <a:schemeClr val="accent1"/>
          </a:solidFill>
          <a:ln/>
        </p:spPr>
      </p:sp>
      <p:sp>
        <p:nvSpPr>
          <p:cNvPr id="34" name="Text 31"/>
          <p:cNvSpPr txBox="1"/>
          <p:nvPr/>
        </p:nvSpPr>
        <p:spPr>
          <a:xfrm>
            <a:off x="9692640"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C</a:t>
            </a:r>
            <a:endParaRPr lang="en-US" sz="2600" dirty="0"/>
          </a:p>
        </p:txBody>
      </p:sp>
      <p:sp>
        <p:nvSpPr>
          <p:cNvPr id="35" name="Text 32"/>
          <p:cNvSpPr txBox="1"/>
          <p:nvPr/>
        </p:nvSpPr>
        <p:spPr>
          <a:xfrm>
            <a:off x="9692640"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40–49</a:t>
            </a:r>
            <a:endParaRPr lang="en-US" sz="1200" dirty="0"/>
          </a:p>
        </p:txBody>
      </p:sp>
      <p:sp>
        <p:nvSpPr>
          <p:cNvPr id="36" name="grade-chip"/>
          <p:cNvSpPr/>
          <p:nvPr/>
        </p:nvSpPr>
        <p:spPr>
          <a:xfrm>
            <a:off x="10680192" y="3474720"/>
            <a:ext cx="896112" cy="1143000"/>
          </a:xfrm>
          <a:prstGeom prst="roundRect">
            <a:avLst>
              <a:gd name="adj" fmla="val 10204"/>
            </a:avLst>
          </a:prstGeom>
          <a:solidFill>
            <a:schemeClr val="accent5"/>
          </a:solidFill>
          <a:ln/>
        </p:spPr>
      </p:sp>
      <p:sp>
        <p:nvSpPr>
          <p:cNvPr id="37" name="Text 34"/>
          <p:cNvSpPr txBox="1"/>
          <p:nvPr/>
        </p:nvSpPr>
        <p:spPr>
          <a:xfrm>
            <a:off x="10680192" y="3566160"/>
            <a:ext cx="896112" cy="502920"/>
          </a:xfrm>
          <a:prstGeom prst="rect">
            <a:avLst/>
          </a:prstGeom>
          <a:noFill/>
          <a:ln/>
        </p:spPr>
        <p:txBody>
          <a:bodyPr wrap="square" lIns="0" tIns="0" rIns="0" bIns="0" rtlCol="0" anchor="ctr"/>
          <a:lstStyle/>
          <a:p>
            <a:pPr algn="ctr" indent="0" marL="0">
              <a:buNone/>
            </a:pPr>
            <a:r>
              <a:rPr lang="en-US" sz="2600" b="1" dirty="0">
                <a:solidFill>
                  <a:schemeClr val="bg1"/>
                </a:solidFill>
              </a:rPr>
              <a:t>RA</a:t>
            </a:r>
            <a:endParaRPr lang="en-US" sz="2600" dirty="0"/>
          </a:p>
        </p:txBody>
      </p:sp>
      <p:sp>
        <p:nvSpPr>
          <p:cNvPr id="38" name="Text 35"/>
          <p:cNvSpPr txBox="1"/>
          <p:nvPr/>
        </p:nvSpPr>
        <p:spPr>
          <a:xfrm>
            <a:off x="10680192" y="4114800"/>
            <a:ext cx="896112" cy="365760"/>
          </a:xfrm>
          <a:prstGeom prst="rect">
            <a:avLst/>
          </a:prstGeom>
          <a:noFill/>
          <a:ln/>
        </p:spPr>
        <p:txBody>
          <a:bodyPr wrap="square" lIns="0" tIns="0" rIns="0" bIns="0" rtlCol="0" anchor="ctr"/>
          <a:lstStyle/>
          <a:p>
            <a:pPr algn="ctr" indent="0" marL="0">
              <a:buNone/>
            </a:pPr>
            <a:r>
              <a:rPr lang="en-US" sz="1200" dirty="0">
                <a:solidFill>
                  <a:schemeClr val="bg1"/>
                </a:solidFill>
              </a:rPr>
              <a:t>below 40</a:t>
            </a:r>
            <a:endParaRPr lang="en-US" sz="1200" dirty="0"/>
          </a:p>
        </p:txBody>
      </p:sp>
      <p:sp>
        <p:nvSpPr>
          <p:cNvPr id="39" name="pass-card"/>
          <p:cNvSpPr/>
          <p:nvPr/>
        </p:nvSpPr>
        <p:spPr>
          <a:xfrm>
            <a:off x="4754880" y="4937760"/>
            <a:ext cx="3291840" cy="1234440"/>
          </a:xfrm>
          <a:prstGeom prst="roundRect">
            <a:avLst>
              <a:gd name="adj" fmla="val 8889"/>
            </a:avLst>
          </a:prstGeom>
          <a:solidFill>
            <a:schemeClr val="accent3"/>
          </a:solidFill>
          <a:ln/>
        </p:spPr>
      </p:sp>
      <p:sp>
        <p:nvSpPr>
          <p:cNvPr id="40" name="Text 37"/>
          <p:cNvSpPr txBox="1"/>
          <p:nvPr/>
        </p:nvSpPr>
        <p:spPr>
          <a:xfrm>
            <a:off x="4983480" y="5029200"/>
            <a:ext cx="2834640" cy="365760"/>
          </a:xfrm>
          <a:prstGeom prst="rect">
            <a:avLst/>
          </a:prstGeom>
          <a:noFill/>
          <a:ln/>
        </p:spPr>
        <p:txBody>
          <a:bodyPr wrap="square" lIns="0" tIns="0" rIns="0" bIns="0" rtlCol="0" anchor="t"/>
          <a:lstStyle/>
          <a:p>
            <a:pPr indent="0" marL="0">
              <a:buNone/>
            </a:pPr>
            <a:r>
              <a:rPr lang="en-US" sz="1800" b="1" dirty="0">
                <a:solidFill>
                  <a:schemeClr val="bg1"/>
                </a:solidFill>
              </a:rPr>
              <a:t>PASS</a:t>
            </a:r>
            <a:endParaRPr lang="en-US" sz="1800" dirty="0"/>
          </a:p>
        </p:txBody>
      </p:sp>
      <p:sp>
        <p:nvSpPr>
          <p:cNvPr id="41" name="Text 38"/>
          <p:cNvSpPr txBox="1"/>
          <p:nvPr/>
        </p:nvSpPr>
        <p:spPr>
          <a:xfrm>
            <a:off x="4983480" y="5440680"/>
            <a:ext cx="2834640" cy="640080"/>
          </a:xfrm>
          <a:prstGeom prst="rect">
            <a:avLst/>
          </a:prstGeom>
          <a:noFill/>
          <a:ln/>
        </p:spPr>
        <p:txBody>
          <a:bodyPr wrap="square" lIns="0" tIns="0" rIns="0" bIns="0" rtlCol="0" anchor="t"/>
          <a:lstStyle/>
          <a:p>
            <a:pPr indent="0" marL="0">
              <a:buNone/>
            </a:pPr>
            <a:r>
              <a:rPr lang="en-US" sz="1400" dirty="0">
                <a:solidFill>
                  <a:schemeClr val="bg1"/>
                </a:solidFill>
              </a:rPr>
              <a:t>Attendance at least 75% and score at least 40%</a:t>
            </a:r>
            <a:endParaRPr lang="en-US" sz="1400" dirty="0"/>
          </a:p>
        </p:txBody>
      </p:sp>
      <p:sp>
        <p:nvSpPr>
          <p:cNvPr id="42" name="fail-card"/>
          <p:cNvSpPr/>
          <p:nvPr/>
        </p:nvSpPr>
        <p:spPr>
          <a:xfrm>
            <a:off x="8321040" y="4937760"/>
            <a:ext cx="3291840" cy="1234440"/>
          </a:xfrm>
          <a:prstGeom prst="roundRect">
            <a:avLst>
              <a:gd name="adj" fmla="val 8889"/>
            </a:avLst>
          </a:prstGeom>
          <a:solidFill>
            <a:schemeClr val="accent5"/>
          </a:solidFill>
          <a:ln/>
        </p:spPr>
      </p:sp>
      <p:sp>
        <p:nvSpPr>
          <p:cNvPr id="43" name="Text 40"/>
          <p:cNvSpPr txBox="1"/>
          <p:nvPr/>
        </p:nvSpPr>
        <p:spPr>
          <a:xfrm>
            <a:off x="8549640" y="5029200"/>
            <a:ext cx="2834640" cy="365760"/>
          </a:xfrm>
          <a:prstGeom prst="rect">
            <a:avLst/>
          </a:prstGeom>
          <a:noFill/>
          <a:ln/>
        </p:spPr>
        <p:txBody>
          <a:bodyPr wrap="square" lIns="0" tIns="0" rIns="0" bIns="0" rtlCol="0" anchor="t"/>
          <a:lstStyle/>
          <a:p>
            <a:pPr indent="0" marL="0">
              <a:buNone/>
            </a:pPr>
            <a:r>
              <a:rPr lang="en-US" sz="1800" b="1" dirty="0">
                <a:solidFill>
                  <a:schemeClr val="bg1"/>
                </a:solidFill>
              </a:rPr>
              <a:t>NOT ELIGIBLE</a:t>
            </a:r>
            <a:endParaRPr lang="en-US" sz="1800" dirty="0"/>
          </a:p>
        </p:txBody>
      </p:sp>
      <p:sp>
        <p:nvSpPr>
          <p:cNvPr id="44" name="Text 41"/>
          <p:cNvSpPr txBox="1"/>
          <p:nvPr/>
        </p:nvSpPr>
        <p:spPr>
          <a:xfrm>
            <a:off x="8549640" y="5440680"/>
            <a:ext cx="2834640" cy="640080"/>
          </a:xfrm>
          <a:prstGeom prst="rect">
            <a:avLst/>
          </a:prstGeom>
          <a:noFill/>
          <a:ln/>
        </p:spPr>
        <p:txBody>
          <a:bodyPr wrap="square" lIns="0" tIns="0" rIns="0" bIns="0" rtlCol="0" anchor="t"/>
          <a:lstStyle/>
          <a:p>
            <a:pPr indent="0" marL="0">
              <a:buNone/>
            </a:pPr>
            <a:r>
              <a:rPr lang="en-US" sz="1400" dirty="0">
                <a:solidFill>
                  <a:schemeClr val="bg1"/>
                </a:solidFill>
              </a:rPr>
              <a:t>Attendance shortage or score below the pass mark</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Implementation highlights</a:t>
            </a:r>
            <a:endParaRPr lang="en-US" sz="3600" dirty="0"/>
          </a:p>
        </p:txBody>
      </p:sp>
      <p:sp>
        <p:nvSpPr>
          <p:cNvPr id="3" name="Text 1"/>
          <p:cNvSpPr txBox="1"/>
          <p:nvPr/>
        </p:nvSpPr>
        <p:spPr>
          <a:xfrm>
            <a:off x="548640" y="1371600"/>
            <a:ext cx="6035040" cy="365760"/>
          </a:xfrm>
          <a:prstGeom prst="rect">
            <a:avLst/>
          </a:prstGeom>
          <a:noFill/>
          <a:ln/>
        </p:spPr>
        <p:txBody>
          <a:bodyPr wrap="square" lIns="0" tIns="0" rIns="0" bIns="0" rtlCol="0" anchor="t"/>
          <a:lstStyle/>
          <a:p>
            <a:pPr indent="0" marL="0">
              <a:buNone/>
            </a:pPr>
            <a:r>
              <a:rPr lang="en-US" sz="1800" b="1" dirty="0">
                <a:solidFill>
                  <a:schemeClr val="tx2"/>
                </a:solidFill>
              </a:rPr>
              <a:t>Transactional enrolment</a:t>
            </a:r>
            <a:endParaRPr lang="en-US" sz="1800" dirty="0"/>
          </a:p>
        </p:txBody>
      </p:sp>
      <p:sp>
        <p:nvSpPr>
          <p:cNvPr id="4" name="code-card"/>
          <p:cNvSpPr/>
          <p:nvPr/>
        </p:nvSpPr>
        <p:spPr>
          <a:xfrm>
            <a:off x="548640" y="1783080"/>
            <a:ext cx="6035040" cy="2971800"/>
          </a:xfrm>
          <a:prstGeom prst="roundRect">
            <a:avLst>
              <a:gd name="adj" fmla="val 3692"/>
            </a:avLst>
          </a:prstGeom>
          <a:solidFill>
            <a:schemeClr val="tx2"/>
          </a:solidFill>
          <a:ln/>
        </p:spPr>
      </p:sp>
      <p:sp>
        <p:nvSpPr>
          <p:cNvPr id="5" name="Text 3"/>
          <p:cNvSpPr txBox="1"/>
          <p:nvPr/>
        </p:nvSpPr>
        <p:spPr>
          <a:xfrm>
            <a:off x="777240" y="1920240"/>
            <a:ext cx="5577840" cy="269748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@transaction.atomic</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def </a:t>
            </a:r>
            <a:pPr indent="0" marL="0">
              <a:buNone/>
            </a:pPr>
            <a:r>
              <a:rPr lang="en-US" sz="1200" dirty="0">
                <a:solidFill>
                  <a:schemeClr val="bg1"/>
                </a:solidFill>
                <a:latin typeface="Courier New" pitchFamily="34" charset="0"/>
                <a:ea typeface="Courier New" pitchFamily="34" charset="-122"/>
                <a:cs typeface="Courier New" pitchFamily="34" charset="-120"/>
              </a:rPr>
              <a:t>enroll_student(student_id, course_id):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student = Student.objects.get(pk=student_id)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course = (Course.objects.select_for_update()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.get(pk=course_id))</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if </a:t>
            </a:r>
            <a:pPr indent="0" marL="0">
              <a:buNone/>
            </a:pPr>
            <a:r>
              <a:rPr lang="en-US" sz="1200" dirty="0">
                <a:solidFill>
                  <a:schemeClr val="bg1"/>
                </a:solidFill>
                <a:latin typeface="Courier New" pitchFamily="34" charset="0"/>
                <a:ea typeface="Courier New" pitchFamily="34" charset="-122"/>
                <a:cs typeface="Courier New" pitchFamily="34" charset="-120"/>
              </a:rPr>
              <a:t>Enrollment.objects.filter(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student=student, course=course).exists():</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raise </a:t>
            </a:r>
            <a:pPr indent="0" marL="0">
              <a:buNone/>
            </a:pPr>
            <a:r>
              <a:rPr lang="en-US" sz="1200" dirty="0">
                <a:solidFill>
                  <a:schemeClr val="bg1"/>
                </a:solidFill>
                <a:latin typeface="Courier New" pitchFamily="34" charset="0"/>
                <a:ea typeface="Courier New" pitchFamily="34" charset="-122"/>
                <a:cs typeface="Courier New" pitchFamily="34" charset="-120"/>
              </a:rPr>
              <a:t>AlreadyEnrolledError()</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if </a:t>
            </a:r>
            <a:pPr indent="0" marL="0">
              <a:buNone/>
            </a:pPr>
            <a:r>
              <a:rPr lang="en-US" sz="1200" dirty="0">
                <a:solidFill>
                  <a:schemeClr val="bg1"/>
                </a:solidFill>
                <a:latin typeface="Courier New" pitchFamily="34" charset="0"/>
                <a:ea typeface="Courier New" pitchFamily="34" charset="-122"/>
                <a:cs typeface="Courier New" pitchFamily="34" charset="-120"/>
              </a:rPr>
              <a:t>course.enrolled &gt;= course.capacity:</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raise </a:t>
            </a:r>
            <a:pPr indent="0" marL="0">
              <a:buNone/>
            </a:pPr>
            <a:r>
              <a:rPr lang="en-US" sz="1200" dirty="0">
                <a:solidFill>
                  <a:schemeClr val="bg1"/>
                </a:solidFill>
                <a:latin typeface="Courier New" pitchFamily="34" charset="0"/>
                <a:ea typeface="Courier New" pitchFamily="34" charset="-122"/>
                <a:cs typeface="Courier New" pitchFamily="34" charset="-120"/>
              </a:rPr>
              <a:t>CourseFullError()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course.enrolled +=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course.save(update_fields=["enrolled"])</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return </a:t>
            </a:r>
            <a:pPr indent="0" marL="0">
              <a:buNone/>
            </a:pPr>
            <a:r>
              <a:rPr lang="en-US" sz="1200" dirty="0">
                <a:solidFill>
                  <a:schemeClr val="bg1"/>
                </a:solidFill>
                <a:latin typeface="Courier New" pitchFamily="34" charset="0"/>
                <a:ea typeface="Courier New" pitchFamily="34" charset="-122"/>
                <a:cs typeface="Courier New" pitchFamily="34" charset="-120"/>
              </a:rPr>
              <a:t>Enrollment.objects.create(...)</a:t>
            </a:r>
            <a:endParaRPr lang="en-US" sz="1200" dirty="0"/>
          </a:p>
        </p:txBody>
      </p:sp>
      <p:sp>
        <p:nvSpPr>
          <p:cNvPr id="6" name="Text 4"/>
          <p:cNvSpPr txBox="1"/>
          <p:nvPr/>
        </p:nvSpPr>
        <p:spPr>
          <a:xfrm>
            <a:off x="548640" y="4828032"/>
            <a:ext cx="6035040" cy="274320"/>
          </a:xfrm>
          <a:prstGeom prst="rect">
            <a:avLst/>
          </a:prstGeom>
          <a:noFill/>
          <a:ln/>
        </p:spPr>
        <p:txBody>
          <a:bodyPr wrap="square" lIns="0" tIns="0" rIns="0" bIns="0" rtlCol="0" anchor="t"/>
          <a:lstStyle/>
          <a:p>
            <a:pPr indent="0" marL="0">
              <a:buNone/>
            </a:pPr>
            <a:r>
              <a:rPr lang="en-US" sz="1400" dirty="0">
                <a:solidFill>
                  <a:schemeClr val="accent6"/>
                </a:solidFill>
              </a:rPr>
              <a:t>Record and seat count change together, or not at all.</a:t>
            </a:r>
            <a:endParaRPr lang="en-US" sz="1400" dirty="0"/>
          </a:p>
        </p:txBody>
      </p:sp>
      <p:sp>
        <p:nvSpPr>
          <p:cNvPr id="7" name="Text 5"/>
          <p:cNvSpPr txBox="1"/>
          <p:nvPr/>
        </p:nvSpPr>
        <p:spPr>
          <a:xfrm>
            <a:off x="548640" y="5166360"/>
            <a:ext cx="2743200" cy="274320"/>
          </a:xfrm>
          <a:prstGeom prst="rect">
            <a:avLst/>
          </a:prstGeom>
          <a:noFill/>
          <a:ln/>
        </p:spPr>
        <p:txBody>
          <a:bodyPr wrap="square" lIns="0" tIns="0" rIns="0" bIns="0" rtlCol="0" anchor="t"/>
          <a:lstStyle/>
          <a:p>
            <a:pPr indent="0" marL="0">
              <a:buNone/>
            </a:pPr>
            <a:r>
              <a:rPr lang="en-US" sz="1400" b="1" dirty="0">
                <a:solidFill>
                  <a:schemeClr val="tx2"/>
                </a:solidFill>
              </a:rPr>
              <a:t>Django apps</a:t>
            </a:r>
            <a:endParaRPr lang="en-US" sz="1400" dirty="0"/>
          </a:p>
        </p:txBody>
      </p:sp>
      <p:sp>
        <p:nvSpPr>
          <p:cNvPr id="8" name="app-chip"/>
          <p:cNvSpPr/>
          <p:nvPr/>
        </p:nvSpPr>
        <p:spPr>
          <a:xfrm>
            <a:off x="548640" y="5486400"/>
            <a:ext cx="1417549" cy="365760"/>
          </a:xfrm>
          <a:prstGeom prst="roundRect">
            <a:avLst>
              <a:gd name="adj" fmla="val 30000"/>
            </a:avLst>
          </a:prstGeom>
          <a:solidFill>
            <a:schemeClr val="bg2"/>
          </a:solidFill>
          <a:ln/>
        </p:spPr>
      </p:sp>
      <p:sp>
        <p:nvSpPr>
          <p:cNvPr id="9" name="Text 7"/>
          <p:cNvSpPr txBox="1"/>
          <p:nvPr/>
        </p:nvSpPr>
        <p:spPr>
          <a:xfrm>
            <a:off x="548640" y="5486400"/>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accounts</a:t>
            </a:r>
            <a:endParaRPr lang="en-US" sz="1200" dirty="0"/>
          </a:p>
        </p:txBody>
      </p:sp>
      <p:sp>
        <p:nvSpPr>
          <p:cNvPr id="10" name="app-chip"/>
          <p:cNvSpPr/>
          <p:nvPr/>
        </p:nvSpPr>
        <p:spPr>
          <a:xfrm>
            <a:off x="2087804" y="5486400"/>
            <a:ext cx="1417549" cy="365760"/>
          </a:xfrm>
          <a:prstGeom prst="roundRect">
            <a:avLst>
              <a:gd name="adj" fmla="val 30000"/>
            </a:avLst>
          </a:prstGeom>
          <a:solidFill>
            <a:schemeClr val="bg2"/>
          </a:solidFill>
          <a:ln/>
        </p:spPr>
      </p:sp>
      <p:sp>
        <p:nvSpPr>
          <p:cNvPr id="11" name="Text 9"/>
          <p:cNvSpPr txBox="1"/>
          <p:nvPr/>
        </p:nvSpPr>
        <p:spPr>
          <a:xfrm>
            <a:off x="2087804" y="5486400"/>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students</a:t>
            </a:r>
            <a:endParaRPr lang="en-US" sz="1200" dirty="0"/>
          </a:p>
        </p:txBody>
      </p:sp>
      <p:sp>
        <p:nvSpPr>
          <p:cNvPr id="12" name="app-chip"/>
          <p:cNvSpPr/>
          <p:nvPr/>
        </p:nvSpPr>
        <p:spPr>
          <a:xfrm>
            <a:off x="3626968" y="5486400"/>
            <a:ext cx="1417549" cy="365760"/>
          </a:xfrm>
          <a:prstGeom prst="roundRect">
            <a:avLst>
              <a:gd name="adj" fmla="val 30000"/>
            </a:avLst>
          </a:prstGeom>
          <a:solidFill>
            <a:schemeClr val="bg2"/>
          </a:solidFill>
          <a:ln/>
        </p:spPr>
      </p:sp>
      <p:sp>
        <p:nvSpPr>
          <p:cNvPr id="13" name="Text 11"/>
          <p:cNvSpPr txBox="1"/>
          <p:nvPr/>
        </p:nvSpPr>
        <p:spPr>
          <a:xfrm>
            <a:off x="3626968" y="5486400"/>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courses</a:t>
            </a:r>
            <a:endParaRPr lang="en-US" sz="1200" dirty="0"/>
          </a:p>
        </p:txBody>
      </p:sp>
      <p:sp>
        <p:nvSpPr>
          <p:cNvPr id="14" name="app-chip"/>
          <p:cNvSpPr/>
          <p:nvPr/>
        </p:nvSpPr>
        <p:spPr>
          <a:xfrm>
            <a:off x="5166131" y="5486400"/>
            <a:ext cx="1417549" cy="365760"/>
          </a:xfrm>
          <a:prstGeom prst="roundRect">
            <a:avLst>
              <a:gd name="adj" fmla="val 30000"/>
            </a:avLst>
          </a:prstGeom>
          <a:solidFill>
            <a:schemeClr val="bg2"/>
          </a:solidFill>
          <a:ln/>
        </p:spPr>
      </p:sp>
      <p:sp>
        <p:nvSpPr>
          <p:cNvPr id="15" name="Text 13"/>
          <p:cNvSpPr txBox="1"/>
          <p:nvPr/>
        </p:nvSpPr>
        <p:spPr>
          <a:xfrm>
            <a:off x="5166131" y="5486400"/>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attendance</a:t>
            </a:r>
            <a:endParaRPr lang="en-US" sz="1200" dirty="0"/>
          </a:p>
        </p:txBody>
      </p:sp>
      <p:sp>
        <p:nvSpPr>
          <p:cNvPr id="16" name="app-chip"/>
          <p:cNvSpPr/>
          <p:nvPr/>
        </p:nvSpPr>
        <p:spPr>
          <a:xfrm>
            <a:off x="548640" y="5925312"/>
            <a:ext cx="1417549" cy="365760"/>
          </a:xfrm>
          <a:prstGeom prst="roundRect">
            <a:avLst>
              <a:gd name="adj" fmla="val 30000"/>
            </a:avLst>
          </a:prstGeom>
          <a:solidFill>
            <a:schemeClr val="bg2"/>
          </a:solidFill>
          <a:ln/>
        </p:spPr>
      </p:sp>
      <p:sp>
        <p:nvSpPr>
          <p:cNvPr id="17" name="Text 15"/>
          <p:cNvSpPr txBox="1"/>
          <p:nvPr/>
        </p:nvSpPr>
        <p:spPr>
          <a:xfrm>
            <a:off x="548640" y="5925312"/>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marks</a:t>
            </a:r>
            <a:endParaRPr lang="en-US" sz="1200" dirty="0"/>
          </a:p>
        </p:txBody>
      </p:sp>
      <p:sp>
        <p:nvSpPr>
          <p:cNvPr id="18" name="app-chip"/>
          <p:cNvSpPr/>
          <p:nvPr/>
        </p:nvSpPr>
        <p:spPr>
          <a:xfrm>
            <a:off x="2087804" y="5925312"/>
            <a:ext cx="1417549" cy="365760"/>
          </a:xfrm>
          <a:prstGeom prst="roundRect">
            <a:avLst>
              <a:gd name="adj" fmla="val 30000"/>
            </a:avLst>
          </a:prstGeom>
          <a:solidFill>
            <a:schemeClr val="bg2"/>
          </a:solidFill>
          <a:ln/>
        </p:spPr>
      </p:sp>
      <p:sp>
        <p:nvSpPr>
          <p:cNvPr id="19" name="Text 17"/>
          <p:cNvSpPr txBox="1"/>
          <p:nvPr/>
        </p:nvSpPr>
        <p:spPr>
          <a:xfrm>
            <a:off x="2087804" y="5925312"/>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reports</a:t>
            </a:r>
            <a:endParaRPr lang="en-US" sz="1200" dirty="0"/>
          </a:p>
        </p:txBody>
      </p:sp>
      <p:sp>
        <p:nvSpPr>
          <p:cNvPr id="20" name="app-chip"/>
          <p:cNvSpPr/>
          <p:nvPr/>
        </p:nvSpPr>
        <p:spPr>
          <a:xfrm>
            <a:off x="3626968" y="5925312"/>
            <a:ext cx="1417549" cy="365760"/>
          </a:xfrm>
          <a:prstGeom prst="roundRect">
            <a:avLst>
              <a:gd name="adj" fmla="val 30000"/>
            </a:avLst>
          </a:prstGeom>
          <a:solidFill>
            <a:schemeClr val="bg2"/>
          </a:solidFill>
          <a:ln/>
        </p:spPr>
      </p:sp>
      <p:sp>
        <p:nvSpPr>
          <p:cNvPr id="21" name="Text 19"/>
          <p:cNvSpPr txBox="1"/>
          <p:nvPr/>
        </p:nvSpPr>
        <p:spPr>
          <a:xfrm>
            <a:off x="3626968" y="5925312"/>
            <a:ext cx="1417549" cy="365760"/>
          </a:xfrm>
          <a:prstGeom prst="rect">
            <a:avLst/>
          </a:prstGeom>
          <a:noFill/>
          <a:ln/>
        </p:spPr>
        <p:txBody>
          <a:bodyPr wrap="square" lIns="0" tIns="0" rIns="0" bIns="0" rtlCol="0" anchor="ctr"/>
          <a:lstStyle/>
          <a:p>
            <a:pPr algn="ctr" indent="0" marL="0">
              <a:buNone/>
            </a:pPr>
            <a:r>
              <a:rPr lang="en-US" sz="1200" b="1" dirty="0">
                <a:solidFill>
                  <a:schemeClr val="tx2"/>
                </a:solidFill>
              </a:rPr>
              <a:t>services</a:t>
            </a:r>
            <a:endParaRPr lang="en-US" sz="1200" dirty="0"/>
          </a:p>
        </p:txBody>
      </p:sp>
      <p:sp>
        <p:nvSpPr>
          <p:cNvPr id="22" name="Text 20"/>
          <p:cNvSpPr txBox="1"/>
          <p:nvPr/>
        </p:nvSpPr>
        <p:spPr>
          <a:xfrm>
            <a:off x="6949440" y="1371600"/>
            <a:ext cx="4663440" cy="365760"/>
          </a:xfrm>
          <a:prstGeom prst="rect">
            <a:avLst/>
          </a:prstGeom>
          <a:noFill/>
          <a:ln/>
        </p:spPr>
        <p:txBody>
          <a:bodyPr wrap="square" lIns="0" tIns="0" rIns="0" bIns="0" rtlCol="0" anchor="t"/>
          <a:lstStyle/>
          <a:p>
            <a:pPr indent="0" marL="0">
              <a:buNone/>
            </a:pPr>
            <a:r>
              <a:rPr lang="en-US" sz="1800" b="1" dirty="0">
                <a:solidFill>
                  <a:schemeClr val="tx2"/>
                </a:solidFill>
              </a:rPr>
              <a:t>Security by design</a:t>
            </a:r>
            <a:endParaRPr lang="en-US" sz="1800" dirty="0"/>
          </a:p>
        </p:txBody>
      </p:sp>
      <p:sp>
        <p:nvSpPr>
          <p:cNvPr id="23" name="icon-bg"/>
          <p:cNvSpPr/>
          <p:nvPr/>
        </p:nvSpPr>
        <p:spPr>
          <a:xfrm>
            <a:off x="6949440" y="1874520"/>
            <a:ext cx="502920" cy="502920"/>
          </a:xfrm>
          <a:prstGeom prst="ellipse">
            <a:avLst/>
          </a:prstGeom>
          <a:solidFill>
            <a:schemeClr val="accent1"/>
          </a:solidFill>
          <a:ln/>
        </p:spPr>
      </p:sp>
      <p:pic>
        <p:nvPicPr>
          <p:cNvPr id="24" name="Image 0" descr="Key icon">    </p:cNvPr>
          <p:cNvPicPr>
            <a:picLocks noChangeAspect="1"/>
          </p:cNvPicPr>
          <p:nvPr/>
        </p:nvPicPr>
        <p:blipFill>
          <a:blip r:embed="rId1"/>
          <a:stretch>
            <a:fillRect/>
          </a:stretch>
        </p:blipFill>
        <p:spPr>
          <a:xfrm>
            <a:off x="7075170" y="2000250"/>
            <a:ext cx="251460" cy="251460"/>
          </a:xfrm>
          <a:prstGeom prst="rect">
            <a:avLst/>
          </a:prstGeom>
        </p:spPr>
      </p:pic>
      <p:sp>
        <p:nvSpPr>
          <p:cNvPr id="25" name="Text 22"/>
          <p:cNvSpPr txBox="1"/>
          <p:nvPr/>
        </p:nvSpPr>
        <p:spPr>
          <a:xfrm>
            <a:off x="7680960" y="1856232"/>
            <a:ext cx="3931920" cy="274320"/>
          </a:xfrm>
          <a:prstGeom prst="rect">
            <a:avLst/>
          </a:prstGeom>
          <a:noFill/>
          <a:ln/>
        </p:spPr>
        <p:txBody>
          <a:bodyPr wrap="square" lIns="0" tIns="0" rIns="0" bIns="0" rtlCol="0" anchor="t"/>
          <a:lstStyle/>
          <a:p>
            <a:pPr indent="0" marL="0">
              <a:buNone/>
            </a:pPr>
            <a:r>
              <a:rPr lang="en-US" sz="1600" b="1" dirty="0">
                <a:solidFill>
                  <a:schemeClr val="tx2"/>
                </a:solidFill>
              </a:rPr>
              <a:t>Authentication</a:t>
            </a:r>
            <a:endParaRPr lang="en-US" sz="1600" dirty="0"/>
          </a:p>
        </p:txBody>
      </p:sp>
      <p:sp>
        <p:nvSpPr>
          <p:cNvPr id="26" name="Text 23"/>
          <p:cNvSpPr txBox="1"/>
          <p:nvPr/>
        </p:nvSpPr>
        <p:spPr>
          <a:xfrm>
            <a:off x="7680960" y="2139696"/>
            <a:ext cx="3931920" cy="274320"/>
          </a:xfrm>
          <a:prstGeom prst="rect">
            <a:avLst/>
          </a:prstGeom>
          <a:noFill/>
          <a:ln/>
        </p:spPr>
        <p:txBody>
          <a:bodyPr wrap="square" lIns="0" tIns="0" rIns="0" bIns="0" rtlCol="0" anchor="t"/>
          <a:lstStyle/>
          <a:p>
            <a:pPr indent="0" marL="0">
              <a:buNone/>
            </a:pPr>
            <a:r>
              <a:rPr lang="en-US" sz="1400" dirty="0">
                <a:solidFill>
                  <a:schemeClr val="tx1"/>
                </a:solidFill>
              </a:rPr>
              <a:t>Salted password hashes</a:t>
            </a:r>
            <a:endParaRPr lang="en-US" sz="1400" dirty="0"/>
          </a:p>
        </p:txBody>
      </p:sp>
      <p:sp>
        <p:nvSpPr>
          <p:cNvPr id="27" name="icon-bg"/>
          <p:cNvSpPr/>
          <p:nvPr/>
        </p:nvSpPr>
        <p:spPr>
          <a:xfrm>
            <a:off x="6949440" y="2587752"/>
            <a:ext cx="502920" cy="502920"/>
          </a:xfrm>
          <a:prstGeom prst="ellipse">
            <a:avLst/>
          </a:prstGeom>
          <a:solidFill>
            <a:schemeClr val="accent1"/>
          </a:solidFill>
          <a:ln/>
        </p:spPr>
      </p:sp>
      <p:pic>
        <p:nvPicPr>
          <p:cNvPr id="28" name="Image 1" descr="UserShield icon">    </p:cNvPr>
          <p:cNvPicPr>
            <a:picLocks noChangeAspect="1"/>
          </p:cNvPicPr>
          <p:nvPr/>
        </p:nvPicPr>
        <p:blipFill>
          <a:blip r:embed="rId2"/>
          <a:stretch>
            <a:fillRect/>
          </a:stretch>
        </p:blipFill>
        <p:spPr>
          <a:xfrm>
            <a:off x="7075170" y="2713482"/>
            <a:ext cx="251460" cy="251460"/>
          </a:xfrm>
          <a:prstGeom prst="rect">
            <a:avLst/>
          </a:prstGeom>
        </p:spPr>
      </p:pic>
      <p:sp>
        <p:nvSpPr>
          <p:cNvPr id="29" name="Text 25"/>
          <p:cNvSpPr txBox="1"/>
          <p:nvPr/>
        </p:nvSpPr>
        <p:spPr>
          <a:xfrm>
            <a:off x="7680960" y="2569464"/>
            <a:ext cx="3931920" cy="274320"/>
          </a:xfrm>
          <a:prstGeom prst="rect">
            <a:avLst/>
          </a:prstGeom>
          <a:noFill/>
          <a:ln/>
        </p:spPr>
        <p:txBody>
          <a:bodyPr wrap="square" lIns="0" tIns="0" rIns="0" bIns="0" rtlCol="0" anchor="t"/>
          <a:lstStyle/>
          <a:p>
            <a:pPr indent="0" marL="0">
              <a:buNone/>
            </a:pPr>
            <a:r>
              <a:rPr lang="en-US" sz="1600" b="1" dirty="0">
                <a:solidFill>
                  <a:schemeClr val="tx2"/>
                </a:solidFill>
              </a:rPr>
              <a:t>Authorisation</a:t>
            </a:r>
            <a:endParaRPr lang="en-US" sz="1600" dirty="0"/>
          </a:p>
        </p:txBody>
      </p:sp>
      <p:sp>
        <p:nvSpPr>
          <p:cNvPr id="30" name="Text 26"/>
          <p:cNvSpPr txBox="1"/>
          <p:nvPr/>
        </p:nvSpPr>
        <p:spPr>
          <a:xfrm>
            <a:off x="7680960" y="2852928"/>
            <a:ext cx="3931920" cy="274320"/>
          </a:xfrm>
          <a:prstGeom prst="rect">
            <a:avLst/>
          </a:prstGeom>
          <a:noFill/>
          <a:ln/>
        </p:spPr>
        <p:txBody>
          <a:bodyPr wrap="square" lIns="0" tIns="0" rIns="0" bIns="0" rtlCol="0" anchor="t"/>
          <a:lstStyle/>
          <a:p>
            <a:pPr indent="0" marL="0">
              <a:buNone/>
            </a:pPr>
            <a:r>
              <a:rPr lang="en-US" sz="1400" dirty="0">
                <a:solidFill>
                  <a:schemeClr val="tx1"/>
                </a:solidFill>
              </a:rPr>
              <a:t>Role checks on every view</a:t>
            </a:r>
            <a:endParaRPr lang="en-US" sz="1400" dirty="0"/>
          </a:p>
        </p:txBody>
      </p:sp>
      <p:sp>
        <p:nvSpPr>
          <p:cNvPr id="31" name="icon-bg"/>
          <p:cNvSpPr/>
          <p:nvPr/>
        </p:nvSpPr>
        <p:spPr>
          <a:xfrm>
            <a:off x="6949440" y="3300984"/>
            <a:ext cx="502920" cy="502920"/>
          </a:xfrm>
          <a:prstGeom prst="ellipse">
            <a:avLst/>
          </a:prstGeom>
          <a:solidFill>
            <a:schemeClr val="accent1"/>
          </a:solidFill>
          <a:ln/>
        </p:spPr>
      </p:sp>
      <p:pic>
        <p:nvPicPr>
          <p:cNvPr id="32" name="Image 2" descr="ClipboardCheck icon">    </p:cNvPr>
          <p:cNvPicPr>
            <a:picLocks noChangeAspect="1"/>
          </p:cNvPicPr>
          <p:nvPr/>
        </p:nvPicPr>
        <p:blipFill>
          <a:blip r:embed="rId3"/>
          <a:stretch>
            <a:fillRect/>
          </a:stretch>
        </p:blipFill>
        <p:spPr>
          <a:xfrm>
            <a:off x="7075170" y="3426714"/>
            <a:ext cx="251460" cy="251460"/>
          </a:xfrm>
          <a:prstGeom prst="rect">
            <a:avLst/>
          </a:prstGeom>
        </p:spPr>
      </p:pic>
      <p:sp>
        <p:nvSpPr>
          <p:cNvPr id="33" name="Text 28"/>
          <p:cNvSpPr txBox="1"/>
          <p:nvPr/>
        </p:nvSpPr>
        <p:spPr>
          <a:xfrm>
            <a:off x="7680960" y="3282696"/>
            <a:ext cx="3931920" cy="274320"/>
          </a:xfrm>
          <a:prstGeom prst="rect">
            <a:avLst/>
          </a:prstGeom>
          <a:noFill/>
          <a:ln/>
        </p:spPr>
        <p:txBody>
          <a:bodyPr wrap="square" lIns="0" tIns="0" rIns="0" bIns="0" rtlCol="0" anchor="t"/>
          <a:lstStyle/>
          <a:p>
            <a:pPr indent="0" marL="0">
              <a:buNone/>
            </a:pPr>
            <a:r>
              <a:rPr lang="en-US" sz="1600" b="1" dirty="0">
                <a:solidFill>
                  <a:schemeClr val="tx2"/>
                </a:solidFill>
              </a:rPr>
              <a:t>Validation</a:t>
            </a:r>
            <a:endParaRPr lang="en-US" sz="1600" dirty="0"/>
          </a:p>
        </p:txBody>
      </p:sp>
      <p:sp>
        <p:nvSpPr>
          <p:cNvPr id="34" name="Text 29"/>
          <p:cNvSpPr txBox="1"/>
          <p:nvPr/>
        </p:nvSpPr>
        <p:spPr>
          <a:xfrm>
            <a:off x="7680960" y="3566160"/>
            <a:ext cx="3931920" cy="274320"/>
          </a:xfrm>
          <a:prstGeom prst="rect">
            <a:avLst/>
          </a:prstGeom>
          <a:noFill/>
          <a:ln/>
        </p:spPr>
        <p:txBody>
          <a:bodyPr wrap="square" lIns="0" tIns="0" rIns="0" bIns="0" rtlCol="0" anchor="t"/>
          <a:lstStyle/>
          <a:p>
            <a:pPr indent="0" marL="0">
              <a:buNone/>
            </a:pPr>
            <a:r>
              <a:rPr lang="en-US" sz="1400" dirty="0">
                <a:solidFill>
                  <a:schemeClr val="tx1"/>
                </a:solidFill>
              </a:rPr>
              <a:t>Server-side Django forms</a:t>
            </a:r>
            <a:endParaRPr lang="en-US" sz="1400" dirty="0"/>
          </a:p>
        </p:txBody>
      </p:sp>
      <p:sp>
        <p:nvSpPr>
          <p:cNvPr id="35" name="icon-bg"/>
          <p:cNvSpPr/>
          <p:nvPr/>
        </p:nvSpPr>
        <p:spPr>
          <a:xfrm>
            <a:off x="6949440" y="4014216"/>
            <a:ext cx="502920" cy="502920"/>
          </a:xfrm>
          <a:prstGeom prst="ellipse">
            <a:avLst/>
          </a:prstGeom>
          <a:solidFill>
            <a:schemeClr val="accent1"/>
          </a:solidFill>
          <a:ln/>
        </p:spPr>
      </p:sp>
      <p:pic>
        <p:nvPicPr>
          <p:cNvPr id="36" name="Image 3" descr="Database icon">    </p:cNvPr>
          <p:cNvPicPr>
            <a:picLocks noChangeAspect="1"/>
          </p:cNvPicPr>
          <p:nvPr/>
        </p:nvPicPr>
        <p:blipFill>
          <a:blip r:embed="rId4"/>
          <a:stretch>
            <a:fillRect/>
          </a:stretch>
        </p:blipFill>
        <p:spPr>
          <a:xfrm>
            <a:off x="7075170" y="4139946"/>
            <a:ext cx="251460" cy="251460"/>
          </a:xfrm>
          <a:prstGeom prst="rect">
            <a:avLst/>
          </a:prstGeom>
        </p:spPr>
      </p:pic>
      <p:sp>
        <p:nvSpPr>
          <p:cNvPr id="37" name="Text 31"/>
          <p:cNvSpPr txBox="1"/>
          <p:nvPr/>
        </p:nvSpPr>
        <p:spPr>
          <a:xfrm>
            <a:off x="7680960" y="3995928"/>
            <a:ext cx="3931920" cy="274320"/>
          </a:xfrm>
          <a:prstGeom prst="rect">
            <a:avLst/>
          </a:prstGeom>
          <a:noFill/>
          <a:ln/>
        </p:spPr>
        <p:txBody>
          <a:bodyPr wrap="square" lIns="0" tIns="0" rIns="0" bIns="0" rtlCol="0" anchor="t"/>
          <a:lstStyle/>
          <a:p>
            <a:pPr indent="0" marL="0">
              <a:buNone/>
            </a:pPr>
            <a:r>
              <a:rPr lang="en-US" sz="1600" b="1" dirty="0">
                <a:solidFill>
                  <a:schemeClr val="tx2"/>
                </a:solidFill>
              </a:rPr>
              <a:t>SQL injection</a:t>
            </a:r>
            <a:endParaRPr lang="en-US" sz="1600" dirty="0"/>
          </a:p>
        </p:txBody>
      </p:sp>
      <p:sp>
        <p:nvSpPr>
          <p:cNvPr id="38" name="Text 32"/>
          <p:cNvSpPr txBox="1"/>
          <p:nvPr/>
        </p:nvSpPr>
        <p:spPr>
          <a:xfrm>
            <a:off x="7680960" y="4279392"/>
            <a:ext cx="3931920" cy="274320"/>
          </a:xfrm>
          <a:prstGeom prst="rect">
            <a:avLst/>
          </a:prstGeom>
          <a:noFill/>
          <a:ln/>
        </p:spPr>
        <p:txBody>
          <a:bodyPr wrap="square" lIns="0" tIns="0" rIns="0" bIns="0" rtlCol="0" anchor="t"/>
          <a:lstStyle/>
          <a:p>
            <a:pPr indent="0" marL="0">
              <a:buNone/>
            </a:pPr>
            <a:r>
              <a:rPr lang="en-US" sz="1400" dirty="0">
                <a:solidFill>
                  <a:schemeClr val="tx1"/>
                </a:solidFill>
              </a:rPr>
              <a:t>ORM parameterised queries</a:t>
            </a:r>
            <a:endParaRPr lang="en-US" sz="1400" dirty="0"/>
          </a:p>
        </p:txBody>
      </p:sp>
      <p:sp>
        <p:nvSpPr>
          <p:cNvPr id="39" name="icon-bg"/>
          <p:cNvSpPr/>
          <p:nvPr/>
        </p:nvSpPr>
        <p:spPr>
          <a:xfrm>
            <a:off x="6949440" y="4727448"/>
            <a:ext cx="502920" cy="502920"/>
          </a:xfrm>
          <a:prstGeom prst="ellipse">
            <a:avLst/>
          </a:prstGeom>
          <a:solidFill>
            <a:schemeClr val="accent1"/>
          </a:solidFill>
          <a:ln/>
        </p:spPr>
      </p:sp>
      <p:pic>
        <p:nvPicPr>
          <p:cNvPr id="40" name="Image 4" descr="ShieldAlt icon">    </p:cNvPr>
          <p:cNvPicPr>
            <a:picLocks noChangeAspect="1"/>
          </p:cNvPicPr>
          <p:nvPr/>
        </p:nvPicPr>
        <p:blipFill>
          <a:blip r:embed="rId5"/>
          <a:stretch>
            <a:fillRect/>
          </a:stretch>
        </p:blipFill>
        <p:spPr>
          <a:xfrm>
            <a:off x="7075170" y="4853178"/>
            <a:ext cx="251460" cy="251460"/>
          </a:xfrm>
          <a:prstGeom prst="rect">
            <a:avLst/>
          </a:prstGeom>
        </p:spPr>
      </p:pic>
      <p:sp>
        <p:nvSpPr>
          <p:cNvPr id="41" name="Text 34"/>
          <p:cNvSpPr txBox="1"/>
          <p:nvPr/>
        </p:nvSpPr>
        <p:spPr>
          <a:xfrm>
            <a:off x="7680960" y="4709160"/>
            <a:ext cx="3931920" cy="274320"/>
          </a:xfrm>
          <a:prstGeom prst="rect">
            <a:avLst/>
          </a:prstGeom>
          <a:noFill/>
          <a:ln/>
        </p:spPr>
        <p:txBody>
          <a:bodyPr wrap="square" lIns="0" tIns="0" rIns="0" bIns="0" rtlCol="0" anchor="t"/>
          <a:lstStyle/>
          <a:p>
            <a:pPr indent="0" marL="0">
              <a:buNone/>
            </a:pPr>
            <a:r>
              <a:rPr lang="en-US" sz="1600" b="1" dirty="0">
                <a:solidFill>
                  <a:schemeClr val="tx2"/>
                </a:solidFill>
              </a:rPr>
              <a:t>CSRF</a:t>
            </a:r>
            <a:endParaRPr lang="en-US" sz="1600" dirty="0"/>
          </a:p>
        </p:txBody>
      </p:sp>
      <p:sp>
        <p:nvSpPr>
          <p:cNvPr id="42" name="Text 35"/>
          <p:cNvSpPr txBox="1"/>
          <p:nvPr/>
        </p:nvSpPr>
        <p:spPr>
          <a:xfrm>
            <a:off x="7680960" y="4992624"/>
            <a:ext cx="3931920" cy="274320"/>
          </a:xfrm>
          <a:prstGeom prst="rect">
            <a:avLst/>
          </a:prstGeom>
          <a:noFill/>
          <a:ln/>
        </p:spPr>
        <p:txBody>
          <a:bodyPr wrap="square" lIns="0" tIns="0" rIns="0" bIns="0" rtlCol="0" anchor="t"/>
          <a:lstStyle/>
          <a:p>
            <a:pPr indent="0" marL="0">
              <a:buNone/>
            </a:pPr>
            <a:r>
              <a:rPr lang="en-US" sz="1400" dirty="0">
                <a:solidFill>
                  <a:schemeClr val="tx1"/>
                </a:solidFill>
              </a:rPr>
              <a:t>Token on every form</a:t>
            </a:r>
            <a:endParaRPr lang="en-US" sz="1400" dirty="0"/>
          </a:p>
        </p:txBody>
      </p:sp>
      <p:sp>
        <p:nvSpPr>
          <p:cNvPr id="43" name="icon-bg"/>
          <p:cNvSpPr/>
          <p:nvPr/>
        </p:nvSpPr>
        <p:spPr>
          <a:xfrm>
            <a:off x="6949440" y="5440680"/>
            <a:ext cx="502920" cy="502920"/>
          </a:xfrm>
          <a:prstGeom prst="ellipse">
            <a:avLst/>
          </a:prstGeom>
          <a:solidFill>
            <a:schemeClr val="accent1"/>
          </a:solidFill>
          <a:ln/>
        </p:spPr>
      </p:sp>
      <p:pic>
        <p:nvPicPr>
          <p:cNvPr id="44" name="Image 5" descr="Lock icon">    </p:cNvPr>
          <p:cNvPicPr>
            <a:picLocks noChangeAspect="1"/>
          </p:cNvPicPr>
          <p:nvPr/>
        </p:nvPicPr>
        <p:blipFill>
          <a:blip r:embed="rId6"/>
          <a:stretch>
            <a:fillRect/>
          </a:stretch>
        </p:blipFill>
        <p:spPr>
          <a:xfrm>
            <a:off x="7075170" y="5566410"/>
            <a:ext cx="251460" cy="251460"/>
          </a:xfrm>
          <a:prstGeom prst="rect">
            <a:avLst/>
          </a:prstGeom>
        </p:spPr>
      </p:pic>
      <p:sp>
        <p:nvSpPr>
          <p:cNvPr id="45" name="Text 37"/>
          <p:cNvSpPr txBox="1"/>
          <p:nvPr/>
        </p:nvSpPr>
        <p:spPr>
          <a:xfrm>
            <a:off x="7680960" y="5422392"/>
            <a:ext cx="3931920" cy="274320"/>
          </a:xfrm>
          <a:prstGeom prst="rect">
            <a:avLst/>
          </a:prstGeom>
          <a:noFill/>
          <a:ln/>
        </p:spPr>
        <p:txBody>
          <a:bodyPr wrap="square" lIns="0" tIns="0" rIns="0" bIns="0" rtlCol="0" anchor="t"/>
          <a:lstStyle/>
          <a:p>
            <a:pPr indent="0" marL="0">
              <a:buNone/>
            </a:pPr>
            <a:r>
              <a:rPr lang="en-US" sz="1600" b="1" dirty="0">
                <a:solidFill>
                  <a:schemeClr val="tx2"/>
                </a:solidFill>
              </a:rPr>
              <a:t>Sessions</a:t>
            </a:r>
            <a:endParaRPr lang="en-US" sz="1600" dirty="0"/>
          </a:p>
        </p:txBody>
      </p:sp>
      <p:sp>
        <p:nvSpPr>
          <p:cNvPr id="46" name="Text 38"/>
          <p:cNvSpPr txBox="1"/>
          <p:nvPr/>
        </p:nvSpPr>
        <p:spPr>
          <a:xfrm>
            <a:off x="7680960" y="5705856"/>
            <a:ext cx="3931920" cy="274320"/>
          </a:xfrm>
          <a:prstGeom prst="rect">
            <a:avLst/>
          </a:prstGeom>
          <a:noFill/>
          <a:ln/>
        </p:spPr>
        <p:txBody>
          <a:bodyPr wrap="square" lIns="0" tIns="0" rIns="0" bIns="0" rtlCol="0" anchor="t"/>
          <a:lstStyle/>
          <a:p>
            <a:pPr indent="0" marL="0">
              <a:buNone/>
            </a:pPr>
            <a:r>
              <a:rPr lang="en-US" sz="1400" dirty="0">
                <a:solidFill>
                  <a:schemeClr val="tx1"/>
                </a:solidFill>
              </a:rPr>
              <a:t>End on logout, expire when idle</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Application walkthrough</a:t>
            </a:r>
            <a:endParaRPr lang="en-US" sz="3600" dirty="0"/>
          </a:p>
        </p:txBody>
      </p:sp>
      <p:pic>
        <p:nvPicPr>
          <p:cNvPr id="3" name="Image 0" descr="Login page">    </p:cNvPr>
          <p:cNvPicPr>
            <a:picLocks noChangeAspect="1"/>
          </p:cNvPicPr>
          <p:nvPr/>
        </p:nvPicPr>
        <p:blipFill>
          <a:blip r:embed="rId1"/>
          <a:stretch>
            <a:fillRect/>
          </a:stretch>
        </p:blipFill>
        <p:spPr>
          <a:xfrm>
            <a:off x="548640" y="1325880"/>
            <a:ext cx="3520440" cy="1925074"/>
          </a:xfrm>
          <a:prstGeom prst="rect">
            <a:avLst/>
          </a:prstGeom>
          <a:effectLst>
            <a:outerShdw sx="100000" sy="100000" kx="0" ky="0" algn="bl" rotWithShape="0" blurRad="101600" dist="25400" dir="5400000">
              <a:srgbClr val="000000">
                <a:alpha val="18000"/>
              </a:srgbClr>
            </a:outerShdw>
          </a:effectLst>
        </p:spPr>
      </p:pic>
      <p:sp>
        <p:nvSpPr>
          <p:cNvPr id="4" name="Text 1"/>
          <p:cNvSpPr txBox="1"/>
          <p:nvPr/>
        </p:nvSpPr>
        <p:spPr>
          <a:xfrm>
            <a:off x="548640" y="3342394"/>
            <a:ext cx="3520440" cy="320040"/>
          </a:xfrm>
          <a:prstGeom prst="rect">
            <a:avLst/>
          </a:prstGeom>
          <a:noFill/>
          <a:ln/>
        </p:spPr>
        <p:txBody>
          <a:bodyPr wrap="square" lIns="0" tIns="0" rIns="0" bIns="0" rtlCol="0" anchor="t"/>
          <a:lstStyle/>
          <a:p>
            <a:pPr indent="0" marL="0">
              <a:buNone/>
            </a:pPr>
            <a:r>
              <a:rPr lang="en-US" sz="1400" b="1" dirty="0">
                <a:solidFill>
                  <a:schemeClr val="tx2"/>
                </a:solidFill>
              </a:rPr>
              <a:t>Login: role-based entry</a:t>
            </a:r>
            <a:endParaRPr lang="en-US" sz="1400" dirty="0"/>
          </a:p>
        </p:txBody>
      </p:sp>
      <p:pic>
        <p:nvPicPr>
          <p:cNvPr id="5" name="Image 1" descr="Administrator dashboard">    </p:cNvPr>
          <p:cNvPicPr>
            <a:picLocks noChangeAspect="1"/>
          </p:cNvPicPr>
          <p:nvPr/>
        </p:nvPicPr>
        <p:blipFill>
          <a:blip r:embed="rId2"/>
          <a:stretch>
            <a:fillRect/>
          </a:stretch>
        </p:blipFill>
        <p:spPr>
          <a:xfrm>
            <a:off x="4320540" y="1325880"/>
            <a:ext cx="3520440" cy="1925074"/>
          </a:xfrm>
          <a:prstGeom prst="rect">
            <a:avLst/>
          </a:prstGeom>
          <a:effectLst>
            <a:outerShdw sx="100000" sy="100000" kx="0" ky="0" algn="bl" rotWithShape="0" blurRad="101600" dist="25400" dir="5400000">
              <a:srgbClr val="000000">
                <a:alpha val="18000"/>
              </a:srgbClr>
            </a:outerShdw>
          </a:effectLst>
        </p:spPr>
      </p:pic>
      <p:sp>
        <p:nvSpPr>
          <p:cNvPr id="6" name="Text 2"/>
          <p:cNvSpPr txBox="1"/>
          <p:nvPr/>
        </p:nvSpPr>
        <p:spPr>
          <a:xfrm>
            <a:off x="4320540" y="3342394"/>
            <a:ext cx="3520440" cy="320040"/>
          </a:xfrm>
          <a:prstGeom prst="rect">
            <a:avLst/>
          </a:prstGeom>
          <a:noFill/>
          <a:ln/>
        </p:spPr>
        <p:txBody>
          <a:bodyPr wrap="square" lIns="0" tIns="0" rIns="0" bIns="0" rtlCol="0" anchor="t"/>
          <a:lstStyle/>
          <a:p>
            <a:pPr indent="0" marL="0">
              <a:buNone/>
            </a:pPr>
            <a:r>
              <a:rPr lang="en-US" sz="1400" b="1" dirty="0">
                <a:solidFill>
                  <a:schemeClr val="tx2"/>
                </a:solidFill>
              </a:rPr>
              <a:t>Dashboard: tiles and quick actions</a:t>
            </a:r>
            <a:endParaRPr lang="en-US" sz="1400" dirty="0"/>
          </a:p>
        </p:txBody>
      </p:sp>
      <p:pic>
        <p:nvPicPr>
          <p:cNvPr id="7" name="Image 2" descr="Student list">    </p:cNvPr>
          <p:cNvPicPr>
            <a:picLocks noChangeAspect="1"/>
          </p:cNvPicPr>
          <p:nvPr/>
        </p:nvPicPr>
        <p:blipFill>
          <a:blip r:embed="rId3"/>
          <a:stretch>
            <a:fillRect/>
          </a:stretch>
        </p:blipFill>
        <p:spPr>
          <a:xfrm>
            <a:off x="8092440" y="1325880"/>
            <a:ext cx="3520440" cy="1925074"/>
          </a:xfrm>
          <a:prstGeom prst="rect">
            <a:avLst/>
          </a:prstGeom>
          <a:effectLst>
            <a:outerShdw sx="100000" sy="100000" kx="0" ky="0" algn="bl" rotWithShape="0" blurRad="101600" dist="25400" dir="5400000">
              <a:srgbClr val="000000">
                <a:alpha val="18000"/>
              </a:srgbClr>
            </a:outerShdw>
          </a:effectLst>
        </p:spPr>
      </p:pic>
      <p:sp>
        <p:nvSpPr>
          <p:cNvPr id="8" name="Text 3"/>
          <p:cNvSpPr txBox="1"/>
          <p:nvPr/>
        </p:nvSpPr>
        <p:spPr>
          <a:xfrm>
            <a:off x="8092440" y="3342394"/>
            <a:ext cx="3520440" cy="320040"/>
          </a:xfrm>
          <a:prstGeom prst="rect">
            <a:avLst/>
          </a:prstGeom>
          <a:noFill/>
          <a:ln/>
        </p:spPr>
        <p:txBody>
          <a:bodyPr wrap="square" lIns="0" tIns="0" rIns="0" bIns="0" rtlCol="0" anchor="t"/>
          <a:lstStyle/>
          <a:p>
            <a:pPr indent="0" marL="0">
              <a:buNone/>
            </a:pPr>
            <a:r>
              <a:rPr lang="en-US" sz="1400" b="1" dirty="0">
                <a:solidFill>
                  <a:schemeClr val="tx2"/>
                </a:solidFill>
              </a:rPr>
              <a:t>Students: search, filters, status</a:t>
            </a:r>
            <a:endParaRPr lang="en-US" sz="1400" dirty="0"/>
          </a:p>
        </p:txBody>
      </p:sp>
      <p:pic>
        <p:nvPicPr>
          <p:cNvPr id="9" name="Image 3" descr="Course enrolment screen">    </p:cNvPr>
          <p:cNvPicPr>
            <a:picLocks noChangeAspect="1"/>
          </p:cNvPicPr>
          <p:nvPr/>
        </p:nvPicPr>
        <p:blipFill>
          <a:blip r:embed="rId4"/>
          <a:stretch>
            <a:fillRect/>
          </a:stretch>
        </p:blipFill>
        <p:spPr>
          <a:xfrm>
            <a:off x="548640" y="3886200"/>
            <a:ext cx="3520440" cy="1925074"/>
          </a:xfrm>
          <a:prstGeom prst="rect">
            <a:avLst/>
          </a:prstGeom>
          <a:effectLst>
            <a:outerShdw sx="100000" sy="100000" kx="0" ky="0" algn="bl" rotWithShape="0" blurRad="101600" dist="25400" dir="5400000">
              <a:srgbClr val="000000">
                <a:alpha val="18000"/>
              </a:srgbClr>
            </a:outerShdw>
          </a:effectLst>
        </p:spPr>
      </p:pic>
      <p:sp>
        <p:nvSpPr>
          <p:cNvPr id="10" name="Text 4"/>
          <p:cNvSpPr txBox="1"/>
          <p:nvPr/>
        </p:nvSpPr>
        <p:spPr>
          <a:xfrm>
            <a:off x="548640" y="5902714"/>
            <a:ext cx="3520440" cy="320040"/>
          </a:xfrm>
          <a:prstGeom prst="rect">
            <a:avLst/>
          </a:prstGeom>
          <a:noFill/>
          <a:ln/>
        </p:spPr>
        <p:txBody>
          <a:bodyPr wrap="square" lIns="0" tIns="0" rIns="0" bIns="0" rtlCol="0" anchor="t"/>
          <a:lstStyle/>
          <a:p>
            <a:pPr indent="0" marL="0">
              <a:buNone/>
            </a:pPr>
            <a:r>
              <a:rPr lang="en-US" sz="1400" b="1" dirty="0">
                <a:solidFill>
                  <a:schemeClr val="tx2"/>
                </a:solidFill>
              </a:rPr>
              <a:t>Enrolment: seats and clear rejections</a:t>
            </a:r>
            <a:endParaRPr lang="en-US" sz="1400" dirty="0"/>
          </a:p>
        </p:txBody>
      </p:sp>
      <p:pic>
        <p:nvPicPr>
          <p:cNvPr id="11" name="Image 4" descr="Attendance and marks entry">    </p:cNvPr>
          <p:cNvPicPr>
            <a:picLocks noChangeAspect="1"/>
          </p:cNvPicPr>
          <p:nvPr/>
        </p:nvPicPr>
        <p:blipFill>
          <a:blip r:embed="rId5"/>
          <a:stretch>
            <a:fillRect/>
          </a:stretch>
        </p:blipFill>
        <p:spPr>
          <a:xfrm>
            <a:off x="4320540" y="3886200"/>
            <a:ext cx="3520440" cy="1925074"/>
          </a:xfrm>
          <a:prstGeom prst="rect">
            <a:avLst/>
          </a:prstGeom>
          <a:effectLst>
            <a:outerShdw sx="100000" sy="100000" kx="0" ky="0" algn="bl" rotWithShape="0" blurRad="101600" dist="25400" dir="5400000">
              <a:srgbClr val="000000">
                <a:alpha val="18000"/>
              </a:srgbClr>
            </a:outerShdw>
          </a:effectLst>
        </p:spPr>
      </p:pic>
      <p:sp>
        <p:nvSpPr>
          <p:cNvPr id="12" name="Text 5"/>
          <p:cNvSpPr txBox="1"/>
          <p:nvPr/>
        </p:nvSpPr>
        <p:spPr>
          <a:xfrm>
            <a:off x="4320540" y="5902714"/>
            <a:ext cx="3520440" cy="320040"/>
          </a:xfrm>
          <a:prstGeom prst="rect">
            <a:avLst/>
          </a:prstGeom>
          <a:noFill/>
          <a:ln/>
        </p:spPr>
        <p:txBody>
          <a:bodyPr wrap="square" lIns="0" tIns="0" rIns="0" bIns="0" rtlCol="0" anchor="t"/>
          <a:lstStyle/>
          <a:p>
            <a:pPr indent="0" marL="0">
              <a:buNone/>
            </a:pPr>
            <a:r>
              <a:rPr lang="en-US" sz="1400" b="1" dirty="0">
                <a:solidFill>
                  <a:schemeClr val="tx2"/>
                </a:solidFill>
              </a:rPr>
              <a:t>Attendance and marks: auto grades</a:t>
            </a:r>
            <a:endParaRPr lang="en-US" sz="1400" dirty="0"/>
          </a:p>
        </p:txBody>
      </p:sp>
      <p:pic>
        <p:nvPicPr>
          <p:cNvPr id="13" name="Image 5" descr="Reports and student results">    </p:cNvPr>
          <p:cNvPicPr>
            <a:picLocks noChangeAspect="1"/>
          </p:cNvPicPr>
          <p:nvPr/>
        </p:nvPicPr>
        <p:blipFill>
          <a:blip r:embed="rId6"/>
          <a:stretch>
            <a:fillRect/>
          </a:stretch>
        </p:blipFill>
        <p:spPr>
          <a:xfrm>
            <a:off x="8092440" y="3886200"/>
            <a:ext cx="3520440" cy="1925074"/>
          </a:xfrm>
          <a:prstGeom prst="rect">
            <a:avLst/>
          </a:prstGeom>
          <a:effectLst>
            <a:outerShdw sx="100000" sy="100000" kx="0" ky="0" algn="bl" rotWithShape="0" blurRad="101600" dist="25400" dir="5400000">
              <a:srgbClr val="000000">
                <a:alpha val="18000"/>
              </a:srgbClr>
            </a:outerShdw>
          </a:effectLst>
        </p:spPr>
      </p:pic>
      <p:sp>
        <p:nvSpPr>
          <p:cNvPr id="14" name="Text 6"/>
          <p:cNvSpPr txBox="1"/>
          <p:nvPr/>
        </p:nvSpPr>
        <p:spPr>
          <a:xfrm>
            <a:off x="8092440" y="5902714"/>
            <a:ext cx="3520440" cy="320040"/>
          </a:xfrm>
          <a:prstGeom prst="rect">
            <a:avLst/>
          </a:prstGeom>
          <a:noFill/>
          <a:ln/>
        </p:spPr>
        <p:txBody>
          <a:bodyPr wrap="square" lIns="0" tIns="0" rIns="0" bIns="0" rtlCol="0" anchor="t"/>
          <a:lstStyle/>
          <a:p>
            <a:pPr indent="0" marL="0">
              <a:buNone/>
            </a:pPr>
            <a:r>
              <a:rPr lang="en-US" sz="1400" b="1" dirty="0">
                <a:solidFill>
                  <a:schemeClr val="tx2"/>
                </a:solidFill>
              </a:rPr>
              <a:t>Reports and student result view</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Testing and results</a:t>
            </a:r>
            <a:endParaRPr lang="en-US" sz="3600" dirty="0"/>
          </a:p>
        </p:txBody>
      </p:sp>
      <p:sp>
        <p:nvSpPr>
          <p:cNvPr id="3" name="level-pill"/>
          <p:cNvSpPr/>
          <p:nvPr/>
        </p:nvSpPr>
        <p:spPr>
          <a:xfrm>
            <a:off x="548640" y="1371600"/>
            <a:ext cx="1554480" cy="640080"/>
          </a:xfrm>
          <a:prstGeom prst="roundRect">
            <a:avLst>
              <a:gd name="adj" fmla="val 17143"/>
            </a:avLst>
          </a:prstGeom>
          <a:solidFill>
            <a:schemeClr val="accent1"/>
          </a:solidFill>
          <a:ln/>
        </p:spPr>
      </p:sp>
      <p:sp>
        <p:nvSpPr>
          <p:cNvPr id="4" name="Text 2"/>
          <p:cNvSpPr txBox="1"/>
          <p:nvPr/>
        </p:nvSpPr>
        <p:spPr>
          <a:xfrm>
            <a:off x="548640" y="1371600"/>
            <a:ext cx="1554480" cy="640080"/>
          </a:xfrm>
          <a:prstGeom prst="rect">
            <a:avLst/>
          </a:prstGeom>
          <a:noFill/>
          <a:ln/>
        </p:spPr>
        <p:txBody>
          <a:bodyPr wrap="square" lIns="0" tIns="0" rIns="0" bIns="0" rtlCol="0" anchor="ctr"/>
          <a:lstStyle/>
          <a:p>
            <a:pPr algn="ctr" indent="0" marL="0">
              <a:buNone/>
            </a:pPr>
            <a:r>
              <a:rPr lang="en-US" sz="1400" b="1" dirty="0">
                <a:solidFill>
                  <a:schemeClr val="bg1"/>
                </a:solidFill>
              </a:rPr>
              <a:t>Unit</a:t>
            </a:r>
            <a:endParaRPr lang="en-US" sz="1400" dirty="0"/>
          </a:p>
        </p:txBody>
      </p:sp>
      <p:sp>
        <p:nvSpPr>
          <p:cNvPr id="5" name="Text 3"/>
          <p:cNvSpPr txBox="1"/>
          <p:nvPr/>
        </p:nvSpPr>
        <p:spPr>
          <a:xfrm>
            <a:off x="2286000" y="1371600"/>
            <a:ext cx="3566160" cy="640080"/>
          </a:xfrm>
          <a:prstGeom prst="rect">
            <a:avLst/>
          </a:prstGeom>
          <a:noFill/>
          <a:ln/>
        </p:spPr>
        <p:txBody>
          <a:bodyPr wrap="square" lIns="0" tIns="0" rIns="0" bIns="0" rtlCol="0" anchor="ctr"/>
          <a:lstStyle/>
          <a:p>
            <a:pPr indent="0" marL="0">
              <a:buNone/>
            </a:pPr>
            <a:r>
              <a:rPr lang="en-US" sz="1400" dirty="0">
                <a:solidFill>
                  <a:schemeClr val="tx1"/>
                </a:solidFill>
              </a:rPr>
              <a:t>Grade calculation and attendance % (unittest, pytest)</a:t>
            </a:r>
            <a:endParaRPr lang="en-US" sz="1400" dirty="0"/>
          </a:p>
        </p:txBody>
      </p:sp>
      <p:sp>
        <p:nvSpPr>
          <p:cNvPr id="6" name="level-pill"/>
          <p:cNvSpPr/>
          <p:nvPr/>
        </p:nvSpPr>
        <p:spPr>
          <a:xfrm>
            <a:off x="548640" y="2148840"/>
            <a:ext cx="1554480" cy="640080"/>
          </a:xfrm>
          <a:prstGeom prst="roundRect">
            <a:avLst>
              <a:gd name="adj" fmla="val 17143"/>
            </a:avLst>
          </a:prstGeom>
          <a:solidFill>
            <a:schemeClr val="accent1"/>
          </a:solidFill>
          <a:ln/>
        </p:spPr>
      </p:sp>
      <p:sp>
        <p:nvSpPr>
          <p:cNvPr id="7" name="Text 5"/>
          <p:cNvSpPr txBox="1"/>
          <p:nvPr/>
        </p:nvSpPr>
        <p:spPr>
          <a:xfrm>
            <a:off x="548640" y="2148840"/>
            <a:ext cx="1554480" cy="640080"/>
          </a:xfrm>
          <a:prstGeom prst="rect">
            <a:avLst/>
          </a:prstGeom>
          <a:noFill/>
          <a:ln/>
        </p:spPr>
        <p:txBody>
          <a:bodyPr wrap="square" lIns="0" tIns="0" rIns="0" bIns="0" rtlCol="0" anchor="ctr"/>
          <a:lstStyle/>
          <a:p>
            <a:pPr algn="ctr" indent="0" marL="0">
              <a:buNone/>
            </a:pPr>
            <a:r>
              <a:rPr lang="en-US" sz="1400" b="1" dirty="0">
                <a:solidFill>
                  <a:schemeClr val="bg1"/>
                </a:solidFill>
              </a:rPr>
              <a:t>Integration</a:t>
            </a:r>
            <a:endParaRPr lang="en-US" sz="1400" dirty="0"/>
          </a:p>
        </p:txBody>
      </p:sp>
      <p:sp>
        <p:nvSpPr>
          <p:cNvPr id="8" name="Text 6"/>
          <p:cNvSpPr txBox="1"/>
          <p:nvPr/>
        </p:nvSpPr>
        <p:spPr>
          <a:xfrm>
            <a:off x="2286000" y="2148840"/>
            <a:ext cx="3566160" cy="640080"/>
          </a:xfrm>
          <a:prstGeom prst="rect">
            <a:avLst/>
          </a:prstGeom>
          <a:noFill/>
          <a:ln/>
        </p:spPr>
        <p:txBody>
          <a:bodyPr wrap="square" lIns="0" tIns="0" rIns="0" bIns="0" rtlCol="0" anchor="ctr"/>
          <a:lstStyle/>
          <a:p>
            <a:pPr indent="0" marL="0">
              <a:buNone/>
            </a:pPr>
            <a:r>
              <a:rPr lang="en-US" sz="1400" dirty="0">
                <a:solidFill>
                  <a:schemeClr val="tx1"/>
                </a:solidFill>
              </a:rPr>
              <a:t>View, service and database layers (pytest-django)</a:t>
            </a:r>
            <a:endParaRPr lang="en-US" sz="1400" dirty="0"/>
          </a:p>
        </p:txBody>
      </p:sp>
      <p:sp>
        <p:nvSpPr>
          <p:cNvPr id="9" name="level-pill"/>
          <p:cNvSpPr/>
          <p:nvPr/>
        </p:nvSpPr>
        <p:spPr>
          <a:xfrm>
            <a:off x="548640" y="2926080"/>
            <a:ext cx="1554480" cy="640080"/>
          </a:xfrm>
          <a:prstGeom prst="roundRect">
            <a:avLst>
              <a:gd name="adj" fmla="val 17143"/>
            </a:avLst>
          </a:prstGeom>
          <a:solidFill>
            <a:schemeClr val="accent1"/>
          </a:solidFill>
          <a:ln/>
        </p:spPr>
      </p:sp>
      <p:sp>
        <p:nvSpPr>
          <p:cNvPr id="10" name="Text 8"/>
          <p:cNvSpPr txBox="1"/>
          <p:nvPr/>
        </p:nvSpPr>
        <p:spPr>
          <a:xfrm>
            <a:off x="548640" y="2926080"/>
            <a:ext cx="1554480" cy="640080"/>
          </a:xfrm>
          <a:prstGeom prst="rect">
            <a:avLst/>
          </a:prstGeom>
          <a:noFill/>
          <a:ln/>
        </p:spPr>
        <p:txBody>
          <a:bodyPr wrap="square" lIns="0" tIns="0" rIns="0" bIns="0" rtlCol="0" anchor="ctr"/>
          <a:lstStyle/>
          <a:p>
            <a:pPr algn="ctr" indent="0" marL="0">
              <a:buNone/>
            </a:pPr>
            <a:r>
              <a:rPr lang="en-US" sz="1400" b="1" dirty="0">
                <a:solidFill>
                  <a:schemeClr val="bg1"/>
                </a:solidFill>
              </a:rPr>
              <a:t>System</a:t>
            </a:r>
            <a:endParaRPr lang="en-US" sz="1400" dirty="0"/>
          </a:p>
        </p:txBody>
      </p:sp>
      <p:sp>
        <p:nvSpPr>
          <p:cNvPr id="11" name="Text 9"/>
          <p:cNvSpPr txBox="1"/>
          <p:nvPr/>
        </p:nvSpPr>
        <p:spPr>
          <a:xfrm>
            <a:off x="2286000" y="2926080"/>
            <a:ext cx="3566160" cy="640080"/>
          </a:xfrm>
          <a:prstGeom prst="rect">
            <a:avLst/>
          </a:prstGeom>
          <a:noFill/>
          <a:ln/>
        </p:spPr>
        <p:txBody>
          <a:bodyPr wrap="square" lIns="0" tIns="0" rIns="0" bIns="0" rtlCol="0" anchor="ctr"/>
          <a:lstStyle/>
          <a:p>
            <a:pPr indent="0" marL="0">
              <a:buNone/>
            </a:pPr>
            <a:r>
              <a:rPr lang="en-US" sz="1400" dirty="0">
                <a:solidFill>
                  <a:schemeClr val="tx1"/>
                </a:solidFill>
              </a:rPr>
              <a:t>Full workflows from enrolment to result</a:t>
            </a:r>
            <a:endParaRPr lang="en-US" sz="1400" dirty="0"/>
          </a:p>
        </p:txBody>
      </p:sp>
      <p:sp>
        <p:nvSpPr>
          <p:cNvPr id="12" name="level-pill"/>
          <p:cNvSpPr/>
          <p:nvPr/>
        </p:nvSpPr>
        <p:spPr>
          <a:xfrm>
            <a:off x="548640" y="3703320"/>
            <a:ext cx="1554480" cy="640080"/>
          </a:xfrm>
          <a:prstGeom prst="roundRect">
            <a:avLst>
              <a:gd name="adj" fmla="val 17143"/>
            </a:avLst>
          </a:prstGeom>
          <a:solidFill>
            <a:schemeClr val="accent1"/>
          </a:solidFill>
          <a:ln/>
        </p:spPr>
      </p:sp>
      <p:sp>
        <p:nvSpPr>
          <p:cNvPr id="13" name="Text 11"/>
          <p:cNvSpPr txBox="1"/>
          <p:nvPr/>
        </p:nvSpPr>
        <p:spPr>
          <a:xfrm>
            <a:off x="548640" y="3703320"/>
            <a:ext cx="1554480" cy="640080"/>
          </a:xfrm>
          <a:prstGeom prst="rect">
            <a:avLst/>
          </a:prstGeom>
          <a:noFill/>
          <a:ln/>
        </p:spPr>
        <p:txBody>
          <a:bodyPr wrap="square" lIns="0" tIns="0" rIns="0" bIns="0" rtlCol="0" anchor="ctr"/>
          <a:lstStyle/>
          <a:p>
            <a:pPr algn="ctr" indent="0" marL="0">
              <a:buNone/>
            </a:pPr>
            <a:r>
              <a:rPr lang="en-US" sz="1400" b="1" dirty="0">
                <a:solidFill>
                  <a:schemeClr val="bg1"/>
                </a:solidFill>
              </a:rPr>
              <a:t>Security</a:t>
            </a:r>
            <a:endParaRPr lang="en-US" sz="1400" dirty="0"/>
          </a:p>
        </p:txBody>
      </p:sp>
      <p:sp>
        <p:nvSpPr>
          <p:cNvPr id="14" name="Text 12"/>
          <p:cNvSpPr txBox="1"/>
          <p:nvPr/>
        </p:nvSpPr>
        <p:spPr>
          <a:xfrm>
            <a:off x="2286000" y="3703320"/>
            <a:ext cx="3566160" cy="640080"/>
          </a:xfrm>
          <a:prstGeom prst="rect">
            <a:avLst/>
          </a:prstGeom>
          <a:noFill/>
          <a:ln/>
        </p:spPr>
        <p:txBody>
          <a:bodyPr wrap="square" lIns="0" tIns="0" rIns="0" bIns="0" rtlCol="0" anchor="ctr"/>
          <a:lstStyle/>
          <a:p>
            <a:pPr indent="0" marL="0">
              <a:buNone/>
            </a:pPr>
            <a:r>
              <a:rPr lang="en-US" sz="1400" dirty="0">
                <a:solidFill>
                  <a:schemeClr val="tx1"/>
                </a:solidFill>
              </a:rPr>
              <a:t>Role limits, session expiry, invalid input</a:t>
            </a:r>
            <a:endParaRPr lang="en-US" sz="1400" dirty="0"/>
          </a:p>
        </p:txBody>
      </p:sp>
      <p:sp>
        <p:nvSpPr>
          <p:cNvPr id="15" name="level-pill"/>
          <p:cNvSpPr/>
          <p:nvPr/>
        </p:nvSpPr>
        <p:spPr>
          <a:xfrm>
            <a:off x="548640" y="4480560"/>
            <a:ext cx="1554480" cy="640080"/>
          </a:xfrm>
          <a:prstGeom prst="roundRect">
            <a:avLst>
              <a:gd name="adj" fmla="val 17143"/>
            </a:avLst>
          </a:prstGeom>
          <a:solidFill>
            <a:schemeClr val="accent1"/>
          </a:solidFill>
          <a:ln/>
        </p:spPr>
      </p:sp>
      <p:sp>
        <p:nvSpPr>
          <p:cNvPr id="16" name="Text 14"/>
          <p:cNvSpPr txBox="1"/>
          <p:nvPr/>
        </p:nvSpPr>
        <p:spPr>
          <a:xfrm>
            <a:off x="548640" y="4480560"/>
            <a:ext cx="1554480" cy="640080"/>
          </a:xfrm>
          <a:prstGeom prst="rect">
            <a:avLst/>
          </a:prstGeom>
          <a:noFill/>
          <a:ln/>
        </p:spPr>
        <p:txBody>
          <a:bodyPr wrap="square" lIns="0" tIns="0" rIns="0" bIns="0" rtlCol="0" anchor="ctr"/>
          <a:lstStyle/>
          <a:p>
            <a:pPr algn="ctr" indent="0" marL="0">
              <a:buNone/>
            </a:pPr>
            <a:r>
              <a:rPr lang="en-US" sz="1400" b="1" dirty="0">
                <a:solidFill>
                  <a:schemeClr val="bg1"/>
                </a:solidFill>
              </a:rPr>
              <a:t>Acceptance</a:t>
            </a:r>
            <a:endParaRPr lang="en-US" sz="1400" dirty="0"/>
          </a:p>
        </p:txBody>
      </p:sp>
      <p:sp>
        <p:nvSpPr>
          <p:cNvPr id="17" name="Text 15"/>
          <p:cNvSpPr txBox="1"/>
          <p:nvPr/>
        </p:nvSpPr>
        <p:spPr>
          <a:xfrm>
            <a:off x="2286000" y="4480560"/>
            <a:ext cx="3566160" cy="640080"/>
          </a:xfrm>
          <a:prstGeom prst="rect">
            <a:avLst/>
          </a:prstGeom>
          <a:noFill/>
          <a:ln/>
        </p:spPr>
        <p:txBody>
          <a:bodyPr wrap="square" lIns="0" tIns="0" rIns="0" bIns="0" rtlCol="0" anchor="ctr"/>
          <a:lstStyle/>
          <a:p>
            <a:pPr indent="0" marL="0">
              <a:buNone/>
            </a:pPr>
            <a:r>
              <a:rPr lang="en-US" sz="1400" dirty="0">
                <a:solidFill>
                  <a:schemeClr val="tx1"/>
                </a:solidFill>
              </a:rPr>
              <a:t>Mentor demonstration and feedback</a:t>
            </a:r>
            <a:endParaRPr lang="en-US" sz="1400" dirty="0"/>
          </a:p>
        </p:txBody>
      </p:sp>
      <p:sp>
        <p:nvSpPr>
          <p:cNvPr id="18" name="tc-card"/>
          <p:cNvSpPr/>
          <p:nvPr/>
        </p:nvSpPr>
        <p:spPr>
          <a:xfrm>
            <a:off x="548640" y="5349240"/>
            <a:ext cx="5303520" cy="822960"/>
          </a:xfrm>
          <a:prstGeom prst="roundRect">
            <a:avLst>
              <a:gd name="adj" fmla="val 13333"/>
            </a:avLst>
          </a:prstGeom>
          <a:solidFill>
            <a:schemeClr val="bg2"/>
          </a:solidFill>
          <a:ln/>
        </p:spPr>
      </p:sp>
      <p:sp>
        <p:nvSpPr>
          <p:cNvPr id="19" name="Text 17"/>
          <p:cNvSpPr txBox="1"/>
          <p:nvPr/>
        </p:nvSpPr>
        <p:spPr>
          <a:xfrm>
            <a:off x="777240" y="5349240"/>
            <a:ext cx="4846320" cy="822960"/>
          </a:xfrm>
          <a:prstGeom prst="rect">
            <a:avLst/>
          </a:prstGeom>
          <a:noFill/>
          <a:ln/>
        </p:spPr>
        <p:txBody>
          <a:bodyPr wrap="square" lIns="0" tIns="0" rIns="0" bIns="0" rtlCol="0" anchor="ctr"/>
          <a:lstStyle/>
          <a:p>
            <a:pPr indent="0" marL="0">
              <a:buNone/>
            </a:pPr>
            <a:r>
              <a:rPr lang="en-US" sz="1400" dirty="0">
                <a:solidFill>
                  <a:schemeClr val="tx1"/>
                </a:solidFill>
              </a:rPr>
              <a:t>Ten representative test cases (TC-01 to TC-10) trace back to the requirements.</a:t>
            </a:r>
            <a:endParaRPr lang="en-US" sz="1400" dirty="0"/>
          </a:p>
        </p:txBody>
      </p:sp>
      <p:sp>
        <p:nvSpPr>
          <p:cNvPr id="20" name="results-card"/>
          <p:cNvSpPr/>
          <p:nvPr/>
        </p:nvSpPr>
        <p:spPr>
          <a:xfrm>
            <a:off x="6309360" y="1371600"/>
            <a:ext cx="5303520" cy="4800600"/>
          </a:xfrm>
          <a:prstGeom prst="roundRect">
            <a:avLst>
              <a:gd name="adj" fmla="val 2286"/>
            </a:avLst>
          </a:prstGeom>
          <a:solidFill>
            <a:schemeClr val="tx2"/>
          </a:solidFill>
          <a:ln/>
        </p:spPr>
      </p:sp>
      <p:sp>
        <p:nvSpPr>
          <p:cNvPr id="21" name="Text 19"/>
          <p:cNvSpPr txBox="1"/>
          <p:nvPr/>
        </p:nvSpPr>
        <p:spPr>
          <a:xfrm>
            <a:off x="6583680" y="1554480"/>
            <a:ext cx="2377440" cy="777240"/>
          </a:xfrm>
          <a:prstGeom prst="rect">
            <a:avLst/>
          </a:prstGeom>
          <a:noFill/>
          <a:ln/>
        </p:spPr>
        <p:txBody>
          <a:bodyPr wrap="square" lIns="0" tIns="0" rIns="0" bIns="0" rtlCol="0" anchor="ctr"/>
          <a:lstStyle/>
          <a:p>
            <a:pPr indent="0" marL="0">
              <a:buNone/>
            </a:pPr>
            <a:r>
              <a:rPr lang="en-US" sz="4400" b="1" dirty="0">
                <a:solidFill>
                  <a:schemeClr val="accent2"/>
                </a:solidFill>
              </a:rPr>
              <a:t>10/10</a:t>
            </a:r>
            <a:endParaRPr lang="en-US" sz="4400" dirty="0"/>
          </a:p>
        </p:txBody>
      </p:sp>
      <p:sp>
        <p:nvSpPr>
          <p:cNvPr id="22" name="Text 20"/>
          <p:cNvSpPr txBox="1"/>
          <p:nvPr/>
        </p:nvSpPr>
        <p:spPr>
          <a:xfrm>
            <a:off x="6583680" y="2377440"/>
            <a:ext cx="2286000" cy="594360"/>
          </a:xfrm>
          <a:prstGeom prst="rect">
            <a:avLst/>
          </a:prstGeom>
          <a:noFill/>
          <a:ln/>
        </p:spPr>
        <p:txBody>
          <a:bodyPr wrap="square" lIns="0" tIns="0" rIns="0" bIns="0" rtlCol="0" anchor="t"/>
          <a:lstStyle/>
          <a:p>
            <a:pPr indent="0" marL="0">
              <a:buNone/>
            </a:pPr>
            <a:r>
              <a:rPr lang="en-US" sz="1400" dirty="0">
                <a:solidFill>
                  <a:schemeClr val="bg1"/>
                </a:solidFill>
              </a:rPr>
              <a:t>functional requirements realised in screens</a:t>
            </a:r>
            <a:endParaRPr lang="en-US" sz="1400" dirty="0"/>
          </a:p>
        </p:txBody>
      </p:sp>
      <p:sp>
        <p:nvSpPr>
          <p:cNvPr id="23" name="Text 21"/>
          <p:cNvSpPr txBox="1"/>
          <p:nvPr/>
        </p:nvSpPr>
        <p:spPr>
          <a:xfrm>
            <a:off x="9144000" y="1554480"/>
            <a:ext cx="2377440" cy="777240"/>
          </a:xfrm>
          <a:prstGeom prst="rect">
            <a:avLst/>
          </a:prstGeom>
          <a:noFill/>
          <a:ln/>
        </p:spPr>
        <p:txBody>
          <a:bodyPr wrap="square" lIns="0" tIns="0" rIns="0" bIns="0" rtlCol="0" anchor="ctr"/>
          <a:lstStyle/>
          <a:p>
            <a:pPr indent="0" marL="0">
              <a:buNone/>
            </a:pPr>
            <a:r>
              <a:rPr lang="en-US" sz="4400" b="1" dirty="0">
                <a:solidFill>
                  <a:schemeClr val="accent2"/>
                </a:solidFill>
              </a:rPr>
              <a:t>6/6</a:t>
            </a:r>
            <a:endParaRPr lang="en-US" sz="4400" dirty="0"/>
          </a:p>
        </p:txBody>
      </p:sp>
      <p:sp>
        <p:nvSpPr>
          <p:cNvPr id="24" name="Text 22"/>
          <p:cNvSpPr txBox="1"/>
          <p:nvPr/>
        </p:nvSpPr>
        <p:spPr>
          <a:xfrm>
            <a:off x="9144000" y="2377440"/>
            <a:ext cx="2286000" cy="594360"/>
          </a:xfrm>
          <a:prstGeom prst="rect">
            <a:avLst/>
          </a:prstGeom>
          <a:noFill/>
          <a:ln/>
        </p:spPr>
        <p:txBody>
          <a:bodyPr wrap="square" lIns="0" tIns="0" rIns="0" bIns="0" rtlCol="0" anchor="t"/>
          <a:lstStyle/>
          <a:p>
            <a:pPr indent="0" marL="0">
              <a:buNone/>
            </a:pPr>
            <a:r>
              <a:rPr lang="en-US" sz="1400" dirty="0">
                <a:solidFill>
                  <a:schemeClr val="bg1"/>
                </a:solidFill>
              </a:rPr>
              <a:t>project objectives achieved</a:t>
            </a:r>
            <a:endParaRPr lang="en-US" sz="1400" dirty="0"/>
          </a:p>
        </p:txBody>
      </p:sp>
      <p:pic>
        <p:nvPicPr>
          <p:cNvPr id="25" name="Image 0" descr="achieved">    </p:cNvPr>
          <p:cNvPicPr>
            <a:picLocks noChangeAspect="1"/>
          </p:cNvPicPr>
          <p:nvPr/>
        </p:nvPicPr>
        <p:blipFill>
          <a:blip r:embed="rId1"/>
          <a:stretch>
            <a:fillRect/>
          </a:stretch>
        </p:blipFill>
        <p:spPr>
          <a:xfrm>
            <a:off x="6583680" y="3300984"/>
            <a:ext cx="274320" cy="274320"/>
          </a:xfrm>
          <a:prstGeom prst="rect">
            <a:avLst/>
          </a:prstGeom>
        </p:spPr>
      </p:pic>
      <p:sp>
        <p:nvSpPr>
          <p:cNvPr id="26" name="Text 23"/>
          <p:cNvSpPr txBox="1"/>
          <p:nvPr/>
        </p:nvSpPr>
        <p:spPr>
          <a:xfrm>
            <a:off x="7040880" y="3246120"/>
            <a:ext cx="4389120" cy="384048"/>
          </a:xfrm>
          <a:prstGeom prst="rect">
            <a:avLst/>
          </a:prstGeom>
          <a:noFill/>
          <a:ln/>
        </p:spPr>
        <p:txBody>
          <a:bodyPr wrap="square" lIns="0" tIns="0" rIns="0" bIns="0" rtlCol="0" anchor="ctr"/>
          <a:lstStyle/>
          <a:p>
            <a:pPr indent="0" marL="0">
              <a:buNone/>
            </a:pPr>
            <a:r>
              <a:rPr lang="en-US" sz="1400" dirty="0">
                <a:solidFill>
                  <a:schemeClr val="bg1"/>
                </a:solidFill>
              </a:rPr>
              <a:t>Searchable student, faculty and course records</a:t>
            </a:r>
            <a:endParaRPr lang="en-US" sz="1400" dirty="0"/>
          </a:p>
        </p:txBody>
      </p:sp>
      <p:pic>
        <p:nvPicPr>
          <p:cNvPr id="27" name="Image 1" descr="achieved">    </p:cNvPr>
          <p:cNvPicPr>
            <a:picLocks noChangeAspect="1"/>
          </p:cNvPicPr>
          <p:nvPr/>
        </p:nvPicPr>
        <p:blipFill>
          <a:blip r:embed="rId2"/>
          <a:stretch>
            <a:fillRect/>
          </a:stretch>
        </p:blipFill>
        <p:spPr>
          <a:xfrm>
            <a:off x="6583680" y="3776472"/>
            <a:ext cx="274320" cy="274320"/>
          </a:xfrm>
          <a:prstGeom prst="rect">
            <a:avLst/>
          </a:prstGeom>
        </p:spPr>
      </p:pic>
      <p:sp>
        <p:nvSpPr>
          <p:cNvPr id="28" name="Text 24"/>
          <p:cNvSpPr txBox="1"/>
          <p:nvPr/>
        </p:nvSpPr>
        <p:spPr>
          <a:xfrm>
            <a:off x="7040880" y="3721608"/>
            <a:ext cx="4389120" cy="384048"/>
          </a:xfrm>
          <a:prstGeom prst="rect">
            <a:avLst/>
          </a:prstGeom>
          <a:noFill/>
          <a:ln/>
        </p:spPr>
        <p:txBody>
          <a:bodyPr wrap="square" lIns="0" tIns="0" rIns="0" bIns="0" rtlCol="0" anchor="ctr"/>
          <a:lstStyle/>
          <a:p>
            <a:pPr indent="0" marL="0">
              <a:buNone/>
            </a:pPr>
            <a:r>
              <a:rPr lang="en-US" sz="1400" dirty="0">
                <a:solidFill>
                  <a:schemeClr val="bg1"/>
                </a:solidFill>
              </a:rPr>
              <a:t>Duplicate and over-capacity enrolments blocked</a:t>
            </a:r>
            <a:endParaRPr lang="en-US" sz="1400" dirty="0"/>
          </a:p>
        </p:txBody>
      </p:sp>
      <p:pic>
        <p:nvPicPr>
          <p:cNvPr id="29" name="Image 2" descr="achieved">    </p:cNvPr>
          <p:cNvPicPr>
            <a:picLocks noChangeAspect="1"/>
          </p:cNvPicPr>
          <p:nvPr/>
        </p:nvPicPr>
        <p:blipFill>
          <a:blip r:embed="rId3"/>
          <a:stretch>
            <a:fillRect/>
          </a:stretch>
        </p:blipFill>
        <p:spPr>
          <a:xfrm>
            <a:off x="6583680" y="4251960"/>
            <a:ext cx="274320" cy="274320"/>
          </a:xfrm>
          <a:prstGeom prst="rect">
            <a:avLst/>
          </a:prstGeom>
        </p:spPr>
      </p:pic>
      <p:sp>
        <p:nvSpPr>
          <p:cNvPr id="30" name="Text 25"/>
          <p:cNvSpPr txBox="1"/>
          <p:nvPr/>
        </p:nvSpPr>
        <p:spPr>
          <a:xfrm>
            <a:off x="7040880" y="4197096"/>
            <a:ext cx="4389120" cy="384048"/>
          </a:xfrm>
          <a:prstGeom prst="rect">
            <a:avLst/>
          </a:prstGeom>
          <a:noFill/>
          <a:ln/>
        </p:spPr>
        <p:txBody>
          <a:bodyPr wrap="square" lIns="0" tIns="0" rIns="0" bIns="0" rtlCol="0" anchor="ctr"/>
          <a:lstStyle/>
          <a:p>
            <a:pPr indent="0" marL="0">
              <a:buNone/>
            </a:pPr>
            <a:r>
              <a:rPr lang="en-US" sz="1400" dirty="0">
                <a:solidFill>
                  <a:schemeClr val="bg1"/>
                </a:solidFill>
              </a:rPr>
              <a:t>Attendance % with automatic shortage detection</a:t>
            </a:r>
            <a:endParaRPr lang="en-US" sz="1400" dirty="0"/>
          </a:p>
        </p:txBody>
      </p:sp>
      <p:pic>
        <p:nvPicPr>
          <p:cNvPr id="31" name="Image 3" descr="achieved">    </p:cNvPr>
          <p:cNvPicPr>
            <a:picLocks noChangeAspect="1"/>
          </p:cNvPicPr>
          <p:nvPr/>
        </p:nvPicPr>
        <p:blipFill>
          <a:blip r:embed="rId4"/>
          <a:stretch>
            <a:fillRect/>
          </a:stretch>
        </p:blipFill>
        <p:spPr>
          <a:xfrm>
            <a:off x="6583680" y="4727448"/>
            <a:ext cx="274320" cy="274320"/>
          </a:xfrm>
          <a:prstGeom prst="rect">
            <a:avLst/>
          </a:prstGeom>
        </p:spPr>
      </p:pic>
      <p:sp>
        <p:nvSpPr>
          <p:cNvPr id="32" name="Text 26"/>
          <p:cNvSpPr txBox="1"/>
          <p:nvPr/>
        </p:nvSpPr>
        <p:spPr>
          <a:xfrm>
            <a:off x="7040880" y="4672584"/>
            <a:ext cx="4389120" cy="384048"/>
          </a:xfrm>
          <a:prstGeom prst="rect">
            <a:avLst/>
          </a:prstGeom>
          <a:noFill/>
          <a:ln/>
        </p:spPr>
        <p:txBody>
          <a:bodyPr wrap="square" lIns="0" tIns="0" rIns="0" bIns="0" rtlCol="0" anchor="ctr"/>
          <a:lstStyle/>
          <a:p>
            <a:pPr indent="0" marL="0">
              <a:buNone/>
            </a:pPr>
            <a:r>
              <a:rPr lang="en-US" sz="1400" dirty="0">
                <a:solidFill>
                  <a:schemeClr val="bg1"/>
                </a:solidFill>
              </a:rPr>
              <a:t>Grades and pass or fail from configured rules</a:t>
            </a:r>
            <a:endParaRPr lang="en-US" sz="1400" dirty="0"/>
          </a:p>
        </p:txBody>
      </p:sp>
      <p:pic>
        <p:nvPicPr>
          <p:cNvPr id="33" name="Image 4" descr="achieved">    </p:cNvPr>
          <p:cNvPicPr>
            <a:picLocks noChangeAspect="1"/>
          </p:cNvPicPr>
          <p:nvPr/>
        </p:nvPicPr>
        <p:blipFill>
          <a:blip r:embed="rId5"/>
          <a:stretch>
            <a:fillRect/>
          </a:stretch>
        </p:blipFill>
        <p:spPr>
          <a:xfrm>
            <a:off x="6583680" y="5202936"/>
            <a:ext cx="274320" cy="274320"/>
          </a:xfrm>
          <a:prstGeom prst="rect">
            <a:avLst/>
          </a:prstGeom>
        </p:spPr>
      </p:pic>
      <p:sp>
        <p:nvSpPr>
          <p:cNvPr id="34" name="Text 27"/>
          <p:cNvSpPr txBox="1"/>
          <p:nvPr/>
        </p:nvSpPr>
        <p:spPr>
          <a:xfrm>
            <a:off x="7040880" y="5148072"/>
            <a:ext cx="4389120" cy="384048"/>
          </a:xfrm>
          <a:prstGeom prst="rect">
            <a:avLst/>
          </a:prstGeom>
          <a:noFill/>
          <a:ln/>
        </p:spPr>
        <p:txBody>
          <a:bodyPr wrap="square" lIns="0" tIns="0" rIns="0" bIns="0" rtlCol="0" anchor="ctr"/>
          <a:lstStyle/>
          <a:p>
            <a:pPr indent="0" marL="0">
              <a:buNone/>
            </a:pPr>
            <a:r>
              <a:rPr lang="en-US" sz="1400" dirty="0">
                <a:solidFill>
                  <a:schemeClr val="bg1"/>
                </a:solidFill>
              </a:rPr>
              <a:t>Role-based access on every function</a:t>
            </a:r>
            <a:endParaRPr lang="en-US" sz="1400" dirty="0"/>
          </a:p>
        </p:txBody>
      </p:sp>
      <p:pic>
        <p:nvPicPr>
          <p:cNvPr id="35" name="Image 5" descr="achieved">    </p:cNvPr>
          <p:cNvPicPr>
            <a:picLocks noChangeAspect="1"/>
          </p:cNvPicPr>
          <p:nvPr/>
        </p:nvPicPr>
        <p:blipFill>
          <a:blip r:embed="rId6"/>
          <a:stretch>
            <a:fillRect/>
          </a:stretch>
        </p:blipFill>
        <p:spPr>
          <a:xfrm>
            <a:off x="6583680" y="5678424"/>
            <a:ext cx="274320" cy="274320"/>
          </a:xfrm>
          <a:prstGeom prst="rect">
            <a:avLst/>
          </a:prstGeom>
        </p:spPr>
      </p:pic>
      <p:sp>
        <p:nvSpPr>
          <p:cNvPr id="36" name="Text 28"/>
          <p:cNvSpPr txBox="1"/>
          <p:nvPr/>
        </p:nvSpPr>
        <p:spPr>
          <a:xfrm>
            <a:off x="7040880" y="5623560"/>
            <a:ext cx="4389120" cy="384048"/>
          </a:xfrm>
          <a:prstGeom prst="rect">
            <a:avLst/>
          </a:prstGeom>
          <a:noFill/>
          <a:ln/>
        </p:spPr>
        <p:txBody>
          <a:bodyPr wrap="square" lIns="0" tIns="0" rIns="0" bIns="0" rtlCol="0" anchor="ctr"/>
          <a:lstStyle/>
          <a:p>
            <a:pPr indent="0" marL="0">
              <a:buNone/>
            </a:pPr>
            <a:r>
              <a:rPr lang="en-US" sz="1400" dirty="0">
                <a:solidFill>
                  <a:schemeClr val="bg1"/>
                </a:solidFill>
              </a:rPr>
              <a:t>Attendance, result and enrolment reports</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Learning and challenges</a:t>
            </a:r>
            <a:endParaRPr lang="en-US" sz="3600" dirty="0"/>
          </a:p>
        </p:txBody>
      </p:sp>
      <p:sp>
        <p:nvSpPr>
          <p:cNvPr id="3" name="tech-skills-card"/>
          <p:cNvSpPr/>
          <p:nvPr/>
        </p:nvSpPr>
        <p:spPr>
          <a:xfrm>
            <a:off x="548640" y="1371600"/>
            <a:ext cx="4297680" cy="2606040"/>
          </a:xfrm>
          <a:prstGeom prst="roundRect">
            <a:avLst>
              <a:gd name="adj" fmla="val 4211"/>
            </a:avLst>
          </a:prstGeom>
          <a:solidFill>
            <a:schemeClr val="bg2"/>
          </a:solidFill>
          <a:ln/>
        </p:spPr>
      </p:sp>
      <p:sp>
        <p:nvSpPr>
          <p:cNvPr id="4" name="icon-bg"/>
          <p:cNvSpPr/>
          <p:nvPr/>
        </p:nvSpPr>
        <p:spPr>
          <a:xfrm>
            <a:off x="777240" y="1554480"/>
            <a:ext cx="457200" cy="457200"/>
          </a:xfrm>
          <a:prstGeom prst="ellipse">
            <a:avLst/>
          </a:prstGeom>
          <a:solidFill>
            <a:schemeClr val="accent1"/>
          </a:solidFill>
          <a:ln/>
        </p:spPr>
      </p:sp>
      <p:pic>
        <p:nvPicPr>
          <p:cNvPr id="5" name="Image 0" descr="Code icon">    </p:cNvPr>
          <p:cNvPicPr>
            <a:picLocks noChangeAspect="1"/>
          </p:cNvPicPr>
          <p:nvPr/>
        </p:nvPicPr>
        <p:blipFill>
          <a:blip r:embed="rId1"/>
          <a:stretch>
            <a:fillRect/>
          </a:stretch>
        </p:blipFill>
        <p:spPr>
          <a:xfrm>
            <a:off x="891540" y="1668780"/>
            <a:ext cx="228600" cy="228600"/>
          </a:xfrm>
          <a:prstGeom prst="rect">
            <a:avLst/>
          </a:prstGeom>
        </p:spPr>
      </p:pic>
      <p:sp>
        <p:nvSpPr>
          <p:cNvPr id="6" name="Text 3"/>
          <p:cNvSpPr txBox="1"/>
          <p:nvPr/>
        </p:nvSpPr>
        <p:spPr>
          <a:xfrm>
            <a:off x="1417320" y="155448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Technical skills</a:t>
            </a:r>
            <a:endParaRPr lang="en-US" sz="1800" dirty="0"/>
          </a:p>
        </p:txBody>
      </p:sp>
      <p:sp>
        <p:nvSpPr>
          <p:cNvPr id="7" name="Text 4"/>
          <p:cNvSpPr txBox="1"/>
          <p:nvPr/>
        </p:nvSpPr>
        <p:spPr>
          <a:xfrm>
            <a:off x="777240" y="2194560"/>
            <a:ext cx="384048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OOP, data structures and type hints</a:t>
            </a:r>
            <a:endParaRPr lang="en-US" sz="1400" dirty="0"/>
          </a:p>
          <a:p>
            <a:pPr marL="342900" indent="-342900">
              <a:spcAft>
                <a:spcPts val="300"/>
              </a:spcAft>
              <a:buSzPct val="100000"/>
              <a:buChar char="•"/>
            </a:pPr>
            <a:r>
              <a:rPr lang="en-US" sz="1400" dirty="0">
                <a:solidFill>
                  <a:schemeClr val="tx1"/>
                </a:solidFill>
              </a:rPr>
              <a:t>Django, ORM and REST framework</a:t>
            </a:r>
            <a:endParaRPr lang="en-US" sz="1400" dirty="0"/>
          </a:p>
          <a:p>
            <a:pPr marL="342900" indent="-342900">
              <a:spcAft>
                <a:spcPts val="300"/>
              </a:spcAft>
              <a:buSzPct val="100000"/>
              <a:buChar char="•"/>
            </a:pPr>
            <a:r>
              <a:rPr lang="en-US" sz="1400" dirty="0">
                <a:solidFill>
                  <a:schemeClr val="tx1"/>
                </a:solidFill>
              </a:rPr>
              <a:t>SQL and MySQL connectivity</a:t>
            </a:r>
            <a:endParaRPr lang="en-US" sz="1400" dirty="0"/>
          </a:p>
          <a:p>
            <a:pPr marL="342900" indent="-342900">
              <a:spcAft>
                <a:spcPts val="300"/>
              </a:spcAft>
              <a:buSzPct val="100000"/>
              <a:buChar char="•"/>
            </a:pPr>
            <a:r>
              <a:rPr lang="en-US" sz="1400" dirty="0">
                <a:solidFill>
                  <a:schemeClr val="tx1"/>
                </a:solidFill>
              </a:rPr>
              <a:t>Authentication and permissions</a:t>
            </a:r>
            <a:endParaRPr lang="en-US" sz="1400" dirty="0"/>
          </a:p>
          <a:p>
            <a:pPr marL="342900" indent="-342900">
              <a:spcAft>
                <a:spcPts val="300"/>
              </a:spcAft>
              <a:buSzPct val="100000"/>
              <a:buChar char="•"/>
            </a:pPr>
            <a:r>
              <a:rPr lang="en-US" sz="1400" dirty="0">
                <a:solidFill>
                  <a:schemeClr val="tx1"/>
                </a:solidFill>
              </a:rPr>
              <a:t>Testing, Git and deployment</a:t>
            </a:r>
            <a:endParaRPr lang="en-US" sz="1400" dirty="0"/>
          </a:p>
        </p:txBody>
      </p:sp>
      <p:sp>
        <p:nvSpPr>
          <p:cNvPr id="8" name="pro-skills-card"/>
          <p:cNvSpPr/>
          <p:nvPr/>
        </p:nvSpPr>
        <p:spPr>
          <a:xfrm>
            <a:off x="548640" y="4160520"/>
            <a:ext cx="4297680" cy="2011680"/>
          </a:xfrm>
          <a:prstGeom prst="roundRect">
            <a:avLst>
              <a:gd name="adj" fmla="val 5455"/>
            </a:avLst>
          </a:prstGeom>
          <a:solidFill>
            <a:schemeClr val="bg2"/>
          </a:solidFill>
          <a:ln/>
        </p:spPr>
      </p:sp>
      <p:sp>
        <p:nvSpPr>
          <p:cNvPr id="9" name="icon-bg"/>
          <p:cNvSpPr/>
          <p:nvPr/>
        </p:nvSpPr>
        <p:spPr>
          <a:xfrm>
            <a:off x="777240" y="4343400"/>
            <a:ext cx="457200" cy="457200"/>
          </a:xfrm>
          <a:prstGeom prst="ellipse">
            <a:avLst/>
          </a:prstGeom>
          <a:solidFill>
            <a:schemeClr val="accent1"/>
          </a:solidFill>
          <a:ln/>
        </p:spPr>
      </p:sp>
      <p:pic>
        <p:nvPicPr>
          <p:cNvPr id="10" name="Image 1" descr="Users icon">    </p:cNvPr>
          <p:cNvPicPr>
            <a:picLocks noChangeAspect="1"/>
          </p:cNvPicPr>
          <p:nvPr/>
        </p:nvPicPr>
        <p:blipFill>
          <a:blip r:embed="rId2"/>
          <a:stretch>
            <a:fillRect/>
          </a:stretch>
        </p:blipFill>
        <p:spPr>
          <a:xfrm>
            <a:off x="891540" y="4457700"/>
            <a:ext cx="228600" cy="228600"/>
          </a:xfrm>
          <a:prstGeom prst="rect">
            <a:avLst/>
          </a:prstGeom>
        </p:spPr>
      </p:pic>
      <p:sp>
        <p:nvSpPr>
          <p:cNvPr id="11" name="Text 7"/>
          <p:cNvSpPr txBox="1"/>
          <p:nvPr/>
        </p:nvSpPr>
        <p:spPr>
          <a:xfrm>
            <a:off x="1417320" y="434340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Professional growth</a:t>
            </a:r>
            <a:endParaRPr lang="en-US" sz="1800" dirty="0"/>
          </a:p>
        </p:txBody>
      </p:sp>
      <p:sp>
        <p:nvSpPr>
          <p:cNvPr id="12" name="Text 8"/>
          <p:cNvSpPr txBox="1"/>
          <p:nvPr/>
        </p:nvSpPr>
        <p:spPr>
          <a:xfrm>
            <a:off x="777240" y="4983480"/>
            <a:ext cx="384048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Communication and teamwork</a:t>
            </a:r>
            <a:endParaRPr lang="en-US" sz="1400" dirty="0"/>
          </a:p>
          <a:p>
            <a:pPr marL="342900" indent="-342900">
              <a:spcAft>
                <a:spcPts val="300"/>
              </a:spcAft>
              <a:buSzPct val="100000"/>
              <a:buChar char="•"/>
            </a:pPr>
            <a:r>
              <a:rPr lang="en-US" sz="1400" dirty="0">
                <a:solidFill>
                  <a:schemeClr val="tx1"/>
                </a:solidFill>
              </a:rPr>
              <a:t>Time management and planning</a:t>
            </a:r>
            <a:endParaRPr lang="en-US" sz="1400" dirty="0"/>
          </a:p>
          <a:p>
            <a:pPr marL="342900" indent="-342900">
              <a:spcAft>
                <a:spcPts val="300"/>
              </a:spcAft>
              <a:buSzPct val="100000"/>
              <a:buChar char="•"/>
            </a:pPr>
            <a:r>
              <a:rPr lang="en-US" sz="1400" dirty="0">
                <a:solidFill>
                  <a:schemeClr val="tx1"/>
                </a:solidFill>
              </a:rPr>
              <a:t>Documentation and code review</a:t>
            </a:r>
            <a:endParaRPr lang="en-US" sz="1400" dirty="0"/>
          </a:p>
        </p:txBody>
      </p:sp>
      <p:sp>
        <p:nvSpPr>
          <p:cNvPr id="13" name="Text 9"/>
          <p:cNvSpPr txBox="1"/>
          <p:nvPr/>
        </p:nvSpPr>
        <p:spPr>
          <a:xfrm>
            <a:off x="5212080" y="1371600"/>
            <a:ext cx="6400800" cy="365760"/>
          </a:xfrm>
          <a:prstGeom prst="rect">
            <a:avLst/>
          </a:prstGeom>
          <a:noFill/>
          <a:ln/>
        </p:spPr>
        <p:txBody>
          <a:bodyPr wrap="square" lIns="0" tIns="0" rIns="0" bIns="0" rtlCol="0" anchor="t"/>
          <a:lstStyle/>
          <a:p>
            <a:pPr indent="0" marL="0">
              <a:buNone/>
            </a:pPr>
            <a:r>
              <a:rPr lang="en-US" sz="1800" b="1" dirty="0">
                <a:solidFill>
                  <a:schemeClr val="tx2"/>
                </a:solidFill>
              </a:rPr>
              <a:t>Challenges and solutions</a:t>
            </a:r>
            <a:endParaRPr lang="en-US" sz="1800" dirty="0"/>
          </a:p>
        </p:txBody>
      </p:sp>
      <p:sp>
        <p:nvSpPr>
          <p:cNvPr id="14" name="challenge-card"/>
          <p:cNvSpPr/>
          <p:nvPr/>
        </p:nvSpPr>
        <p:spPr>
          <a:xfrm>
            <a:off x="5212080" y="1874520"/>
            <a:ext cx="2743200" cy="749808"/>
          </a:xfrm>
          <a:prstGeom prst="roundRect">
            <a:avLst>
              <a:gd name="adj" fmla="val 14634"/>
            </a:avLst>
          </a:prstGeom>
          <a:solidFill>
            <a:schemeClr val="bg2"/>
          </a:solidFill>
          <a:ln/>
        </p:spPr>
      </p:sp>
      <p:sp>
        <p:nvSpPr>
          <p:cNvPr id="15" name="Text 11"/>
          <p:cNvSpPr txBox="1"/>
          <p:nvPr/>
        </p:nvSpPr>
        <p:spPr>
          <a:xfrm>
            <a:off x="5394960" y="1874520"/>
            <a:ext cx="2423160" cy="749808"/>
          </a:xfrm>
          <a:prstGeom prst="rect">
            <a:avLst/>
          </a:prstGeom>
          <a:noFill/>
          <a:ln/>
        </p:spPr>
        <p:txBody>
          <a:bodyPr wrap="square" lIns="0" tIns="0" rIns="0" bIns="0" rtlCol="0" anchor="ctr"/>
          <a:lstStyle/>
          <a:p>
            <a:pPr indent="0" marL="0">
              <a:buNone/>
            </a:pPr>
            <a:r>
              <a:rPr lang="en-US" sz="1400" b="1" dirty="0">
                <a:solidFill>
                  <a:schemeClr val="tx2"/>
                </a:solidFill>
              </a:rPr>
              <a:t>Many technologies in one month</a:t>
            </a:r>
            <a:endParaRPr lang="en-US" sz="1400" dirty="0"/>
          </a:p>
        </p:txBody>
      </p:sp>
      <p:pic>
        <p:nvPicPr>
          <p:cNvPr id="16" name="Image 2" descr="solved by">    </p:cNvPr>
          <p:cNvPicPr>
            <a:picLocks noChangeAspect="1"/>
          </p:cNvPicPr>
          <p:nvPr/>
        </p:nvPicPr>
        <p:blipFill>
          <a:blip r:embed="rId3"/>
          <a:stretch>
            <a:fillRect/>
          </a:stretch>
        </p:blipFill>
        <p:spPr>
          <a:xfrm>
            <a:off x="8046720" y="2112264"/>
            <a:ext cx="274320" cy="274320"/>
          </a:xfrm>
          <a:prstGeom prst="rect">
            <a:avLst/>
          </a:prstGeom>
        </p:spPr>
      </p:pic>
      <p:sp>
        <p:nvSpPr>
          <p:cNvPr id="17" name="solution-card"/>
          <p:cNvSpPr/>
          <p:nvPr/>
        </p:nvSpPr>
        <p:spPr>
          <a:xfrm>
            <a:off x="8412480" y="1874520"/>
            <a:ext cx="3200400" cy="749808"/>
          </a:xfrm>
          <a:prstGeom prst="roundRect">
            <a:avLst>
              <a:gd name="adj" fmla="val 14634"/>
            </a:avLst>
          </a:prstGeom>
          <a:solidFill>
            <a:schemeClr val="bg1"/>
          </a:solidFill>
          <a:ln w="12700">
            <a:solidFill>
              <a:srgbClr val="C9D6EA"/>
            </a:solidFill>
            <a:prstDash val="solid"/>
          </a:ln>
        </p:spPr>
      </p:sp>
      <p:sp>
        <p:nvSpPr>
          <p:cNvPr id="18" name="Text 13"/>
          <p:cNvSpPr txBox="1"/>
          <p:nvPr/>
        </p:nvSpPr>
        <p:spPr>
          <a:xfrm>
            <a:off x="8595360" y="1874520"/>
            <a:ext cx="2880360" cy="749808"/>
          </a:xfrm>
          <a:prstGeom prst="rect">
            <a:avLst/>
          </a:prstGeom>
          <a:noFill/>
          <a:ln/>
        </p:spPr>
        <p:txBody>
          <a:bodyPr wrap="square" lIns="0" tIns="0" rIns="0" bIns="0" rtlCol="0" anchor="ctr"/>
          <a:lstStyle/>
          <a:p>
            <a:pPr indent="0" marL="0">
              <a:buNone/>
            </a:pPr>
            <a:r>
              <a:rPr lang="en-US" sz="1400" dirty="0">
                <a:solidFill>
                  <a:schemeClr val="tx1"/>
                </a:solidFill>
              </a:rPr>
              <a:t>Structured plan, instant practice, official documentation</a:t>
            </a:r>
            <a:endParaRPr lang="en-US" sz="1400" dirty="0"/>
          </a:p>
        </p:txBody>
      </p:sp>
      <p:sp>
        <p:nvSpPr>
          <p:cNvPr id="19" name="challenge-card"/>
          <p:cNvSpPr/>
          <p:nvPr/>
        </p:nvSpPr>
        <p:spPr>
          <a:xfrm>
            <a:off x="5212080" y="2734056"/>
            <a:ext cx="2743200" cy="749808"/>
          </a:xfrm>
          <a:prstGeom prst="roundRect">
            <a:avLst>
              <a:gd name="adj" fmla="val 14634"/>
            </a:avLst>
          </a:prstGeom>
          <a:solidFill>
            <a:schemeClr val="bg2"/>
          </a:solidFill>
          <a:ln/>
        </p:spPr>
      </p:sp>
      <p:sp>
        <p:nvSpPr>
          <p:cNvPr id="20" name="Text 15"/>
          <p:cNvSpPr txBox="1"/>
          <p:nvPr/>
        </p:nvSpPr>
        <p:spPr>
          <a:xfrm>
            <a:off x="5394960" y="2734056"/>
            <a:ext cx="2423160" cy="749808"/>
          </a:xfrm>
          <a:prstGeom prst="rect">
            <a:avLst/>
          </a:prstGeom>
          <a:noFill/>
          <a:ln/>
        </p:spPr>
        <p:txBody>
          <a:bodyPr wrap="square" lIns="0" tIns="0" rIns="0" bIns="0" rtlCol="0" anchor="ctr"/>
          <a:lstStyle/>
          <a:p>
            <a:pPr indent="0" marL="0">
              <a:buNone/>
            </a:pPr>
            <a:r>
              <a:rPr lang="en-US" sz="1400" b="1" dirty="0">
                <a:solidFill>
                  <a:schemeClr val="tx2"/>
                </a:solidFill>
              </a:rPr>
              <a:t>Python classes to relational tables</a:t>
            </a:r>
            <a:endParaRPr lang="en-US" sz="1400" dirty="0"/>
          </a:p>
        </p:txBody>
      </p:sp>
      <p:pic>
        <p:nvPicPr>
          <p:cNvPr id="21" name="Image 3" descr="solved by">    </p:cNvPr>
          <p:cNvPicPr>
            <a:picLocks noChangeAspect="1"/>
          </p:cNvPicPr>
          <p:nvPr/>
        </p:nvPicPr>
        <p:blipFill>
          <a:blip r:embed="rId4"/>
          <a:stretch>
            <a:fillRect/>
          </a:stretch>
        </p:blipFill>
        <p:spPr>
          <a:xfrm>
            <a:off x="8046720" y="2971800"/>
            <a:ext cx="274320" cy="274320"/>
          </a:xfrm>
          <a:prstGeom prst="rect">
            <a:avLst/>
          </a:prstGeom>
        </p:spPr>
      </p:pic>
      <p:sp>
        <p:nvSpPr>
          <p:cNvPr id="22" name="solution-card"/>
          <p:cNvSpPr/>
          <p:nvPr/>
        </p:nvSpPr>
        <p:spPr>
          <a:xfrm>
            <a:off x="8412480" y="2734056"/>
            <a:ext cx="3200400" cy="749808"/>
          </a:xfrm>
          <a:prstGeom prst="roundRect">
            <a:avLst>
              <a:gd name="adj" fmla="val 14634"/>
            </a:avLst>
          </a:prstGeom>
          <a:solidFill>
            <a:schemeClr val="bg1"/>
          </a:solidFill>
          <a:ln w="12700">
            <a:solidFill>
              <a:srgbClr val="C9D6EA"/>
            </a:solidFill>
            <a:prstDash val="solid"/>
          </a:ln>
        </p:spPr>
      </p:sp>
      <p:sp>
        <p:nvSpPr>
          <p:cNvPr id="23" name="Text 17"/>
          <p:cNvSpPr txBox="1"/>
          <p:nvPr/>
        </p:nvSpPr>
        <p:spPr>
          <a:xfrm>
            <a:off x="8595360" y="2734056"/>
            <a:ext cx="2880360" cy="749808"/>
          </a:xfrm>
          <a:prstGeom prst="rect">
            <a:avLst/>
          </a:prstGeom>
          <a:noFill/>
          <a:ln/>
        </p:spPr>
        <p:txBody>
          <a:bodyPr wrap="square" lIns="0" tIns="0" rIns="0" bIns="0" rtlCol="0" anchor="ctr"/>
          <a:lstStyle/>
          <a:p>
            <a:pPr indent="0" marL="0">
              <a:buNone/>
            </a:pPr>
            <a:r>
              <a:rPr lang="en-US" sz="1400" dirty="0">
                <a:solidFill>
                  <a:schemeClr val="tx1"/>
                </a:solidFill>
              </a:rPr>
              <a:t>Django models and migrations, checked in the shell</a:t>
            </a:r>
            <a:endParaRPr lang="en-US" sz="1400" dirty="0"/>
          </a:p>
        </p:txBody>
      </p:sp>
      <p:sp>
        <p:nvSpPr>
          <p:cNvPr id="24" name="challenge-card"/>
          <p:cNvSpPr/>
          <p:nvPr/>
        </p:nvSpPr>
        <p:spPr>
          <a:xfrm>
            <a:off x="5212080" y="3593592"/>
            <a:ext cx="2743200" cy="749808"/>
          </a:xfrm>
          <a:prstGeom prst="roundRect">
            <a:avLst>
              <a:gd name="adj" fmla="val 14634"/>
            </a:avLst>
          </a:prstGeom>
          <a:solidFill>
            <a:schemeClr val="bg2"/>
          </a:solidFill>
          <a:ln/>
        </p:spPr>
      </p:sp>
      <p:sp>
        <p:nvSpPr>
          <p:cNvPr id="25" name="Text 19"/>
          <p:cNvSpPr txBox="1"/>
          <p:nvPr/>
        </p:nvSpPr>
        <p:spPr>
          <a:xfrm>
            <a:off x="5394960" y="3593592"/>
            <a:ext cx="2423160" cy="749808"/>
          </a:xfrm>
          <a:prstGeom prst="rect">
            <a:avLst/>
          </a:prstGeom>
          <a:noFill/>
          <a:ln/>
        </p:spPr>
        <p:txBody>
          <a:bodyPr wrap="square" lIns="0" tIns="0" rIns="0" bIns="0" rtlCol="0" anchor="ctr"/>
          <a:lstStyle/>
          <a:p>
            <a:pPr indent="0" marL="0">
              <a:buNone/>
            </a:pPr>
            <a:r>
              <a:rPr lang="en-US" sz="1400" b="1" dirty="0">
                <a:solidFill>
                  <a:schemeClr val="tx2"/>
                </a:solidFill>
              </a:rPr>
              <a:t>Enrolment and seat counts out of sync</a:t>
            </a:r>
            <a:endParaRPr lang="en-US" sz="1400" dirty="0"/>
          </a:p>
        </p:txBody>
      </p:sp>
      <p:pic>
        <p:nvPicPr>
          <p:cNvPr id="26" name="Image 4" descr="solved by">    </p:cNvPr>
          <p:cNvPicPr>
            <a:picLocks noChangeAspect="1"/>
          </p:cNvPicPr>
          <p:nvPr/>
        </p:nvPicPr>
        <p:blipFill>
          <a:blip r:embed="rId5"/>
          <a:stretch>
            <a:fillRect/>
          </a:stretch>
        </p:blipFill>
        <p:spPr>
          <a:xfrm>
            <a:off x="8046720" y="3831336"/>
            <a:ext cx="274320" cy="274320"/>
          </a:xfrm>
          <a:prstGeom prst="rect">
            <a:avLst/>
          </a:prstGeom>
        </p:spPr>
      </p:pic>
      <p:sp>
        <p:nvSpPr>
          <p:cNvPr id="27" name="solution-card"/>
          <p:cNvSpPr/>
          <p:nvPr/>
        </p:nvSpPr>
        <p:spPr>
          <a:xfrm>
            <a:off x="8412480" y="3593592"/>
            <a:ext cx="3200400" cy="749808"/>
          </a:xfrm>
          <a:prstGeom prst="roundRect">
            <a:avLst>
              <a:gd name="adj" fmla="val 14634"/>
            </a:avLst>
          </a:prstGeom>
          <a:solidFill>
            <a:schemeClr val="bg1"/>
          </a:solidFill>
          <a:ln w="12700">
            <a:solidFill>
              <a:srgbClr val="C9D6EA"/>
            </a:solidFill>
            <a:prstDash val="solid"/>
          </a:ln>
        </p:spPr>
      </p:sp>
      <p:sp>
        <p:nvSpPr>
          <p:cNvPr id="28" name="Text 21"/>
          <p:cNvSpPr txBox="1"/>
          <p:nvPr/>
        </p:nvSpPr>
        <p:spPr>
          <a:xfrm>
            <a:off x="8595360" y="3593592"/>
            <a:ext cx="2880360" cy="749808"/>
          </a:xfrm>
          <a:prstGeom prst="rect">
            <a:avLst/>
          </a:prstGeom>
          <a:noFill/>
          <a:ln/>
        </p:spPr>
        <p:txBody>
          <a:bodyPr wrap="square" lIns="0" tIns="0" rIns="0" bIns="0" rtlCol="0" anchor="ctr"/>
          <a:lstStyle/>
          <a:p>
            <a:pPr indent="0" marL="0">
              <a:buNone/>
            </a:pPr>
            <a:r>
              <a:rPr lang="en-US" sz="1400" dirty="0">
                <a:solidFill>
                  <a:schemeClr val="tx1"/>
                </a:solidFill>
              </a:rPr>
              <a:t>Wrapped the operation in transaction.atomic</a:t>
            </a:r>
            <a:endParaRPr lang="en-US" sz="1400" dirty="0"/>
          </a:p>
        </p:txBody>
      </p:sp>
      <p:sp>
        <p:nvSpPr>
          <p:cNvPr id="29" name="challenge-card"/>
          <p:cNvSpPr/>
          <p:nvPr/>
        </p:nvSpPr>
        <p:spPr>
          <a:xfrm>
            <a:off x="5212080" y="4453128"/>
            <a:ext cx="2743200" cy="749808"/>
          </a:xfrm>
          <a:prstGeom prst="roundRect">
            <a:avLst>
              <a:gd name="adj" fmla="val 14634"/>
            </a:avLst>
          </a:prstGeom>
          <a:solidFill>
            <a:schemeClr val="bg2"/>
          </a:solidFill>
          <a:ln/>
        </p:spPr>
      </p:sp>
      <p:sp>
        <p:nvSpPr>
          <p:cNvPr id="30" name="Text 23"/>
          <p:cNvSpPr txBox="1"/>
          <p:nvPr/>
        </p:nvSpPr>
        <p:spPr>
          <a:xfrm>
            <a:off x="5394960" y="4453128"/>
            <a:ext cx="2423160" cy="749808"/>
          </a:xfrm>
          <a:prstGeom prst="rect">
            <a:avLst/>
          </a:prstGeom>
          <a:noFill/>
          <a:ln/>
        </p:spPr>
        <p:txBody>
          <a:bodyPr wrap="square" lIns="0" tIns="0" rIns="0" bIns="0" rtlCol="0" anchor="ctr"/>
          <a:lstStyle/>
          <a:p>
            <a:pPr indent="0" marL="0">
              <a:buNone/>
            </a:pPr>
            <a:r>
              <a:rPr lang="en-US" sz="1400" b="1" dirty="0">
                <a:solidFill>
                  <a:schemeClr val="tx2"/>
                </a:solidFill>
              </a:rPr>
              <a:t>Accurate grades and attendance</a:t>
            </a:r>
            <a:endParaRPr lang="en-US" sz="1400" dirty="0"/>
          </a:p>
        </p:txBody>
      </p:sp>
      <p:pic>
        <p:nvPicPr>
          <p:cNvPr id="31" name="Image 5" descr="solved by">    </p:cNvPr>
          <p:cNvPicPr>
            <a:picLocks noChangeAspect="1"/>
          </p:cNvPicPr>
          <p:nvPr/>
        </p:nvPicPr>
        <p:blipFill>
          <a:blip r:embed="rId6"/>
          <a:stretch>
            <a:fillRect/>
          </a:stretch>
        </p:blipFill>
        <p:spPr>
          <a:xfrm>
            <a:off x="8046720" y="4690872"/>
            <a:ext cx="274320" cy="274320"/>
          </a:xfrm>
          <a:prstGeom prst="rect">
            <a:avLst/>
          </a:prstGeom>
        </p:spPr>
      </p:pic>
      <p:sp>
        <p:nvSpPr>
          <p:cNvPr id="32" name="solution-card"/>
          <p:cNvSpPr/>
          <p:nvPr/>
        </p:nvSpPr>
        <p:spPr>
          <a:xfrm>
            <a:off x="8412480" y="4453128"/>
            <a:ext cx="3200400" cy="749808"/>
          </a:xfrm>
          <a:prstGeom prst="roundRect">
            <a:avLst>
              <a:gd name="adj" fmla="val 14634"/>
            </a:avLst>
          </a:prstGeom>
          <a:solidFill>
            <a:schemeClr val="bg1"/>
          </a:solidFill>
          <a:ln w="12700">
            <a:solidFill>
              <a:srgbClr val="C9D6EA"/>
            </a:solidFill>
            <a:prstDash val="solid"/>
          </a:ln>
        </p:spPr>
      </p:sp>
      <p:sp>
        <p:nvSpPr>
          <p:cNvPr id="33" name="Text 25"/>
          <p:cNvSpPr txBox="1"/>
          <p:nvPr/>
        </p:nvSpPr>
        <p:spPr>
          <a:xfrm>
            <a:off x="8595360" y="4453128"/>
            <a:ext cx="2880360" cy="749808"/>
          </a:xfrm>
          <a:prstGeom prst="rect">
            <a:avLst/>
          </a:prstGeom>
          <a:noFill/>
          <a:ln/>
        </p:spPr>
        <p:txBody>
          <a:bodyPr wrap="square" lIns="0" tIns="0" rIns="0" bIns="0" rtlCol="0" anchor="ctr"/>
          <a:lstStyle/>
          <a:p>
            <a:pPr indent="0" marL="0">
              <a:buNone/>
            </a:pPr>
            <a:r>
              <a:rPr lang="en-US" sz="1400" dirty="0">
                <a:solidFill>
                  <a:schemeClr val="tx1"/>
                </a:solidFill>
              </a:rPr>
              <a:t>Service functions with boundary unit tests</a:t>
            </a:r>
            <a:endParaRPr lang="en-US" sz="1400" dirty="0"/>
          </a:p>
        </p:txBody>
      </p:sp>
      <p:sp>
        <p:nvSpPr>
          <p:cNvPr id="34" name="challenge-card"/>
          <p:cNvSpPr/>
          <p:nvPr/>
        </p:nvSpPr>
        <p:spPr>
          <a:xfrm>
            <a:off x="5212080" y="5312664"/>
            <a:ext cx="2743200" cy="749808"/>
          </a:xfrm>
          <a:prstGeom prst="roundRect">
            <a:avLst>
              <a:gd name="adj" fmla="val 14634"/>
            </a:avLst>
          </a:prstGeom>
          <a:solidFill>
            <a:schemeClr val="bg2"/>
          </a:solidFill>
          <a:ln/>
        </p:spPr>
      </p:sp>
      <p:sp>
        <p:nvSpPr>
          <p:cNvPr id="35" name="Text 27"/>
          <p:cNvSpPr txBox="1"/>
          <p:nvPr/>
        </p:nvSpPr>
        <p:spPr>
          <a:xfrm>
            <a:off x="5394960" y="5312664"/>
            <a:ext cx="2423160" cy="749808"/>
          </a:xfrm>
          <a:prstGeom prst="rect">
            <a:avLst/>
          </a:prstGeom>
          <a:noFill/>
          <a:ln/>
        </p:spPr>
        <p:txBody>
          <a:bodyPr wrap="square" lIns="0" tIns="0" rIns="0" bIns="0" rtlCol="0" anchor="ctr"/>
          <a:lstStyle/>
          <a:p>
            <a:pPr indent="0" marL="0">
              <a:buNone/>
            </a:pPr>
            <a:r>
              <a:rPr lang="en-US" sz="1400" b="1" dirty="0">
                <a:solidFill>
                  <a:schemeClr val="tx2"/>
                </a:solidFill>
              </a:rPr>
              <a:t>Features restricted by role</a:t>
            </a:r>
            <a:endParaRPr lang="en-US" sz="1400" dirty="0"/>
          </a:p>
        </p:txBody>
      </p:sp>
      <p:pic>
        <p:nvPicPr>
          <p:cNvPr id="36" name="Image 6" descr="solved by">    </p:cNvPr>
          <p:cNvPicPr>
            <a:picLocks noChangeAspect="1"/>
          </p:cNvPicPr>
          <p:nvPr/>
        </p:nvPicPr>
        <p:blipFill>
          <a:blip r:embed="rId7"/>
          <a:stretch>
            <a:fillRect/>
          </a:stretch>
        </p:blipFill>
        <p:spPr>
          <a:xfrm>
            <a:off x="8046720" y="5550408"/>
            <a:ext cx="274320" cy="274320"/>
          </a:xfrm>
          <a:prstGeom prst="rect">
            <a:avLst/>
          </a:prstGeom>
        </p:spPr>
      </p:pic>
      <p:sp>
        <p:nvSpPr>
          <p:cNvPr id="37" name="solution-card"/>
          <p:cNvSpPr/>
          <p:nvPr/>
        </p:nvSpPr>
        <p:spPr>
          <a:xfrm>
            <a:off x="8412480" y="5312664"/>
            <a:ext cx="3200400" cy="749808"/>
          </a:xfrm>
          <a:prstGeom prst="roundRect">
            <a:avLst>
              <a:gd name="adj" fmla="val 14634"/>
            </a:avLst>
          </a:prstGeom>
          <a:solidFill>
            <a:schemeClr val="bg1"/>
          </a:solidFill>
          <a:ln w="12700">
            <a:solidFill>
              <a:srgbClr val="C9D6EA"/>
            </a:solidFill>
            <a:prstDash val="solid"/>
          </a:ln>
        </p:spPr>
      </p:sp>
      <p:sp>
        <p:nvSpPr>
          <p:cNvPr id="38" name="Text 29"/>
          <p:cNvSpPr txBox="1"/>
          <p:nvPr/>
        </p:nvSpPr>
        <p:spPr>
          <a:xfrm>
            <a:off x="8595360" y="5312664"/>
            <a:ext cx="2880360" cy="749808"/>
          </a:xfrm>
          <a:prstGeom prst="rect">
            <a:avLst/>
          </a:prstGeom>
          <a:noFill/>
          <a:ln/>
        </p:spPr>
        <p:txBody>
          <a:bodyPr wrap="square" lIns="0" tIns="0" rIns="0" bIns="0" rtlCol="0" anchor="ctr"/>
          <a:lstStyle/>
          <a:p>
            <a:pPr indent="0" marL="0">
              <a:buNone/>
            </a:pPr>
            <a:r>
              <a:rPr lang="en-US" sz="1400" dirty="0">
                <a:solidFill>
                  <a:schemeClr val="tx1"/>
                </a:solidFill>
              </a:rPr>
              <a:t>Login and permission checks on every view</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Conclusion and future scope</a:t>
            </a:r>
            <a:endParaRPr lang="en-US" sz="3600" dirty="0"/>
          </a:p>
        </p:txBody>
      </p:sp>
      <p:sp>
        <p:nvSpPr>
          <p:cNvPr id="3" name="Text 1"/>
          <p:cNvSpPr txBox="1"/>
          <p:nvPr/>
        </p:nvSpPr>
        <p:spPr>
          <a:xfrm>
            <a:off x="548640" y="1417320"/>
            <a:ext cx="4389120" cy="274320"/>
          </a:xfrm>
          <a:prstGeom prst="rect">
            <a:avLst/>
          </a:prstGeom>
          <a:noFill/>
          <a:ln/>
        </p:spPr>
        <p:txBody>
          <a:bodyPr wrap="square" lIns="0" tIns="0" rIns="0" bIns="0" rtlCol="0" anchor="t"/>
          <a:lstStyle/>
          <a:p>
            <a:pPr indent="0" marL="0">
              <a:buNone/>
            </a:pPr>
            <a:r>
              <a:rPr lang="en-US" sz="1400" b="1" dirty="0">
                <a:solidFill>
                  <a:schemeClr val="accent2"/>
                </a:solidFill>
              </a:rPr>
              <a:t>CONCLUSION</a:t>
            </a:r>
            <a:endParaRPr lang="en-US" sz="1400" dirty="0"/>
          </a:p>
        </p:txBody>
      </p:sp>
      <p:sp>
        <p:nvSpPr>
          <p:cNvPr id="4" name="Text 2"/>
          <p:cNvSpPr txBox="1"/>
          <p:nvPr/>
        </p:nvSpPr>
        <p:spPr>
          <a:xfrm>
            <a:off x="548640" y="1828800"/>
            <a:ext cx="43891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Thirty days from Python fundamentals to a database-backed Django application</a:t>
            </a:r>
            <a:endParaRPr lang="en-US" sz="1800" dirty="0"/>
          </a:p>
          <a:p>
            <a:pPr marL="342900" indent="-342900">
              <a:spcAft>
                <a:spcPts val="1200"/>
              </a:spcAft>
              <a:buSzPct val="100000"/>
              <a:buChar char="•"/>
            </a:pPr>
            <a:r>
              <a:rPr lang="en-US" sz="1800" dirty="0">
                <a:solidFill>
                  <a:schemeClr val="bg1"/>
                </a:solidFill>
              </a:rPr>
              <a:t>Manual registers replaced by a secure, role-based system</a:t>
            </a:r>
            <a:endParaRPr lang="en-US" sz="1800" dirty="0"/>
          </a:p>
          <a:p>
            <a:pPr marL="342900" indent="-342900">
              <a:spcAft>
                <a:spcPts val="1200"/>
              </a:spcAft>
              <a:buSzPct val="100000"/>
              <a:buChar char="•"/>
            </a:pPr>
            <a:r>
              <a:rPr lang="en-US" sz="1800" dirty="0">
                <a:solidFill>
                  <a:schemeClr val="bg1"/>
                </a:solidFill>
              </a:rPr>
              <a:t>Professional habits: planning, feedback and documentation</a:t>
            </a:r>
            <a:endParaRPr lang="en-US" sz="1800" dirty="0"/>
          </a:p>
        </p:txBody>
      </p:sp>
      <p:sp>
        <p:nvSpPr>
          <p:cNvPr id="5" name="Text 3"/>
          <p:cNvSpPr txBox="1"/>
          <p:nvPr/>
        </p:nvSpPr>
        <p:spPr>
          <a:xfrm>
            <a:off x="548640" y="4983480"/>
            <a:ext cx="4389120" cy="640080"/>
          </a:xfrm>
          <a:prstGeom prst="rect">
            <a:avLst/>
          </a:prstGeom>
          <a:noFill/>
          <a:ln/>
        </p:spPr>
        <p:txBody>
          <a:bodyPr wrap="square" lIns="0" tIns="0" rIns="0" bIns="0" rtlCol="0" anchor="ctr"/>
          <a:lstStyle/>
          <a:p>
            <a:pPr indent="0" marL="0">
              <a:buNone/>
            </a:pPr>
            <a:r>
              <a:rPr lang="en-US" sz="4000" b="1" dirty="0">
                <a:solidFill>
                  <a:schemeClr val="bg1"/>
                </a:solidFill>
              </a:rPr>
              <a:t>Thank you</a:t>
            </a:r>
            <a:endParaRPr lang="en-US" sz="4000" dirty="0"/>
          </a:p>
        </p:txBody>
      </p:sp>
      <p:sp>
        <p:nvSpPr>
          <p:cNvPr id="6" name="Text 4"/>
          <p:cNvSpPr txBox="1"/>
          <p:nvPr/>
        </p:nvSpPr>
        <p:spPr>
          <a:xfrm>
            <a:off x="548640" y="5669280"/>
            <a:ext cx="4389120" cy="320040"/>
          </a:xfrm>
          <a:prstGeom prst="rect">
            <a:avLst/>
          </a:prstGeom>
          <a:noFill/>
          <a:ln/>
        </p:spPr>
        <p:txBody>
          <a:bodyPr wrap="square" lIns="0" tIns="0" rIns="0" bIns="0" rtlCol="0" anchor="t"/>
          <a:lstStyle/>
          <a:p>
            <a:pPr indent="0" marL="0">
              <a:buNone/>
            </a:pPr>
            <a:r>
              <a:rPr lang="en-US" sz="1600" dirty="0">
                <a:solidFill>
                  <a:schemeClr val="bg2"/>
                </a:solidFill>
              </a:rPr>
              <a:t>Questions and feedback welcome</a:t>
            </a:r>
            <a:endParaRPr lang="en-US" sz="1600" dirty="0"/>
          </a:p>
        </p:txBody>
      </p:sp>
      <p:sp>
        <p:nvSpPr>
          <p:cNvPr id="7" name="Text 5"/>
          <p:cNvSpPr txBox="1"/>
          <p:nvPr/>
        </p:nvSpPr>
        <p:spPr>
          <a:xfrm>
            <a:off x="5394960" y="1417320"/>
            <a:ext cx="6217920" cy="274320"/>
          </a:xfrm>
          <a:prstGeom prst="rect">
            <a:avLst/>
          </a:prstGeom>
          <a:noFill/>
          <a:ln/>
        </p:spPr>
        <p:txBody>
          <a:bodyPr wrap="square" lIns="0" tIns="0" rIns="0" bIns="0" rtlCol="0" anchor="t"/>
          <a:lstStyle/>
          <a:p>
            <a:pPr indent="0" marL="0">
              <a:buNone/>
            </a:pPr>
            <a:r>
              <a:rPr lang="en-US" sz="1400" b="1" dirty="0">
                <a:solidFill>
                  <a:schemeClr val="accent2"/>
                </a:solidFill>
              </a:rPr>
              <a:t>FUTURE ENHANCEMENTS</a:t>
            </a:r>
            <a:endParaRPr lang="en-US" sz="1400" dirty="0"/>
          </a:p>
        </p:txBody>
      </p:sp>
      <p:sp>
        <p:nvSpPr>
          <p:cNvPr id="8" name="future-card"/>
          <p:cNvSpPr/>
          <p:nvPr/>
        </p:nvSpPr>
        <p:spPr>
          <a:xfrm>
            <a:off x="5394960" y="1828800"/>
            <a:ext cx="2971800" cy="914400"/>
          </a:xfrm>
          <a:prstGeom prst="roundRect">
            <a:avLst>
              <a:gd name="adj" fmla="val 12000"/>
            </a:avLst>
          </a:prstGeom>
          <a:solidFill>
            <a:schemeClr val="bg1">
              <a:alpha val="12000"/>
            </a:schemeClr>
          </a:solidFill>
          <a:ln/>
        </p:spPr>
      </p:sp>
      <p:sp>
        <p:nvSpPr>
          <p:cNvPr id="9" name="icon-bg"/>
          <p:cNvSpPr/>
          <p:nvPr/>
        </p:nvSpPr>
        <p:spPr>
          <a:xfrm>
            <a:off x="5577840" y="2011680"/>
            <a:ext cx="548640" cy="548640"/>
          </a:xfrm>
          <a:prstGeom prst="ellipse">
            <a:avLst/>
          </a:prstGeom>
          <a:solidFill>
            <a:schemeClr val="accent2"/>
          </a:solidFill>
          <a:ln/>
        </p:spPr>
      </p:sp>
      <p:pic>
        <p:nvPicPr>
          <p:cNvPr id="10" name="Image 0" descr="Bell icon">    </p:cNvPr>
          <p:cNvPicPr>
            <a:picLocks noChangeAspect="1"/>
          </p:cNvPicPr>
          <p:nvPr/>
        </p:nvPicPr>
        <p:blipFill>
          <a:blip r:embed="rId1"/>
          <a:stretch>
            <a:fillRect/>
          </a:stretch>
        </p:blipFill>
        <p:spPr>
          <a:xfrm>
            <a:off x="5715000" y="2148840"/>
            <a:ext cx="274320" cy="274320"/>
          </a:xfrm>
          <a:prstGeom prst="rect">
            <a:avLst/>
          </a:prstGeom>
        </p:spPr>
      </p:pic>
      <p:sp>
        <p:nvSpPr>
          <p:cNvPr id="11" name="Text 8"/>
          <p:cNvSpPr txBox="1"/>
          <p:nvPr/>
        </p:nvSpPr>
        <p:spPr>
          <a:xfrm>
            <a:off x="6263640" y="182880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Email and SMS notifications</a:t>
            </a:r>
            <a:endParaRPr lang="en-US" sz="1400" dirty="0"/>
          </a:p>
        </p:txBody>
      </p:sp>
      <p:sp>
        <p:nvSpPr>
          <p:cNvPr id="12" name="future-card"/>
          <p:cNvSpPr/>
          <p:nvPr/>
        </p:nvSpPr>
        <p:spPr>
          <a:xfrm>
            <a:off x="8641080" y="1828800"/>
            <a:ext cx="2971800" cy="914400"/>
          </a:xfrm>
          <a:prstGeom prst="roundRect">
            <a:avLst>
              <a:gd name="adj" fmla="val 12000"/>
            </a:avLst>
          </a:prstGeom>
          <a:solidFill>
            <a:schemeClr val="bg1">
              <a:alpha val="12000"/>
            </a:schemeClr>
          </a:solidFill>
          <a:ln/>
        </p:spPr>
      </p:sp>
      <p:sp>
        <p:nvSpPr>
          <p:cNvPr id="13" name="icon-bg"/>
          <p:cNvSpPr/>
          <p:nvPr/>
        </p:nvSpPr>
        <p:spPr>
          <a:xfrm>
            <a:off x="8823960" y="2011680"/>
            <a:ext cx="548640" cy="548640"/>
          </a:xfrm>
          <a:prstGeom prst="ellipse">
            <a:avLst/>
          </a:prstGeom>
          <a:solidFill>
            <a:schemeClr val="accent2"/>
          </a:solidFill>
          <a:ln/>
        </p:spPr>
      </p:sp>
      <p:pic>
        <p:nvPicPr>
          <p:cNvPr id="14" name="Image 1" descr="MoneyBillWave icon">    </p:cNvPr>
          <p:cNvPicPr>
            <a:picLocks noChangeAspect="1"/>
          </p:cNvPicPr>
          <p:nvPr/>
        </p:nvPicPr>
        <p:blipFill>
          <a:blip r:embed="rId2"/>
          <a:stretch>
            <a:fillRect/>
          </a:stretch>
        </p:blipFill>
        <p:spPr>
          <a:xfrm>
            <a:off x="8961120" y="2148840"/>
            <a:ext cx="274320" cy="274320"/>
          </a:xfrm>
          <a:prstGeom prst="rect">
            <a:avLst/>
          </a:prstGeom>
        </p:spPr>
      </p:pic>
      <p:sp>
        <p:nvSpPr>
          <p:cNvPr id="15" name="Text 11"/>
          <p:cNvSpPr txBox="1"/>
          <p:nvPr/>
        </p:nvSpPr>
        <p:spPr>
          <a:xfrm>
            <a:off x="9509760" y="182880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Fee management and payments</a:t>
            </a:r>
            <a:endParaRPr lang="en-US" sz="1400" dirty="0"/>
          </a:p>
        </p:txBody>
      </p:sp>
      <p:sp>
        <p:nvSpPr>
          <p:cNvPr id="16" name="future-card"/>
          <p:cNvSpPr/>
          <p:nvPr/>
        </p:nvSpPr>
        <p:spPr>
          <a:xfrm>
            <a:off x="5394960" y="2926080"/>
            <a:ext cx="2971800" cy="914400"/>
          </a:xfrm>
          <a:prstGeom prst="roundRect">
            <a:avLst>
              <a:gd name="adj" fmla="val 12000"/>
            </a:avLst>
          </a:prstGeom>
          <a:solidFill>
            <a:schemeClr val="bg1">
              <a:alpha val="12000"/>
            </a:schemeClr>
          </a:solidFill>
          <a:ln/>
        </p:spPr>
      </p:sp>
      <p:sp>
        <p:nvSpPr>
          <p:cNvPr id="17" name="icon-bg"/>
          <p:cNvSpPr/>
          <p:nvPr/>
        </p:nvSpPr>
        <p:spPr>
          <a:xfrm>
            <a:off x="5577840" y="3108960"/>
            <a:ext cx="548640" cy="548640"/>
          </a:xfrm>
          <a:prstGeom prst="ellipse">
            <a:avLst/>
          </a:prstGeom>
          <a:solidFill>
            <a:schemeClr val="accent2"/>
          </a:solidFill>
          <a:ln/>
        </p:spPr>
      </p:sp>
      <p:pic>
        <p:nvPicPr>
          <p:cNvPr id="18" name="Image 2" descr="CalendarAlt icon">    </p:cNvPr>
          <p:cNvPicPr>
            <a:picLocks noChangeAspect="1"/>
          </p:cNvPicPr>
          <p:nvPr/>
        </p:nvPicPr>
        <p:blipFill>
          <a:blip r:embed="rId3"/>
          <a:stretch>
            <a:fillRect/>
          </a:stretch>
        </p:blipFill>
        <p:spPr>
          <a:xfrm>
            <a:off x="5715000" y="3246120"/>
            <a:ext cx="274320" cy="274320"/>
          </a:xfrm>
          <a:prstGeom prst="rect">
            <a:avLst/>
          </a:prstGeom>
        </p:spPr>
      </p:pic>
      <p:sp>
        <p:nvSpPr>
          <p:cNvPr id="19" name="Text 14"/>
          <p:cNvSpPr txBox="1"/>
          <p:nvPr/>
        </p:nvSpPr>
        <p:spPr>
          <a:xfrm>
            <a:off x="6263640" y="292608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Timetable generation</a:t>
            </a:r>
            <a:endParaRPr lang="en-US" sz="1400" dirty="0"/>
          </a:p>
        </p:txBody>
      </p:sp>
      <p:sp>
        <p:nvSpPr>
          <p:cNvPr id="20" name="future-card"/>
          <p:cNvSpPr/>
          <p:nvPr/>
        </p:nvSpPr>
        <p:spPr>
          <a:xfrm>
            <a:off x="8641080" y="2926080"/>
            <a:ext cx="2971800" cy="914400"/>
          </a:xfrm>
          <a:prstGeom prst="roundRect">
            <a:avLst>
              <a:gd name="adj" fmla="val 12000"/>
            </a:avLst>
          </a:prstGeom>
          <a:solidFill>
            <a:schemeClr val="bg1">
              <a:alpha val="12000"/>
            </a:schemeClr>
          </a:solidFill>
          <a:ln/>
        </p:spPr>
      </p:sp>
      <p:sp>
        <p:nvSpPr>
          <p:cNvPr id="21" name="icon-bg"/>
          <p:cNvSpPr/>
          <p:nvPr/>
        </p:nvSpPr>
        <p:spPr>
          <a:xfrm>
            <a:off x="8823960" y="3108960"/>
            <a:ext cx="548640" cy="548640"/>
          </a:xfrm>
          <a:prstGeom prst="ellipse">
            <a:avLst/>
          </a:prstGeom>
          <a:solidFill>
            <a:schemeClr val="accent2"/>
          </a:solidFill>
          <a:ln/>
        </p:spPr>
      </p:sp>
      <p:pic>
        <p:nvPicPr>
          <p:cNvPr id="22" name="Image 3" descr="Users icon">    </p:cNvPr>
          <p:cNvPicPr>
            <a:picLocks noChangeAspect="1"/>
          </p:cNvPicPr>
          <p:nvPr/>
        </p:nvPicPr>
        <p:blipFill>
          <a:blip r:embed="rId4"/>
          <a:stretch>
            <a:fillRect/>
          </a:stretch>
        </p:blipFill>
        <p:spPr>
          <a:xfrm>
            <a:off x="8961120" y="3246120"/>
            <a:ext cx="274320" cy="274320"/>
          </a:xfrm>
          <a:prstGeom prst="rect">
            <a:avLst/>
          </a:prstGeom>
        </p:spPr>
      </p:pic>
      <p:sp>
        <p:nvSpPr>
          <p:cNvPr id="23" name="Text 17"/>
          <p:cNvSpPr txBox="1"/>
          <p:nvPr/>
        </p:nvSpPr>
        <p:spPr>
          <a:xfrm>
            <a:off x="9509760" y="292608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Parent portal</a:t>
            </a:r>
            <a:endParaRPr lang="en-US" sz="1400" dirty="0"/>
          </a:p>
        </p:txBody>
      </p:sp>
      <p:sp>
        <p:nvSpPr>
          <p:cNvPr id="24" name="future-card"/>
          <p:cNvSpPr/>
          <p:nvPr/>
        </p:nvSpPr>
        <p:spPr>
          <a:xfrm>
            <a:off x="5394960" y="4023360"/>
            <a:ext cx="2971800" cy="914400"/>
          </a:xfrm>
          <a:prstGeom prst="roundRect">
            <a:avLst>
              <a:gd name="adj" fmla="val 12000"/>
            </a:avLst>
          </a:prstGeom>
          <a:solidFill>
            <a:schemeClr val="bg1">
              <a:alpha val="12000"/>
            </a:schemeClr>
          </a:solidFill>
          <a:ln/>
        </p:spPr>
      </p:sp>
      <p:sp>
        <p:nvSpPr>
          <p:cNvPr id="25" name="icon-bg"/>
          <p:cNvSpPr/>
          <p:nvPr/>
        </p:nvSpPr>
        <p:spPr>
          <a:xfrm>
            <a:off x="5577840" y="4206240"/>
            <a:ext cx="548640" cy="548640"/>
          </a:xfrm>
          <a:prstGeom prst="ellipse">
            <a:avLst/>
          </a:prstGeom>
          <a:solidFill>
            <a:schemeClr val="accent2"/>
          </a:solidFill>
          <a:ln/>
        </p:spPr>
      </p:sp>
      <p:pic>
        <p:nvPicPr>
          <p:cNvPr id="26" name="Image 4" descr="ChartLine icon">    </p:cNvPr>
          <p:cNvPicPr>
            <a:picLocks noChangeAspect="1"/>
          </p:cNvPicPr>
          <p:nvPr/>
        </p:nvPicPr>
        <p:blipFill>
          <a:blip r:embed="rId5"/>
          <a:stretch>
            <a:fillRect/>
          </a:stretch>
        </p:blipFill>
        <p:spPr>
          <a:xfrm>
            <a:off x="5715000" y="4343400"/>
            <a:ext cx="274320" cy="274320"/>
          </a:xfrm>
          <a:prstGeom prst="rect">
            <a:avLst/>
          </a:prstGeom>
        </p:spPr>
      </p:pic>
      <p:sp>
        <p:nvSpPr>
          <p:cNvPr id="27" name="Text 20"/>
          <p:cNvSpPr txBox="1"/>
          <p:nvPr/>
        </p:nvSpPr>
        <p:spPr>
          <a:xfrm>
            <a:off x="6263640" y="402336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Analytics dashboard</a:t>
            </a:r>
            <a:endParaRPr lang="en-US" sz="1400" dirty="0"/>
          </a:p>
        </p:txBody>
      </p:sp>
      <p:sp>
        <p:nvSpPr>
          <p:cNvPr id="28" name="future-card"/>
          <p:cNvSpPr/>
          <p:nvPr/>
        </p:nvSpPr>
        <p:spPr>
          <a:xfrm>
            <a:off x="8641080" y="4023360"/>
            <a:ext cx="2971800" cy="914400"/>
          </a:xfrm>
          <a:prstGeom prst="roundRect">
            <a:avLst>
              <a:gd name="adj" fmla="val 12000"/>
            </a:avLst>
          </a:prstGeom>
          <a:solidFill>
            <a:schemeClr val="bg1">
              <a:alpha val="12000"/>
            </a:schemeClr>
          </a:solidFill>
          <a:ln/>
        </p:spPr>
      </p:sp>
      <p:sp>
        <p:nvSpPr>
          <p:cNvPr id="29" name="icon-bg"/>
          <p:cNvSpPr/>
          <p:nvPr/>
        </p:nvSpPr>
        <p:spPr>
          <a:xfrm>
            <a:off x="8823960" y="4206240"/>
            <a:ext cx="548640" cy="548640"/>
          </a:xfrm>
          <a:prstGeom prst="ellipse">
            <a:avLst/>
          </a:prstGeom>
          <a:solidFill>
            <a:schemeClr val="accent2"/>
          </a:solidFill>
          <a:ln/>
        </p:spPr>
      </p:sp>
      <p:pic>
        <p:nvPicPr>
          <p:cNvPr id="30" name="Image 5" descr="ClipboardCheck icon">    </p:cNvPr>
          <p:cNvPicPr>
            <a:picLocks noChangeAspect="1"/>
          </p:cNvPicPr>
          <p:nvPr/>
        </p:nvPicPr>
        <p:blipFill>
          <a:blip r:embed="rId6"/>
          <a:stretch>
            <a:fillRect/>
          </a:stretch>
        </p:blipFill>
        <p:spPr>
          <a:xfrm>
            <a:off x="8961120" y="4343400"/>
            <a:ext cx="274320" cy="274320"/>
          </a:xfrm>
          <a:prstGeom prst="rect">
            <a:avLst/>
          </a:prstGeom>
        </p:spPr>
      </p:pic>
      <p:sp>
        <p:nvSpPr>
          <p:cNvPr id="31" name="Text 23"/>
          <p:cNvSpPr txBox="1"/>
          <p:nvPr/>
        </p:nvSpPr>
        <p:spPr>
          <a:xfrm>
            <a:off x="9509760" y="402336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Online assessments</a:t>
            </a:r>
            <a:endParaRPr lang="en-US" sz="1400" dirty="0"/>
          </a:p>
        </p:txBody>
      </p:sp>
      <p:sp>
        <p:nvSpPr>
          <p:cNvPr id="32" name="future-card"/>
          <p:cNvSpPr/>
          <p:nvPr/>
        </p:nvSpPr>
        <p:spPr>
          <a:xfrm>
            <a:off x="5394960" y="5120640"/>
            <a:ext cx="2971800" cy="914400"/>
          </a:xfrm>
          <a:prstGeom prst="roundRect">
            <a:avLst>
              <a:gd name="adj" fmla="val 12000"/>
            </a:avLst>
          </a:prstGeom>
          <a:solidFill>
            <a:schemeClr val="bg1">
              <a:alpha val="12000"/>
            </a:schemeClr>
          </a:solidFill>
          <a:ln/>
        </p:spPr>
      </p:sp>
      <p:sp>
        <p:nvSpPr>
          <p:cNvPr id="33" name="icon-bg"/>
          <p:cNvSpPr/>
          <p:nvPr/>
        </p:nvSpPr>
        <p:spPr>
          <a:xfrm>
            <a:off x="5577840" y="5303520"/>
            <a:ext cx="548640" cy="548640"/>
          </a:xfrm>
          <a:prstGeom prst="ellipse">
            <a:avLst/>
          </a:prstGeom>
          <a:solidFill>
            <a:schemeClr val="accent2"/>
          </a:solidFill>
          <a:ln/>
        </p:spPr>
      </p:sp>
      <p:pic>
        <p:nvPicPr>
          <p:cNvPr id="34" name="Image 6" descr="Building icon">    </p:cNvPr>
          <p:cNvPicPr>
            <a:picLocks noChangeAspect="1"/>
          </p:cNvPicPr>
          <p:nvPr/>
        </p:nvPicPr>
        <p:blipFill>
          <a:blip r:embed="rId7"/>
          <a:stretch>
            <a:fillRect/>
          </a:stretch>
        </p:blipFill>
        <p:spPr>
          <a:xfrm>
            <a:off x="5715000" y="5440680"/>
            <a:ext cx="274320" cy="274320"/>
          </a:xfrm>
          <a:prstGeom prst="rect">
            <a:avLst/>
          </a:prstGeom>
        </p:spPr>
      </p:pic>
      <p:sp>
        <p:nvSpPr>
          <p:cNvPr id="35" name="Text 26"/>
          <p:cNvSpPr txBox="1"/>
          <p:nvPr/>
        </p:nvSpPr>
        <p:spPr>
          <a:xfrm>
            <a:off x="6263640" y="512064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Multi-campus support</a:t>
            </a:r>
            <a:endParaRPr lang="en-US" sz="1400" dirty="0"/>
          </a:p>
        </p:txBody>
      </p:sp>
      <p:sp>
        <p:nvSpPr>
          <p:cNvPr id="36" name="future-card"/>
          <p:cNvSpPr/>
          <p:nvPr/>
        </p:nvSpPr>
        <p:spPr>
          <a:xfrm>
            <a:off x="8641080" y="5120640"/>
            <a:ext cx="2971800" cy="914400"/>
          </a:xfrm>
          <a:prstGeom prst="roundRect">
            <a:avLst>
              <a:gd name="adj" fmla="val 12000"/>
            </a:avLst>
          </a:prstGeom>
          <a:solidFill>
            <a:schemeClr val="bg1">
              <a:alpha val="12000"/>
            </a:schemeClr>
          </a:solidFill>
          <a:ln/>
        </p:spPr>
      </p:sp>
      <p:sp>
        <p:nvSpPr>
          <p:cNvPr id="37" name="icon-bg"/>
          <p:cNvSpPr/>
          <p:nvPr/>
        </p:nvSpPr>
        <p:spPr>
          <a:xfrm>
            <a:off x="8823960" y="5303520"/>
            <a:ext cx="548640" cy="548640"/>
          </a:xfrm>
          <a:prstGeom prst="ellipse">
            <a:avLst/>
          </a:prstGeom>
          <a:solidFill>
            <a:schemeClr val="accent2"/>
          </a:solidFill>
          <a:ln/>
        </p:spPr>
      </p:sp>
      <p:pic>
        <p:nvPicPr>
          <p:cNvPr id="38" name="Image 7" descr="MobileAlt icon">    </p:cNvPr>
          <p:cNvPicPr>
            <a:picLocks noChangeAspect="1"/>
          </p:cNvPicPr>
          <p:nvPr/>
        </p:nvPicPr>
        <p:blipFill>
          <a:blip r:embed="rId8"/>
          <a:stretch>
            <a:fillRect/>
          </a:stretch>
        </p:blipFill>
        <p:spPr>
          <a:xfrm>
            <a:off x="8961120" y="5440680"/>
            <a:ext cx="274320" cy="274320"/>
          </a:xfrm>
          <a:prstGeom prst="rect">
            <a:avLst/>
          </a:prstGeom>
        </p:spPr>
      </p:pic>
      <p:sp>
        <p:nvSpPr>
          <p:cNvPr id="39" name="Text 29"/>
          <p:cNvSpPr txBox="1"/>
          <p:nvPr/>
        </p:nvSpPr>
        <p:spPr>
          <a:xfrm>
            <a:off x="9509760" y="5120640"/>
            <a:ext cx="2011680" cy="914400"/>
          </a:xfrm>
          <a:prstGeom prst="rect">
            <a:avLst/>
          </a:prstGeom>
          <a:noFill/>
          <a:ln/>
        </p:spPr>
        <p:txBody>
          <a:bodyPr wrap="square" lIns="0" tIns="0" rIns="0" bIns="0" rtlCol="0" anchor="ctr"/>
          <a:lstStyle/>
          <a:p>
            <a:pPr indent="0" marL="0">
              <a:buNone/>
            </a:pPr>
            <a:r>
              <a:rPr lang="en-US" sz="1400" b="1" dirty="0">
                <a:solidFill>
                  <a:schemeClr val="bg1"/>
                </a:solidFill>
              </a:rPr>
              <a:t>Android companion app</a:t>
            </a:r>
            <a:endParaRPr lang="en-US" sz="1400" dirty="0"/>
          </a:p>
        </p:txBody>
      </p:sp>
    </p:spTree>
  </p:cSld>
  <p:clrMapOvr>
    <a:masterClrMapping/>
  </p:clrMapOvr>
</p:sld>
</file>

<file path=ppt/theme/theme1.xml><?xml version="1.0" encoding="utf-8"?>
<a:theme xmlns:a="http://schemas.openxmlformats.org/drawingml/2006/main" name="SMS Internship">
  <a:themeElements>
    <a:clrScheme name="SMS Internship">
      <a:dk1>
        <a:srgbClr val="1B2433"/>
      </a:dk1>
      <a:lt1>
        <a:srgbClr val="FFFFFF"/>
      </a:lt1>
      <a:dk2>
        <a:srgbClr val="0B2545"/>
      </a:dk2>
      <a:lt2>
        <a:srgbClr val="EEF3FB"/>
      </a:lt2>
      <a:accent1>
        <a:srgbClr val="1F5FD0"/>
      </a:accent1>
      <a:accent2>
        <a:srgbClr val="F2A93B"/>
      </a:accent2>
      <a:accent3>
        <a:srgbClr val="23804A"/>
      </a:accent3>
      <a:accent4>
        <a:srgbClr val="5B8DEF"/>
      </a:accent4>
      <a:accent5>
        <a:srgbClr val="C0392B"/>
      </a:accent5>
      <a:accent6>
        <a:srgbClr val="5E6C84"/>
      </a:accent6>
      <a:hlink>
        <a:srgbClr val="1F5FD0"/>
      </a:hlink>
      <a:folHlink>
        <a:srgbClr val="5E6C84"/>
      </a:folHlink>
    </a:clrScheme>
    <a:fontScheme name="SMS Internshi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 - Summer Internship Review</dc:title>
  <dc:subject>PptxGenJS Presentation</dc:subject>
  <dc:creator>Harihara Suthan M</dc:creator>
  <cp:lastModifiedBy>Harihara Suthan M</cp:lastModifiedBy>
  <cp:revision>1</cp:revision>
  <dcterms:created xsi:type="dcterms:W3CDTF">2026-10-22T03:58:50Z</dcterms:created>
  <dcterms:modified xsi:type="dcterms:W3CDTF">2026-10-22T03:58:50Z</dcterms:modified>
</cp:coreProperties>
</file>